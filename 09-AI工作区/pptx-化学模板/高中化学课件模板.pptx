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占位数据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类别一</c:v>
                  </c:pt>
                  <c:pt idx="1">
                    <c:v>类别二</c:v>
                  </c:pt>
                  <c:pt idx="2">
                    <c:v>类别三</c:v>
                  </c:pt>
                  <c:pt idx="3">
                    <c:v>类别四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B7280"/>
                    </a:solidFill>
                    <a:latin typeface="Arial"/>
                  </a:rPr>
                  <a:t>类别占位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B7280"/>
                    </a:solidFill>
                    <a:latin typeface="Arial"/>
                  </a:rPr>
                  <a:t>数值占位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15901"/>
            <a:ext cx="965150" cy="301526"/>
          </a:xfrm>
          <a:prstGeom prst="roundRect">
            <a:avLst>
              <a:gd name="adj" fmla="val 12636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651" y="1066651"/>
            <a:ext cx="621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高中化学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546027"/>
            <a:ext cx="557016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46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课题名称占位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7950" y="2495252"/>
            <a:ext cx="7111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2749153"/>
            <a:ext cx="55701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700" dirty="0">
                <a:solidFill>
                  <a:srgbClr val="E3ED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/ 课时信息占位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7950" y="3771454"/>
            <a:ext cx="55701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800"/>
              </a:spcBef>
              <a:buNone/>
            </a:pPr>
            <a:r>
              <a:rPr lang="en-US" sz="1150" dirty="0">
                <a:solidFill>
                  <a:srgbClr val="9DB8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授课教师：XXX　　日期：20XX-XX-XX</a:t>
            </a:r>
            <a:endParaRPr lang="en-US" sz="1150" dirty="0"/>
          </a:p>
        </p:txBody>
      </p:sp>
      <p:pic>
        <p:nvPicPr>
          <p:cNvPr id="9" name="Image 0" descr="C:/Obsidion/妙妙屋/09-AI工作区/pptx-化学模板/icons/cell-C-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101" y="2819400"/>
            <a:ext cx="1752600" cy="1752600"/>
          </a:xfrm>
          <a:prstGeom prst="rect">
            <a:avLst/>
          </a:prstGeom>
        </p:spPr>
      </p:pic>
      <p:pic>
        <p:nvPicPr>
          <p:cNvPr id="10" name="Image 1" descr="C:/Obsidion/妙妙屋/09-AI工作区/pptx-化学模板/icons/cell-Na-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102" y="2920901"/>
            <a:ext cx="1676400" cy="1676400"/>
          </a:xfrm>
          <a:prstGeom prst="rect">
            <a:avLst/>
          </a:prstGeom>
        </p:spPr>
      </p:pic>
      <p:pic>
        <p:nvPicPr>
          <p:cNvPr id="11" name="Image 2" descr="C:/Obsidion/妙妙屋/09-AI工作区/pptx-化学模板/icons/cell-H-1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301" y="1181100"/>
            <a:ext cx="1981200" cy="1981200"/>
          </a:xfrm>
          <a:prstGeom prst="rect">
            <a:avLst/>
          </a:prstGeom>
        </p:spPr>
      </p:pic>
      <p:pic>
        <p:nvPicPr>
          <p:cNvPr id="12" name="Image 3" descr="C:/Obsidion/妙妙屋/09-AI工作区/pptx-化学模板/icons/cell-O-9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301" y="368201"/>
            <a:ext cx="1828800" cy="182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7599831" y="48513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7F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838700"/>
            <a:ext cx="101501" cy="3048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20205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模板使用说明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82905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语义色板（60-30-10：米白底 / 墨绿结构 / 橙黄点缀）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7950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07950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主色墨绿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7950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#1B4332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752451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752451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中绿辅助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752451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#2D6A4F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996952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996952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橙黄强调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996952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#E8A33D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241453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241453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深橙文字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241453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#B45309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485954" y="1234678"/>
            <a:ext cx="1117550" cy="507950"/>
          </a:xfrm>
          <a:prstGeom prst="roundRect">
            <a:avLst>
              <a:gd name="adj" fmla="val 12501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485954" y="179337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砖红警示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5954" y="198387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#C0392B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730454" y="1234678"/>
            <a:ext cx="1136600" cy="527000"/>
          </a:xfrm>
          <a:prstGeom prst="roundRect">
            <a:avLst>
              <a:gd name="adj" fmla="val 12049"/>
            </a:avLst>
          </a:prstGeom>
          <a:solidFill>
            <a:srgbClr val="FAF7F0"/>
          </a:solidFill>
          <a:ln w="9525">
            <a:solidFill>
              <a:srgbClr val="D9D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730454" y="1812429"/>
            <a:ext cx="12693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米白底色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730454" y="2002929"/>
            <a:ext cx="12693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#FAF7F0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07950" y="2368004"/>
            <a:ext cx="42748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字号层级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507950" y="2682329"/>
            <a:ext cx="42748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 26pt</a:t>
            </a:r>
            <a:endParaRPr lang="en-US" sz="2600" dirty="0"/>
          </a:p>
        </p:txBody>
      </p:sp>
      <p:sp>
        <p:nvSpPr>
          <p:cNvPr id="32" name="Text 28"/>
          <p:cNvSpPr/>
          <p:nvPr/>
        </p:nvSpPr>
        <p:spPr>
          <a:xfrm>
            <a:off x="507950" y="3196679"/>
            <a:ext cx="4274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 16-18pt，每页要点不超过 5 条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507950" y="3549104"/>
            <a:ext cx="4274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注释 / 页脚 11-12pt（说明性正文不低于 14pt）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4952851" y="2368004"/>
            <a:ext cx="37565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图标使用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4952851" y="2707630"/>
            <a:ext cx="36270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功能标签 = 图标 + 文字（2px 线宽）</a:t>
            </a:r>
            <a:endParaRPr lang="en-US" sz="1400" dirty="0"/>
          </a:p>
        </p:txBody>
      </p:sp>
      <p:pic>
        <p:nvPicPr>
          <p:cNvPr id="36" name="Image 2" descr="C:/Obsidion/妙妙屋/09-AI工作区/pptx-化学模板/icons/LuLightbulb-B453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51" y="3090118"/>
            <a:ext cx="203150" cy="20315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257502" y="3072705"/>
            <a:ext cx="5440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400" dirty="0"/>
          </a:p>
        </p:txBody>
      </p:sp>
      <p:pic>
        <p:nvPicPr>
          <p:cNvPr id="38" name="Image 3" descr="C:/Obsidion/妙妙屋/09-AI工作区/pptx-化学模板/icons/LuTriangleAlert-C039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453" y="3090118"/>
            <a:ext cx="203150" cy="2031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451104" y="3072705"/>
            <a:ext cx="12953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警示专用砖红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4952851" y="3437781"/>
            <a:ext cx="37565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 = 主绿；警示 = 砖红；全片禁用蓝色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559201"/>
            <a:ext cx="101501" cy="5841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st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88653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7251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853654" y="200025"/>
            <a:ext cx="67355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022003"/>
            <a:ext cx="482501" cy="482501"/>
          </a:xfrm>
          <a:prstGeom prst="roundRect">
            <a:avLst>
              <a:gd name="adj" fmla="val 1316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31627" y="1139428"/>
            <a:ext cx="23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pic>
        <p:nvPicPr>
          <p:cNvPr id="13" name="Image 2" descr="C:/Obsidion/妙妙屋/09-AI工作区/pptx-化学模板/icons/LuBookOpen-1B43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602" y="1161752"/>
            <a:ext cx="203150" cy="2031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23702" y="1010841"/>
            <a:ext cx="3127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章节名称占位一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23702" y="1325166"/>
            <a:ext cx="3127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本章节内容简介占位文字，一句话概括学习要点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07950" y="1631603"/>
            <a:ext cx="8127950" cy="12650"/>
          </a:xfrm>
          <a:prstGeom prst="rect">
            <a:avLst/>
          </a:prstGeom>
          <a:solidFill>
            <a:srgbClr val="E0D9C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07950" y="1771204"/>
            <a:ext cx="482501" cy="482501"/>
          </a:xfrm>
          <a:prstGeom prst="roundRect">
            <a:avLst>
              <a:gd name="adj" fmla="val 1316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31627" y="1888629"/>
            <a:ext cx="23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pic>
        <p:nvPicPr>
          <p:cNvPr id="19" name="Image 3" descr="C:/Obsidion/妙妙屋/09-AI工作区/pptx-化学模板/icons/LuAtom-1B43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602" y="1910953"/>
            <a:ext cx="203150" cy="2031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23702" y="1760041"/>
            <a:ext cx="3127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章节名称占位二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523702" y="2074366"/>
            <a:ext cx="3127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本章节内容简介占位文字，一句话概括学习要点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7950" y="2380804"/>
            <a:ext cx="8127950" cy="12650"/>
          </a:xfrm>
          <a:prstGeom prst="rect">
            <a:avLst/>
          </a:prstGeom>
          <a:solidFill>
            <a:srgbClr val="E0D9C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07950" y="2520404"/>
            <a:ext cx="482501" cy="482501"/>
          </a:xfrm>
          <a:prstGeom prst="roundRect">
            <a:avLst>
              <a:gd name="adj" fmla="val 1316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631627" y="2637830"/>
            <a:ext cx="23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pic>
        <p:nvPicPr>
          <p:cNvPr id="25" name="Image 4" descr="C:/Obsidion/妙妙屋/09-AI工作区/pptx-化学模板/icons/LuFlaskConical-1B433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602" y="2660154"/>
            <a:ext cx="203150" cy="2031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23702" y="2509242"/>
            <a:ext cx="3127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章节名称占位三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523702" y="2823567"/>
            <a:ext cx="3127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本章节内容简介占位文字，一句话概括学习要点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07950" y="3130004"/>
            <a:ext cx="8127950" cy="12650"/>
          </a:xfrm>
          <a:prstGeom prst="rect">
            <a:avLst/>
          </a:prstGeom>
          <a:solidFill>
            <a:srgbClr val="E0D9C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507950" y="3269605"/>
            <a:ext cx="482501" cy="482501"/>
          </a:xfrm>
          <a:prstGeom prst="roundRect">
            <a:avLst>
              <a:gd name="adj" fmla="val 13161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31627" y="3387030"/>
            <a:ext cx="239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pic>
        <p:nvPicPr>
          <p:cNvPr id="31" name="Image 5" descr="C:/Obsidion/妙妙屋/09-AI工作区/pptx-化学模板/icons/LuChartColumn-1B433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3602" y="3409355"/>
            <a:ext cx="203150" cy="2031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23702" y="3258443"/>
            <a:ext cx="3127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章节名称占位四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1523702" y="3572768"/>
            <a:ext cx="3127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本章节内容简介占位文字，一句话概括学习要点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23966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2D6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58701" y="3124200"/>
            <a:ext cx="101117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58701" y="3454301"/>
            <a:ext cx="5587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3657600"/>
            <a:ext cx="264246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章节标题占位</a:t>
            </a:r>
            <a:endParaRPr lang="en-US" sz="3400" dirty="0"/>
          </a:p>
        </p:txBody>
      </p:sp>
      <p:pic>
        <p:nvPicPr>
          <p:cNvPr id="6" name="Image 0" descr="C:/Obsidion/妙妙屋/09-AI工作区/pptx-化学模板/icons/cell-C-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412950"/>
            <a:ext cx="1219200" cy="1219200"/>
          </a:xfrm>
          <a:prstGeom prst="rect">
            <a:avLst/>
          </a:prstGeom>
        </p:spPr>
      </p:pic>
      <p:pic>
        <p:nvPicPr>
          <p:cNvPr id="7" name="Image 1" descr="C:/Obsidion/妙妙屋/09-AI工作区/pptx-化学模板/icons/cell-H-8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117550"/>
            <a:ext cx="1600200" cy="1600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599831" y="48513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7F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292501"/>
            <a:ext cx="101501" cy="8508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3749725" cy="179784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要点占位一：</a:t>
            </a:r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关键词高亮</a:t>
            </a:r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示范写法</a:t>
            </a:r>
            <a:endParaRPr lang="en-US" sz="1600" dirty="0"/>
          </a:p>
          <a:p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要点占位二：性质规律与适用范围描述</a:t>
            </a:r>
            <a:endParaRPr lang="en-US" sz="1600" dirty="0"/>
          </a:p>
          <a:p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要点占位三：</a:t>
            </a:r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与实例说明</a:t>
            </a:r>
            <a:endParaRPr lang="en-US" sz="1600" dirty="0"/>
          </a:p>
          <a:p>
            <a:pPr algn="l" marL="127000" indent="-127000">
              <a:lnSpc>
                <a:spcPts val="264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要点占位四：易错提醒与小结归纳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65625" y="895052"/>
            <a:ext cx="3870275" cy="2863751"/>
          </a:xfrm>
          <a:prstGeom prst="roundRect">
            <a:avLst>
              <a:gd name="adj" fmla="val 3548"/>
            </a:avLst>
          </a:prstGeom>
          <a:solidFill>
            <a:srgbClr val="E3EDE6"/>
          </a:solidFill>
          <a:ln w="9525">
            <a:solidFill>
              <a:srgbClr val="B7CD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016719" y="2207865"/>
            <a:ext cx="336793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图片/结构式占位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025801"/>
            <a:ext cx="101501" cy="11175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8127950" cy="1792188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要点一</a:t>
            </a:r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占位描述文字，说明本页第一个核心内容</a:t>
            </a:r>
            <a:endParaRPr lang="en-US" sz="1600" dirty="0"/>
          </a:p>
          <a:p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要点二</a:t>
            </a:r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占位描述文字，说明本页第二个核心内容</a:t>
            </a:r>
            <a:endParaRPr lang="en-US" sz="1600" dirty="0"/>
          </a:p>
          <a:p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要点三</a:t>
            </a:r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占位描述文字，说明本页第三个核心内容</a:t>
            </a:r>
            <a:endParaRPr lang="en-US" sz="1600" dirty="0"/>
          </a:p>
          <a:p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要点四</a:t>
            </a:r>
            <a:pPr algn="l" marL="139700" indent="-139700">
              <a:lnSpc>
                <a:spcPts val="248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占位描述文字，说明本页第四个核心内容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7950" y="4270474"/>
            <a:ext cx="8185100" cy="466725"/>
          </a:xfrm>
          <a:prstGeom prst="roundRect">
            <a:avLst>
              <a:gd name="adj" fmla="val 8163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36525" y="4270474"/>
            <a:ext cx="0" cy="466725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pic>
        <p:nvPicPr>
          <p:cNvPr id="14" name="Image 2" descr="C:/Obsidion/妙妙屋/09-AI工作区/pptx-化学模板/icons/LuLightbulb-B453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0" y="4408587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9501" y="4384774"/>
            <a:ext cx="4351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课堂提示：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占位文字，写一句需要学生特别注意的提醒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759101"/>
            <a:ext cx="101501" cy="13842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25400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17475" y="904577"/>
            <a:ext cx="2521000" cy="431750"/>
          </a:xfrm>
          <a:prstGeom prst="roundRect">
            <a:avLst>
              <a:gd name="adj" fmla="val 1470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C:/Obsidion/妙妙屋/09-AI工作区/pptx-化学模板/icons/LuBookO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26" y="1044178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35026" y="1006078"/>
            <a:ext cx="5246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概念一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95176" y="1488728"/>
            <a:ext cx="22089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占位文字：该概念的定义要点与关键特征，控制在两行到三行。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01901" y="895052"/>
            <a:ext cx="25400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311426" y="904577"/>
            <a:ext cx="2521000" cy="431750"/>
          </a:xfrm>
          <a:prstGeom prst="roundRect">
            <a:avLst>
              <a:gd name="adj" fmla="val 1470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C:/Obsidion/妙妙屋/09-AI工作区/pptx-化学模板/icons/LuAtom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376" y="1044178"/>
            <a:ext cx="152400" cy="152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428976" y="1006078"/>
            <a:ext cx="5246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概念二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3489127" y="1488728"/>
            <a:ext cx="22089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占位文字：该概念的定义要点与关键特征，控制在两行到三行。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095851" y="895052"/>
            <a:ext cx="25400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105376" y="904577"/>
            <a:ext cx="2521000" cy="431750"/>
          </a:xfrm>
          <a:prstGeom prst="roundRect">
            <a:avLst>
              <a:gd name="adj" fmla="val 1470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4" descr="C:/Obsidion/妙妙屋/09-AI工作区/pptx-化学模板/icons/LuFlaskConical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327" y="1044178"/>
            <a:ext cx="152400" cy="152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2927" y="1006078"/>
            <a:ext cx="5246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概念三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283077" y="1488728"/>
            <a:ext cx="22089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占位文字：该概念的定义要点与关键特征，控制在两行到三行。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479750"/>
            <a:ext cx="101501" cy="16636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Search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微观探析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5086648" cy="3016151"/>
          </a:xfrm>
          <a:prstGeom prst="roundRect">
            <a:avLst>
              <a:gd name="adj" fmla="val 3369"/>
            </a:avLst>
          </a:prstGeom>
          <a:solidFill>
            <a:srgbClr val="E3EDE6"/>
          </a:solidFill>
          <a:ln w="9525">
            <a:solidFill>
              <a:srgbClr val="B7CD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108174" y="2284065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晶胞 / 分子模型图占位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69875" y="1031528"/>
            <a:ext cx="4080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标注一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20676" y="1115616"/>
            <a:ext cx="330101" cy="126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651772" y="1115616"/>
            <a:ext cx="330101" cy="126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032623" y="1031528"/>
            <a:ext cx="4080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标注二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69875" y="3593753"/>
            <a:ext cx="4080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标注三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20676" y="3677841"/>
            <a:ext cx="330101" cy="126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651772" y="3677841"/>
            <a:ext cx="330101" cy="126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032623" y="3593753"/>
            <a:ext cx="4080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标注四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899398" y="895052"/>
            <a:ext cx="2736503" cy="345877"/>
          </a:xfrm>
          <a:prstGeom prst="roundRect">
            <a:avLst>
              <a:gd name="adj" fmla="val 1468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7102525" y="958453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899398" y="1342430"/>
            <a:ext cx="2736503" cy="6096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宏观现象占位要点一</a:t>
            </a:r>
            <a:endParaRPr lang="en-US" sz="1400" dirty="0"/>
          </a:p>
          <a:p>
            <a:pPr algn="l" marL="114300" indent="-1143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宏观现象占位要点二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899398" y="2129730"/>
            <a:ext cx="2736503" cy="345877"/>
          </a:xfrm>
          <a:prstGeom prst="roundRect">
            <a:avLst>
              <a:gd name="adj" fmla="val 14687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102525" y="2193131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899398" y="2577108"/>
            <a:ext cx="2736503" cy="6096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微观解释占位要点一</a:t>
            </a:r>
            <a:endParaRPr lang="en-US" sz="1400" dirty="0"/>
          </a:p>
          <a:p>
            <a:pPr algn="l" marL="114300" indent="-1143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微观解释占位要点二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213050"/>
            <a:ext cx="101501" cy="19303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Sigma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推导与计算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73001" y="1225153"/>
            <a:ext cx="25301" cy="18288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07950" y="8950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34752" y="963216"/>
            <a:ext cx="1038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41202" y="895052"/>
            <a:ext cx="41908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已知条件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41202" y="1180802"/>
            <a:ext cx="41908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占位：列出题目给出的已知量与单位，如 </a:t>
            </a:r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= 5.3 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7950" y="16061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34752" y="1674316"/>
            <a:ext cx="1038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41202" y="1606153"/>
            <a:ext cx="30820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041202" y="1891903"/>
            <a:ext cx="30820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占位：写出所依据的公式或化学方程式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07950" y="23172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34752" y="2385417"/>
            <a:ext cx="1038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041202" y="2317254"/>
            <a:ext cx="76427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代入数据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041202" y="2603004"/>
            <a:ext cx="76427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占位：代入数据统一单位，如 </a:t>
            </a:r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0.20 mol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，保留有效数字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07950" y="302835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34752" y="3096518"/>
            <a:ext cx="1038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041202" y="3028355"/>
            <a:ext cx="72541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041202" y="3339405"/>
            <a:ext cx="7111901" cy="453926"/>
          </a:xfrm>
          <a:prstGeom prst="roundRect">
            <a:avLst>
              <a:gd name="adj" fmla="val 13989"/>
            </a:avLst>
          </a:prstGeom>
          <a:solidFill>
            <a:srgbClr val="FBF0DA"/>
          </a:solidFill>
          <a:ln w="19050">
            <a:solidFill>
              <a:srgbClr val="E8A3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1212652" y="3447306"/>
            <a:ext cx="69043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占位：计算结果与结论，如 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= 32%</a:t>
            </a:r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（保留两位有效数字）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946350"/>
            <a:ext cx="101501" cy="21970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PenLin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例题精讲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20205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习题讲评占位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8127950" cy="914400"/>
          </a:xfrm>
          <a:prstGeom prst="roundRect">
            <a:avLst>
              <a:gd name="adj" fmla="val 11111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11101" y="1022003"/>
            <a:ext cx="78760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【例题】</a:t>
            </a:r>
            <a:pPr algn="l" indent="0" marL="0">
              <a:lnSpc>
                <a:spcPts val="21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题干内容占位：在此粘贴题目原文，可包含已知条件、问题描述与选项，约两行文字。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7950" y="1936403"/>
            <a:ext cx="8127950" cy="2194620"/>
          </a:xfrm>
          <a:prstGeom prst="roundRect">
            <a:avLst>
              <a:gd name="adj" fmla="val 4630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11101" y="2063353"/>
            <a:ext cx="7876083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【解析】</a:t>
            </a:r>
            <a:pPr algn="l" indent="0" marL="0">
              <a:lnSpc>
                <a:spcPts val="217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第一步：分析思路占位文字。</a:t>
            </a:r>
            <a:endParaRPr lang="en-US" sz="1400" dirty="0"/>
          </a:p>
          <a:p>
            <a:pPr algn="l" indent="0" marL="0">
              <a:lnSpc>
                <a:spcPts val="217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第二步：关键方程式或计算步骤占位。</a:t>
            </a:r>
            <a:endParaRPr lang="en-US" sz="1400" dirty="0"/>
          </a:p>
          <a:p>
            <a:pPr algn="l" indent="0" marL="0">
              <a:lnSpc>
                <a:spcPts val="217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第三步：得出结论与答案占位。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7950" y="4257973"/>
            <a:ext cx="8166050" cy="479227"/>
          </a:xfrm>
          <a:prstGeom prst="roundRect">
            <a:avLst>
              <a:gd name="adj" fmla="val 15901"/>
            </a:avLst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C:/Obsidion/妙妙屋/09-AI工作区/pptx-化学模板/icons/LuTriangleAlert-C03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00" y="4402336"/>
            <a:ext cx="190500" cy="1905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1401" y="4378523"/>
            <a:ext cx="43511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易错警示：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占位文字，写本题最常见的错误与规避方法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679650"/>
            <a:ext cx="101501" cy="24637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FlaskConical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实验探究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20205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实验名称占位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3200400" cy="2457450"/>
          </a:xfrm>
          <a:prstGeom prst="roundRect">
            <a:avLst>
              <a:gd name="adj" fmla="val 4134"/>
            </a:avLst>
          </a:prstGeom>
          <a:solidFill>
            <a:srgbClr val="E3EDE6"/>
          </a:solidFill>
          <a:ln w="9525">
            <a:solidFill>
              <a:srgbClr val="B7CD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812801" y="2004715"/>
            <a:ext cx="25906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实验装置图占位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25426" y="13617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122015" y="1406128"/>
            <a:ext cx="878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809875" y="25556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906464" y="2600027"/>
            <a:ext cx="878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013150" y="8950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118521" y="947440"/>
            <a:ext cx="95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444901" y="895052"/>
            <a:ext cx="4274820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步骤一：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占位文字，与装置图中标号 1 呼应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013150" y="137755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118521" y="1429941"/>
            <a:ext cx="95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444901" y="1377553"/>
            <a:ext cx="4274820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步骤二：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占位文字，与装置图中标号 2 呼应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013150" y="18600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118521" y="1912441"/>
            <a:ext cx="95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44901" y="1860054"/>
            <a:ext cx="4274820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步骤三：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占位文字，观察并记录实验现象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07950" y="3530203"/>
            <a:ext cx="8166050" cy="479227"/>
          </a:xfrm>
          <a:prstGeom prst="roundRect">
            <a:avLst>
              <a:gd name="adj" fmla="val 15901"/>
            </a:avLst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C:/Obsidion/妙妙屋/09-AI工作区/pptx-化学模板/icons/LuTriangleAlert-C03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00" y="3674566"/>
            <a:ext cx="190500" cy="1905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71401" y="3650754"/>
            <a:ext cx="39886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注意事项：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占位文字，写实验安全与操作规范提醒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400300"/>
            <a:ext cx="101501" cy="2743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estTubes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现象记录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26939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实验现象记录占位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2288977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461939" y="993428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96927" y="895052"/>
            <a:ext cx="2919561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66133" y="993428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716488" y="895052"/>
            <a:ext cx="2919413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985695" y="993428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07950" y="1339453"/>
            <a:ext cx="2288977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030337" y="1488579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操作步骤占位一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796927" y="1339453"/>
            <a:ext cx="2919561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634532" y="1488579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现象描述占位一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716488" y="1339453"/>
            <a:ext cx="29194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731794" y="1488579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结论占位一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07950" y="1875830"/>
            <a:ext cx="2288977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030337" y="2024955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操作步骤占位二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2796927" y="1875830"/>
            <a:ext cx="2919561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634532" y="2024955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现象描述占位二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716488" y="1875830"/>
            <a:ext cx="29194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731794" y="2024955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结论占位二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07950" y="2412206"/>
            <a:ext cx="2288977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1030337" y="2561332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操作步骤占位三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2796927" y="2412206"/>
            <a:ext cx="2919561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634532" y="2561332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现象描述占位三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716488" y="2412206"/>
            <a:ext cx="29194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731794" y="2561332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结论占位三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507950" y="3151733"/>
            <a:ext cx="8185100" cy="466725"/>
          </a:xfrm>
          <a:prstGeom prst="roundRect">
            <a:avLst>
              <a:gd name="adj" fmla="val 8163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536525" y="3151733"/>
            <a:ext cx="0" cy="466725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pic>
        <p:nvPicPr>
          <p:cNvPr id="37" name="Image 2" descr="C:/Obsidion/妙妙屋/09-AI工作区/pptx-化学模板/icons/LuLightbulb-B453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0" y="3289846"/>
            <a:ext cx="190500" cy="1905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009501" y="3266033"/>
            <a:ext cx="39886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规律小结：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占位文字，一句话归纳本组实验的规律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133600"/>
            <a:ext cx="101501" cy="30099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ChartColum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数据图表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892701" y="895052"/>
            <a:ext cx="2743200" cy="345877"/>
          </a:xfrm>
          <a:prstGeom prst="roundRect">
            <a:avLst>
              <a:gd name="adj" fmla="val 14687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099102" y="958453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92701" y="1367879"/>
            <a:ext cx="2743200" cy="122946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7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结论要点占位一：一句话概括图表反映的规律</a:t>
            </a:r>
            <a:endParaRPr lang="en-US" sz="1400" dirty="0"/>
          </a:p>
          <a:p>
            <a:pPr algn="l" marL="114300" indent="-114300">
              <a:lnSpc>
                <a:spcPts val="217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结论要点占位二：单图单结论，避免信息过载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7950" y="895052"/>
          <a:ext cx="5079950" cy="29971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866900"/>
            <a:ext cx="101501" cy="32766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Network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知识框架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285851" y="2469803"/>
            <a:ext cx="888950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174950" y="1377553"/>
            <a:ext cx="25301" cy="22098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174950" y="1364903"/>
            <a:ext cx="888950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174950" y="2469803"/>
            <a:ext cx="888950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174950" y="3574703"/>
            <a:ext cx="888950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714851" y="1364903"/>
            <a:ext cx="1396901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714851" y="2469803"/>
            <a:ext cx="1396901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714851" y="3574703"/>
            <a:ext cx="1396901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61851" y="2203103"/>
            <a:ext cx="1524000" cy="558701"/>
          </a:xfrm>
          <a:prstGeom prst="roundRect">
            <a:avLst>
              <a:gd name="adj" fmla="val 18185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1142851" y="2358628"/>
            <a:ext cx="77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主题占位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063901" y="1148953"/>
            <a:ext cx="1689050" cy="49530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463951" y="1277541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分支一占位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063901" y="2253853"/>
            <a:ext cx="1689050" cy="49530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463951" y="2382441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分支二占位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063901" y="3358753"/>
            <a:ext cx="1689050" cy="49530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463951" y="3487341"/>
            <a:ext cx="9065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分支三占位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111901" y="1174403"/>
            <a:ext cx="1524000" cy="406301"/>
          </a:xfrm>
          <a:prstGeom prst="roundRect">
            <a:avLst>
              <a:gd name="adj" fmla="val 18755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543651" y="1268016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二级节点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111901" y="2279303"/>
            <a:ext cx="1524000" cy="406301"/>
          </a:xfrm>
          <a:prstGeom prst="roundRect">
            <a:avLst>
              <a:gd name="adj" fmla="val 18755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7543651" y="2372916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二级节点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111901" y="3384203"/>
            <a:ext cx="1524000" cy="406301"/>
          </a:xfrm>
          <a:prstGeom prst="roundRect">
            <a:avLst>
              <a:gd name="adj" fmla="val 18755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7543651" y="3477816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二级节点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600200"/>
            <a:ext cx="101501" cy="35433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arget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pic>
        <p:nvPicPr>
          <p:cNvPr id="9" name="Image 2" descr="C:/Obsidion/妙妙屋/09-AI工作区/pptx-化学模板/icons/LuTimer-1B43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304651"/>
            <a:ext cx="203150" cy="2031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70750" y="306139"/>
            <a:ext cx="984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 3 分钟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85800" y="920502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题干占位：在此书写课堂练习题干，控制在一到两行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507950" y="1469678"/>
            <a:ext cx="3911650" cy="730151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69875" y="1656904"/>
            <a:ext cx="355550" cy="355550"/>
          </a:xfrm>
          <a:prstGeom prst="roundRect">
            <a:avLst>
              <a:gd name="adj" fmla="val 14288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780752" y="1715542"/>
            <a:ext cx="1364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52376" y="1710928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选项内容占位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724400" y="1469678"/>
            <a:ext cx="3911501" cy="730151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886325" y="1656904"/>
            <a:ext cx="355550" cy="355550"/>
          </a:xfrm>
          <a:prstGeom prst="roundRect">
            <a:avLst>
              <a:gd name="adj" fmla="val 14288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003304" y="1715542"/>
            <a:ext cx="1240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368826" y="1710928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选项内容占位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07950" y="2377529"/>
            <a:ext cx="3911650" cy="730151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69875" y="2564755"/>
            <a:ext cx="355550" cy="355550"/>
          </a:xfrm>
          <a:prstGeom prst="roundRect">
            <a:avLst>
              <a:gd name="adj" fmla="val 14288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87747" y="2623393"/>
            <a:ext cx="1222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52376" y="2618780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选项内容占位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4724400" y="2377529"/>
            <a:ext cx="3911501" cy="730151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886325" y="2564755"/>
            <a:ext cx="355550" cy="355550"/>
          </a:xfrm>
          <a:prstGeom prst="roundRect">
            <a:avLst>
              <a:gd name="adj" fmla="val 14288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993630" y="2623393"/>
            <a:ext cx="1436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368826" y="2618780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选项内容占位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426669" y="4537174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答案与解析课上揭晓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320701"/>
            <a:ext cx="101501" cy="38226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History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化学史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61851" y="2393603"/>
            <a:ext cx="7620000" cy="381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638151" y="23174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714351" y="2114252"/>
            <a:ext cx="25301" cy="20315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55600" y="920353"/>
            <a:ext cx="1943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19XX 年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5600" y="1221879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事件名称占位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55600" y="148530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一行说明占位文字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543151" y="23174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619351" y="2495252"/>
            <a:ext cx="25301" cy="20315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660600" y="2749153"/>
            <a:ext cx="1943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19XX 年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660600" y="3050679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事件名称占位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660600" y="331410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一行说明占位文字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48151" y="23174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524351" y="2114252"/>
            <a:ext cx="25301" cy="20315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565600" y="920353"/>
            <a:ext cx="1943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19XX 年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565600" y="1221879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事件名称占位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565600" y="148530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一行说明占位文字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7353151" y="2317403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429351" y="2495252"/>
            <a:ext cx="25301" cy="20315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470600" y="2749153"/>
            <a:ext cx="19431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19XX 年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470600" y="3050679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事件名称占位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470600" y="3314105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一行说明占位文字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054001"/>
            <a:ext cx="101501" cy="40893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abl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对比归纳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895052"/>
            <a:ext cx="2036713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240482" y="993428"/>
            <a:ext cx="5829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对比项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544663" y="895052"/>
            <a:ext cx="3045619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160743" y="993428"/>
            <a:ext cx="18134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90282" y="895052"/>
            <a:ext cx="3045619" cy="444401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206362" y="993428"/>
            <a:ext cx="18134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B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07950" y="1339453"/>
            <a:ext cx="20367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1259681" y="1488579"/>
            <a:ext cx="5439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544663" y="1339453"/>
            <a:ext cx="3045619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534221" y="1488579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内容占位文字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90282" y="1339453"/>
            <a:ext cx="3045619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579840" y="1488579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内容占位文字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07950" y="1875830"/>
            <a:ext cx="2036713" cy="536377"/>
          </a:xfrm>
          <a:prstGeom prst="rect">
            <a:avLst/>
          </a:prstGeom>
          <a:solidFill>
            <a:srgbClr val="FBF0DA"/>
          </a:solidFill>
          <a:ln w="9525">
            <a:solidFill>
              <a:srgbClr val="E8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170831" y="2024955"/>
            <a:ext cx="7251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关键差异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2544663" y="1875830"/>
            <a:ext cx="3045619" cy="536377"/>
          </a:xfrm>
          <a:prstGeom prst="rect">
            <a:avLst/>
          </a:prstGeom>
          <a:solidFill>
            <a:srgbClr val="FBF0DA"/>
          </a:solidFill>
          <a:ln w="9525">
            <a:solidFill>
              <a:srgbClr val="E8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445371" y="2024955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差异点占位文字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590282" y="1875830"/>
            <a:ext cx="3045619" cy="536377"/>
          </a:xfrm>
          <a:prstGeom prst="rect">
            <a:avLst/>
          </a:prstGeom>
          <a:solidFill>
            <a:srgbClr val="FBF0DA"/>
          </a:solidFill>
          <a:ln w="9525">
            <a:solidFill>
              <a:srgbClr val="E8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490990" y="2024955"/>
            <a:ext cx="12690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差异点占位文字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07950" y="2412206"/>
            <a:ext cx="2036713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1259681" y="2561332"/>
            <a:ext cx="5439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2544663" y="2412206"/>
            <a:ext cx="3045619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534221" y="2561332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内容占位文字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90282" y="2412206"/>
            <a:ext cx="3045619" cy="536377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579840" y="2561332"/>
            <a:ext cx="10878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内容占位文字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507950" y="3126284"/>
            <a:ext cx="8290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注：浅黄底行为需要重点记忆的差异点，注释占位文字。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87301"/>
            <a:ext cx="101501" cy="43560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ayoutGrid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图标库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44043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图标库 · 复制即用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icons/LuFlaskConical-1B43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01" y="895052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8281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锥形瓶</a:t>
            </a:r>
            <a:endParaRPr lang="en-US" sz="1100" dirty="0"/>
          </a:p>
        </p:txBody>
      </p:sp>
      <p:pic>
        <p:nvPicPr>
          <p:cNvPr id="13" name="Image 3" descr="C:/Obsidion/妙妙屋/09-AI工作区/pptx-化学模板/icons/LuFlaskRound-1B43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802" y="895052"/>
            <a:ext cx="304800" cy="304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33782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圆底烧瓶</a:t>
            </a:r>
            <a:endParaRPr lang="en-US" sz="1100" dirty="0"/>
          </a:p>
        </p:txBody>
      </p:sp>
      <p:pic>
        <p:nvPicPr>
          <p:cNvPr id="15" name="Image 4" descr="C:/Obsidion/妙妙屋/09-AI工作区/pptx-化学模板/icons/LuTestTubes-1B433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302" y="895052"/>
            <a:ext cx="304800" cy="304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59283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试管</a:t>
            </a:r>
            <a:endParaRPr lang="en-US" sz="1100" dirty="0"/>
          </a:p>
        </p:txBody>
      </p:sp>
      <p:pic>
        <p:nvPicPr>
          <p:cNvPr id="17" name="Image 5" descr="C:/Obsidion/妙妙屋/09-AI工作区/pptx-化学模板/icons/LuFlame-1B433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803" y="895052"/>
            <a:ext cx="304800" cy="3048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84784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酒精灯</a:t>
            </a:r>
            <a:endParaRPr lang="en-US" sz="1100" dirty="0"/>
          </a:p>
        </p:txBody>
      </p:sp>
      <p:pic>
        <p:nvPicPr>
          <p:cNvPr id="19" name="Image 6" descr="C:/Obsidion/妙妙屋/09-AI工作区/pptx-化学模板/icons/LuPipette-1B433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304" y="895052"/>
            <a:ext cx="304800" cy="3048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110285" y="1263253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滴管</a:t>
            </a:r>
            <a:endParaRPr lang="en-US" sz="1100" dirty="0"/>
          </a:p>
        </p:txBody>
      </p:sp>
      <p:pic>
        <p:nvPicPr>
          <p:cNvPr id="21" name="Image 7" descr="C:/Obsidion/妙妙屋/09-AI工作区/pptx-化学模板/icons/LuAtom-1B433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8301" y="1631454"/>
            <a:ext cx="304800" cy="3048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08281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</a:t>
            </a:r>
            <a:endParaRPr lang="en-US" sz="1100" dirty="0"/>
          </a:p>
        </p:txBody>
      </p:sp>
      <p:pic>
        <p:nvPicPr>
          <p:cNvPr id="23" name="Image 8" descr="C:/Obsidion/妙妙屋/09-AI工作区/pptx-化学模板/icons/LuMicroscope-1B433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3802" y="1631454"/>
            <a:ext cx="304800" cy="3048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2233782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显微镜</a:t>
            </a:r>
            <a:endParaRPr lang="en-US" sz="1100" dirty="0"/>
          </a:p>
        </p:txBody>
      </p:sp>
      <p:pic>
        <p:nvPicPr>
          <p:cNvPr id="25" name="Image 9" descr="C:/Obsidion/妙妙屋/09-AI工作区/pptx-化学模板/icons/LuSearch-1B433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9302" y="1631454"/>
            <a:ext cx="304800" cy="3048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3859283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放大镜</a:t>
            </a:r>
            <a:endParaRPr lang="en-US" sz="1100" dirty="0"/>
          </a:p>
        </p:txBody>
      </p:sp>
      <p:pic>
        <p:nvPicPr>
          <p:cNvPr id="27" name="Image 10" descr="C:/Obsidion/妙妙屋/09-AI工作区/pptx-化学模板/icons/LuBookOpen-1B433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4803" y="1631454"/>
            <a:ext cx="304800" cy="3048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484784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书本</a:t>
            </a:r>
            <a:endParaRPr lang="en-US" sz="1100" dirty="0"/>
          </a:p>
        </p:txBody>
      </p:sp>
      <p:pic>
        <p:nvPicPr>
          <p:cNvPr id="29" name="Image 11" descr="C:/Obsidion/妙妙屋/09-AI工作区/pptx-化学模板/icons/LuPenLine-1B433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0304" y="1631454"/>
            <a:ext cx="304800" cy="30480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7110285" y="1999655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1100" dirty="0"/>
          </a:p>
        </p:txBody>
      </p:sp>
      <p:pic>
        <p:nvPicPr>
          <p:cNvPr id="31" name="Image 12" descr="C:/Obsidion/妙妙屋/09-AI工作区/pptx-化学模板/icons/LuChartColumn-1B433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8301" y="2367855"/>
            <a:ext cx="304800" cy="30480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08281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</a:t>
            </a:r>
            <a:endParaRPr lang="en-US" sz="1100" dirty="0"/>
          </a:p>
        </p:txBody>
      </p:sp>
      <p:pic>
        <p:nvPicPr>
          <p:cNvPr id="33" name="Image 13" descr="C:/Obsidion/妙妙屋/09-AI工作区/pptx-化学模板/icons/LuNetwork-1B433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93802" y="2367855"/>
            <a:ext cx="304800" cy="30480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2233782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1100" dirty="0"/>
          </a:p>
        </p:txBody>
      </p:sp>
      <p:pic>
        <p:nvPicPr>
          <p:cNvPr id="35" name="Image 14" descr="C:/Obsidion/妙妙屋/09-AI工作区/pptx-化学模板/icons/LuHistory-1B433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19302" y="2367855"/>
            <a:ext cx="304800" cy="30480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3859283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</a:t>
            </a:r>
            <a:endParaRPr lang="en-US" sz="1100" dirty="0"/>
          </a:p>
        </p:txBody>
      </p:sp>
      <p:pic>
        <p:nvPicPr>
          <p:cNvPr id="37" name="Image 15" descr="C:/Obsidion/妙妙屋/09-AI工作区/pptx-化学模板/icons/LuGraduationCap-1B433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44803" y="2367855"/>
            <a:ext cx="304800" cy="304800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5484784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毕业帽</a:t>
            </a:r>
            <a:endParaRPr lang="en-US" sz="1100" dirty="0"/>
          </a:p>
        </p:txBody>
      </p:sp>
      <p:pic>
        <p:nvPicPr>
          <p:cNvPr id="39" name="Image 16" descr="C:/Obsidion/妙妙屋/09-AI工作区/pptx-化学模板/icons/LuTimer-E8A33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0304" y="2367855"/>
            <a:ext cx="304800" cy="304800"/>
          </a:xfrm>
          <a:prstGeom prst="rect">
            <a:avLst/>
          </a:prstGeom>
        </p:spPr>
      </p:pic>
      <p:sp>
        <p:nvSpPr>
          <p:cNvPr id="40" name="Text 21"/>
          <p:cNvSpPr/>
          <p:nvPr/>
        </p:nvSpPr>
        <p:spPr>
          <a:xfrm>
            <a:off x="7110285" y="2736056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计时器</a:t>
            </a:r>
            <a:endParaRPr lang="en-US" sz="1100" dirty="0"/>
          </a:p>
        </p:txBody>
      </p:sp>
      <p:pic>
        <p:nvPicPr>
          <p:cNvPr id="41" name="Image 17" descr="C:/Obsidion/妙妙屋/09-AI工作区/pptx-化学模板/icons/LuLightbulb-E8A33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8301" y="3104257"/>
            <a:ext cx="304800" cy="304800"/>
          </a:xfrm>
          <a:prstGeom prst="rect">
            <a:avLst/>
          </a:prstGeom>
        </p:spPr>
      </p:pic>
      <p:sp>
        <p:nvSpPr>
          <p:cNvPr id="42" name="Text 22"/>
          <p:cNvSpPr/>
          <p:nvPr/>
        </p:nvSpPr>
        <p:spPr>
          <a:xfrm>
            <a:off x="608281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灯泡·提示</a:t>
            </a:r>
            <a:endParaRPr lang="en-US" sz="1100" dirty="0"/>
          </a:p>
        </p:txBody>
      </p:sp>
      <p:pic>
        <p:nvPicPr>
          <p:cNvPr id="43" name="Image 18" descr="C:/Obsidion/妙妙屋/09-AI工作区/pptx-化学模板/icons/LuTarget-E8A33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93802" y="3104257"/>
            <a:ext cx="304800" cy="304800"/>
          </a:xfrm>
          <a:prstGeom prst="rect">
            <a:avLst/>
          </a:prstGeom>
        </p:spPr>
      </p:pic>
      <p:sp>
        <p:nvSpPr>
          <p:cNvPr id="44" name="Text 23"/>
          <p:cNvSpPr/>
          <p:nvPr/>
        </p:nvSpPr>
        <p:spPr>
          <a:xfrm>
            <a:off x="2233782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靶心·考点</a:t>
            </a:r>
            <a:endParaRPr lang="en-US" sz="1100" dirty="0"/>
          </a:p>
        </p:txBody>
      </p:sp>
      <p:pic>
        <p:nvPicPr>
          <p:cNvPr id="45" name="Image 19" descr="C:/Obsidion/妙妙屋/09-AI工作区/pptx-化学模板/icons/LuTriangleAlert-C0392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19302" y="3104257"/>
            <a:ext cx="304800" cy="304800"/>
          </a:xfrm>
          <a:prstGeom prst="rect">
            <a:avLst/>
          </a:prstGeom>
        </p:spPr>
      </p:pic>
      <p:sp>
        <p:nvSpPr>
          <p:cNvPr id="46" name="Text 24"/>
          <p:cNvSpPr/>
          <p:nvPr/>
        </p:nvSpPr>
        <p:spPr>
          <a:xfrm>
            <a:off x="3859283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警示·砖红</a:t>
            </a:r>
            <a:endParaRPr lang="en-US" sz="1100" dirty="0"/>
          </a:p>
        </p:txBody>
      </p:sp>
      <p:pic>
        <p:nvPicPr>
          <p:cNvPr id="47" name="Image 20" descr="C:/Obsidion/妙妙屋/09-AI工作区/pptx-化学模板/icons/LuCheck-1B4332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44803" y="3104257"/>
            <a:ext cx="304800" cy="304800"/>
          </a:xfrm>
          <a:prstGeom prst="rect">
            <a:avLst/>
          </a:prstGeom>
        </p:spPr>
      </p:pic>
      <p:sp>
        <p:nvSpPr>
          <p:cNvPr id="48" name="Text 25"/>
          <p:cNvSpPr/>
          <p:nvPr/>
        </p:nvSpPr>
        <p:spPr>
          <a:xfrm>
            <a:off x="5484784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对勾</a:t>
            </a:r>
            <a:endParaRPr lang="en-US" sz="1100" dirty="0"/>
          </a:p>
        </p:txBody>
      </p:sp>
      <p:pic>
        <p:nvPicPr>
          <p:cNvPr id="49" name="Image 21" descr="C:/Obsidion/妙妙屋/09-AI工作区/pptx-化学模板/icons/LuX-1B4332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70304" y="3104257"/>
            <a:ext cx="304800" cy="304800"/>
          </a:xfrm>
          <a:prstGeom prst="rect">
            <a:avLst/>
          </a:prstGeom>
        </p:spPr>
      </p:pic>
      <p:sp>
        <p:nvSpPr>
          <p:cNvPr id="50" name="Text 26"/>
          <p:cNvSpPr/>
          <p:nvPr/>
        </p:nvSpPr>
        <p:spPr>
          <a:xfrm>
            <a:off x="7110285" y="3472458"/>
            <a:ext cx="1424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叉号</a:t>
            </a:r>
            <a:endParaRPr lang="en-US" sz="1100" dirty="0"/>
          </a:p>
        </p:txBody>
      </p:sp>
      <p:sp>
        <p:nvSpPr>
          <p:cNvPr id="51" name="Text 27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28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20601"/>
            <a:ext cx="101501" cy="4622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Plus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55870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自由页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523702" y="200025"/>
            <a:ext cx="16838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页标题占位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4450" y="1625501"/>
            <a:ext cx="227965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800"/>
              </a:spcBef>
              <a:buNone/>
            </a:pPr>
            <a:r>
              <a:rPr lang="en-US" sz="4400" b="1" dirty="0">
                <a:solidFill>
                  <a:srgbClr val="FAF7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216450" y="2587526"/>
            <a:ext cx="7111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83198" y="2892177"/>
            <a:ext cx="18130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课后思考：思考题占位</a:t>
            </a:r>
            <a:endParaRPr lang="en-US" sz="1400" dirty="0"/>
          </a:p>
        </p:txBody>
      </p:sp>
      <p:pic>
        <p:nvPicPr>
          <p:cNvPr id="5" name="Image 0" descr="C:/Obsidion/妙妙屋/09-AI工作区/pptx-化学模板/icons/cell-H-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150" y="812750"/>
            <a:ext cx="1219200" cy="1219200"/>
          </a:xfrm>
          <a:prstGeom prst="rect">
            <a:avLst/>
          </a:prstGeom>
        </p:spPr>
      </p:pic>
      <p:pic>
        <p:nvPicPr>
          <p:cNvPr id="6" name="Image 1" descr="C:/Obsidion/妙妙屋/09-AI工作区/pptx-化学模板/icons/cell-O-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68301"/>
            <a:ext cx="990600" cy="990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599831" y="48513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7F0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高中化学课件模板</dc:title>
  <dc:subject>PptxGenJS Presentation</dc:subject>
  <dc:creator/>
  <cp:lastModifiedBy/>
  <cp:revision>1</cp:revision>
  <dcterms:created xsi:type="dcterms:W3CDTF">2026-08-24T03:01:42Z</dcterms:created>
  <dcterms:modified xsi:type="dcterms:W3CDTF">2026-08-24T03:01:42Z</dcterms:modified>
</cp:coreProperties>
</file>