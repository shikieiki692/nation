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0.5 min】同学们好，我是你们的化学老师。这是高中第一节化学课，今天不讲知识点，先来聊聊化学到底是什么、为什么值得学、怎么学好。（→ 下页：先问大家一个问题——你身边有化学吗？）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 min】先别急着翻课本。看看这三样东西：奶茶、手机、灭火器。奶茶的甜味来自糖，Q 弹的珍珠是淀粉做的；手机能亮、能用一整天，靠电池里的化学反应和芯片材料；灭火器一压，里面的化学反应喷出二氧化碳把火闷灭。化学不在远方，就在你手里。（→ 下页：再说一件更大的事——你碗里的饭。）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min】每天都要吃饭。你碗里这碗饭，背后就站着化学。有统计认为，化学肥料间接供养了全球约 48% 的人口（来源：新华网/中国农科院白由路）。一百多年前肥料远远不够，1909 年德国化学家哈伯把空气里的氮气变成了氮肥原料，工程师博施再把它做成大规模工业生产，这就是合成氨。氮肥让粮食大幅增产。化学和"吃饭"直接相关。（→ 下页：化学不只是实验室里的事，那化学到底是什么？）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给化学下个定义：化学是在原子、分子水平上，研究物质的组成、结构、性质和转化的自然科学。四个词记住：组成、结构、性质、转化。初中你们背的很多东西，高中都要放到这四个词下面，重新讲一遍道理。（→ 下页：化学家每天都在做什么？）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化学家每天都在做三件事：识别——弄清一个物质到底是什么；创造——合成自然界原本没有的新物质，比如新药、新材料；解释——搞清楚现象背后的原因。这三件事，也是你们高中三年要学会的本事。（→ 下页：先看一张改变了化学的表。）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min】1869 年，俄国化学家门捷列夫把当时已知的 63 种元素排成一张表——元素周期表。他了不起的地方在于：表里故意留了空位，预言那里还有没发现的元素，连性质都算好了。比如他预言的“类铝”后来发现是镓，“类硅”是锗，性质和预言几乎一样。科学的魅力就在于能预言未来。（→ 下页：这张表的故事讲到今天，2025 年的诺贝尔化学奖又给了化学。）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min】2025 年的诺贝尔化学奖，颁给了北川进（日本）、罗布森（澳大利亚）、亚吉（美国/约旦），成果叫金属有机骨架，简称 MOF。它是什么？你可以把它想成一座“分子房子”——一种内部全是小房间的晶体。几克 MOF 摊开的内部总面积，差不多有一个足球场那么大。这些“小房间”能装东西：储存气体、捕集二氧化碳、净化空气、给身体送药，还能在半导体制造里除掉毒气。（来源：科技日报）（→ 下页：你会发现，化学总能和别的学科搭上关系。）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为什么叫“中心科学”？你看这张图：化学在中间，向外连着物理、生物、材料、医学、环境、天文。研究生命要懂分子，研究新材料要懂合成，治理污染要懂反应，连天文学家找星际分子也要用化学。化学是很多学科绕不开的中间站。（→ 下页：先讲一个中国人的故事。）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min】疟疾曾经长期威胁人类，传统药物渐渐失效。屠呦呦团队从古代医药典籍里找到线索，改用低温提取，改造出了抗疟药物青蒿素，挽救了全球数百万人的生命。2015 年，她获得诺贝尔生理学或医学奖，这是中国本土科学家第一次获得科学类诺贝尔奖。（来源：新华网/大公文汇网）（→ 下页：再讲一个你身上可能正穿着的材料。）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min】尼龙 66 是一种高性能材料，用来做汽车轻量化部件、航空航天器件，还有高端的瑜伽服、冲锋衣。它的核心原料叫己二腈（一种含氮的化工原料），生产技术长期被国外垄断。2025 年 12 月，中国化学天辰齐翔（山东）年产 20 万吨己二腈装置达产，把这块短板补上了。（来源：科技日报）（→ 下页：还有一类资源，关系到国家竞争力。）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min】稀土是 17 种金属元素的统称——镧系加上钪和钇。它既不是“土”，也不真的稀有，难的是把它们一个一个分开，这要靠化学。你的手机振动马达、新能源汽车电机、风力发电机、光刻机玻璃，都离不开稀土。中国储量全球第一，约占 36%（2024 年），开采量占全球 60% 以上，精炼产能约 90%。背后有一位大化学家：徐光宪，上世纪 70 年代建立串级萃取理论，简单说就是用一套流程把稀土逐级分干净，还能“一步放大”到工业生产，2008 年获国家最高科学技术奖。这一页按“是什么→为什么重要→中国的成就”的顺序讲。（来源：科技日报/知识库）（→ 下页：化学离我们最近的，是健康和安全。）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人体必需元素举铁、碘、钙三个例子。安全部分务必展开：84 消毒液有效成分是次氯酸钠 NaClO，洁厕灵含盐酸 HCl，混合反应 NaClO+2HCl═NaCl+H₂O+Cl₂↑，放出黄绿色、有刺激性气味的有毒氯气，吸入会灼伤呼吸道。闻到异味立刻开窗通风、撤到室外。（来源：知识库）【建议时长 2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经典现象任选现场演示或放视频：焰色反应——不同金属烧出不同颜色，烟花就利用这个原理；丁达尔效应——阳光穿过雾气形成光柱，因为雾是胶体，微粒把光散射开来，电影院、舞台的光柱同理；水中花园——金属盐在硅酸钠溶液里长出「石头花」。让学生看见化学的美。【建议时长 1.5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 min】小结一下：从吃饭到看病，从穿的衣服到国家的战略资源，农业、医学、材料、生活，化学处处交叉。送大家一句话：化学是认识世界的一把钥匙。（→ 下页：那高中化学和初中学的，有什么不一样？）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 min】先盘点一下，初中你们已经学过什么：氧气和燃烧、酸碱盐、化学方程式，还有基本的实验操作。这些都是高中的地基。地基还在，楼就能往上盖。（→ 下页：但高中有三个变化，第一个在内容上。）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初中多靠记忆、高中重在逻辑推理。举例：初中背过氧化氢分解制氧气（二氧化锰催化），高中追问 MnO₂ 为什么能加快；初中背方程式会配平，高中理解每个系数背后的「量」。（→ 下页：第二个变化在思维。）【建议时长 2 min】依据：人教版必修第一册『物质的量在化学方程式计算中的应用』——系数之比就是物质的量之比。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第二个变化在思维。《普通高中化学课程标准》提出一条核心素养，叫“宏观辨识与微观探析”。说大白话：不光要看见水烧开冒气泡，还要能看见水分子在里面怎么动。初中主要停在宏观现象，高中要练着从微观粒子去解释。（→ 下页：第三个变化，在方法上。）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第三个变化在方法。课标里另一条核心素养叫“证据推理与模型认知”。大白话讲：结论要靠证据一步步推出来，不能凭感觉；还要学会用模型——比如用球棍模型想分子结构——把看不见的东西变得能思考。这正是化学家工作的方式。（→ 下页：方法没跟上，就容易掉进这三个陷阱。）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每年高一都有学生掉队，基本逃不出这三个陷阱：第一，只背不理解，题目一变就不会；第二，攒问题不问，窟窿越积越大；第三，怕计算，一见到数字就躲。如果你发现自己有苗头，现在就改，完全来得及。（→ 下页：那正确的学法是什么？先从上课开始。）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min】上课四步法：听——跟着老师的思路走，不只是听结论；记——记要点和疑问，不是抄板书；问——当堂的问题当堂提，别带回家；练——作业独立做、限时做。四步都不难，难在每节课都做到。（→ 下页：配套装备很简单，两个本子。）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2 min】准备两个本子。笔记本：记知识框架和自己的疑问，不是把板书抄一遍。错题本：记错在哪里、为什么错，隔几天重做一次，每周翻一遍。这两个本子到期末就是你的独家复习资料。（→ 下页：本子是工具，还要配上时间上的闭环。）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min】时间上的闭环三步：课前花十分钟预习，把看不懂的地方标出来；课上带着这些疑问听，效率翻倍；课后当天把疑问清掉，别过夜。预习和复习都不需要很久，贵在每天都转起来。（→ 下页：最后聊聊心态。）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min】高中化学会遇到听不懂的时候，很正常。把“我不会”换成“我还没学会”——差别就在“还没”两个字：不会只是暂时的，差距只是时间。给自己一点时间，慢慢来，别慌。（→ 下页：最后，送大家三个词。）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【建议时长 1.5 min】送大家三个词：看见——看见生活里的化学；追问——多问一个为什么；坚持——每天进步一点点。三年之后，你会感谢今天开始认真的自己。（→ 下页：今天的课后任务。）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布置任务：必做——准备两个本子，下节课带来；选做二选一——找一个生活里的化学现象或翻课本目录标出最好奇的一节。留下联系方式，欢迎提问，问题不过夜。【建议时长 1.5 min】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3.png"/><Relationship Id="rId5" Type="http://schemas.openxmlformats.org/officeDocument/2006/relationships/image" Target="../media/image-1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939701"/>
            <a:ext cx="965150" cy="301526"/>
          </a:xfrm>
          <a:prstGeom prst="roundRect">
            <a:avLst>
              <a:gd name="adj" fmla="val 12636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051" y="990451"/>
            <a:ext cx="3108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418927"/>
            <a:ext cx="5570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buNone/>
            </a:pPr>
            <a:r>
              <a:rPr lang="en-US" sz="12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M E E T　C H E M I S T R 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720453"/>
            <a:ext cx="5570169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48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遇见化学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7950" y="2707779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50" y="2961680"/>
            <a:ext cx="557016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buNone/>
            </a:pPr>
            <a:r>
              <a:rPr lang="en-US" sz="1700" dirty="0">
                <a:solidFill>
                  <a:srgbClr val="E3EDE6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高一 · 开学第一课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950" y="3857030"/>
            <a:ext cx="55701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800"/>
              </a:spcBef>
              <a:buNone/>
            </a:pPr>
            <a:r>
              <a:rPr lang="en-US" sz="1150" dirty="0">
                <a:solidFill>
                  <a:srgbClr val="9DB8A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授课教师：___　　2026 年 9 月</a:t>
            </a:r>
            <a:endParaRPr lang="en-US" sz="1150" dirty="0"/>
          </a:p>
        </p:txBody>
      </p:sp>
      <p:pic>
        <p:nvPicPr>
          <p:cNvPr id="10" name="Image 0" descr="C:/Obsidion/妙妙屋/09-AI工作区/pptx-化学模板/icons/cell-C-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101" y="2819400"/>
            <a:ext cx="1752600" cy="1752600"/>
          </a:xfrm>
          <a:prstGeom prst="rect">
            <a:avLst/>
          </a:prstGeom>
        </p:spPr>
      </p:pic>
      <p:pic>
        <p:nvPicPr>
          <p:cNvPr id="11" name="Image 1" descr="C:/Obsidion/妙妙屋/09-AI工作区/pptx-化学模板/icons/cell-Na-8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02" y="2920901"/>
            <a:ext cx="1676400" cy="1676400"/>
          </a:xfrm>
          <a:prstGeom prst="rect">
            <a:avLst/>
          </a:prstGeom>
        </p:spPr>
      </p:pic>
      <p:pic>
        <p:nvPicPr>
          <p:cNvPr id="12" name="Image 2" descr="C:/Obsidion/妙妙屋/09-AI工作区/pptx-化学模板/icons/cell-H-1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301" y="1181100"/>
            <a:ext cx="1981200" cy="1981200"/>
          </a:xfrm>
          <a:prstGeom prst="rect">
            <a:avLst/>
          </a:prstGeom>
        </p:spPr>
      </p:pic>
      <p:pic>
        <p:nvPicPr>
          <p:cNvPr id="13" name="Image 3" descr="C:/Obsidion/妙妙屋/09-AI工作区/pptx-化学模板/icons/cell-O-9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301" y="368201"/>
            <a:ext cx="1828800" cy="1828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0" y="5080099"/>
            <a:ext cx="9144000" cy="634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599831" y="48513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AF7F0">
                    <a:alpha val="60000"/>
                  </a:srgbClr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 / 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838700"/>
            <a:ext cx="101501" cy="3048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ghtbulb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431750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259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96752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你身边有化学吗？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047452"/>
            <a:ext cx="2558951" cy="2797373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C:/Obsidion/妙妙屋/09-AI工作区/pptx-化学模板/开学第一课/images/card-bubble-t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6" y="1158478"/>
            <a:ext cx="2336750" cy="190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9875" y="3203079"/>
            <a:ext cx="227980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奶茶</a:t>
            </a:r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：乳化剂和甜味剂，调出这一杯的口感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3292525" y="1047452"/>
            <a:ext cx="2558951" cy="2797373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3" descr="C:/Obsidion/妙妙屋/09-AI工作区/pptx-化学模板/开学第一课/images/card-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550" y="1158478"/>
            <a:ext cx="2336750" cy="190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54450" y="3203079"/>
            <a:ext cx="227980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手机</a:t>
            </a:r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：锂电池、屏幕玻璃、芯片，全是材料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076950" y="1047452"/>
            <a:ext cx="2558951" cy="2797373"/>
          </a:xfrm>
          <a:prstGeom prst="roundRect">
            <a:avLst>
              <a:gd name="adj" fmla="val 397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4" descr="C:/Obsidion/妙妙屋/09-AI工作区/pptx-化学模板/开学第一课/images/card-extinguis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976" y="1158478"/>
            <a:ext cx="2336750" cy="1905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8875" y="3203079"/>
            <a:ext cx="2279803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灭火器</a:t>
            </a:r>
            <a:pPr algn="l" indent="0" marL="0">
              <a:lnSpc>
                <a:spcPts val="1890"/>
              </a:lnSpc>
              <a:spcBef>
                <a:spcPts val="8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：喷出的二氧化碳，能隔绝氧气灭火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07950" y="4124176"/>
            <a:ext cx="8127950" cy="501551"/>
          </a:xfrm>
          <a:prstGeom prst="roundRect">
            <a:avLst>
              <a:gd name="adj" fmla="val 7596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4"/>
          <p:cNvSpPr/>
          <p:nvPr/>
        </p:nvSpPr>
        <p:spPr>
          <a:xfrm>
            <a:off x="536525" y="4124176"/>
            <a:ext cx="0" cy="501551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pic>
        <p:nvPicPr>
          <p:cNvPr id="22" name="Image 5" descr="C:/Obsidion/妙妙屋/09-AI工作区/pptx-化学模板/icons/LuLightbulb-B4530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00" y="4279702"/>
            <a:ext cx="190500" cy="1905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009501" y="4251127"/>
            <a:ext cx="41116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想一想：</a:t>
            </a:r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这三样的共同点？——背后都站着化学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 / 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648200"/>
            <a:ext cx="101501" cy="495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Whea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431750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259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导入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96752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你碗里的饭，有化学的功劳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card-wh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920353"/>
            <a:ext cx="4470350" cy="3810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83101" y="920353"/>
            <a:ext cx="341985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≈48%</a:t>
            </a:r>
            <a:endParaRPr lang="en-US" sz="4200" dirty="0"/>
          </a:p>
        </p:txBody>
      </p:sp>
      <p:sp>
        <p:nvSpPr>
          <p:cNvPr id="13" name="Text 8"/>
          <p:cNvSpPr/>
          <p:nvPr/>
        </p:nvSpPr>
        <p:spPr>
          <a:xfrm>
            <a:off x="5283101" y="1625203"/>
            <a:ext cx="32384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化学肥料间接供养全球人口比例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283101" y="1917204"/>
            <a:ext cx="3352800" cy="174962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有统计认为：化学肥料间接供养全球约 48% 人口</a:t>
            </a:r>
            <a:endParaRPr lang="en-US" sz="1400" dirty="0"/>
          </a:p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1909 年，哈伯实现合成氨；博施把它工业化</a:t>
            </a:r>
            <a:endParaRPr lang="en-US" sz="1400" dirty="0"/>
          </a:p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氮肥让粮食大幅增产，化学和「吃饭」直接相关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283101" y="3819227"/>
            <a:ext cx="3352800" cy="523875"/>
          </a:xfrm>
          <a:prstGeom prst="roundRect">
            <a:avLst>
              <a:gd name="adj" fmla="val 12121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327297" y="3819227"/>
            <a:ext cx="326440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45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N₂ + 3H₂ ⇌ 2NH₃</a:t>
            </a:r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（高温、高压、催化剂）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283101" y="4470053"/>
            <a:ext cx="34198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来源：新华网 / 中国农科院（白由路）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 / 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457700"/>
            <a:ext cx="101501" cy="6858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96553"/>
            <a:ext cx="4394150" cy="2082552"/>
          </a:xfrm>
          <a:prstGeom prst="roundRect">
            <a:avLst>
              <a:gd name="adj" fmla="val 2439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36525" y="996553"/>
            <a:ext cx="0" cy="2082552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9001" y="1225153"/>
            <a:ext cx="390578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化学是在</a:t>
            </a:r>
            <a:pPr algn="l" indent="0" marL="0">
              <a:lnSpc>
                <a:spcPts val="315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原子、分子</a:t>
            </a:r>
            <a:pPr algn="l" indent="0" marL="0">
              <a:lnSpc>
                <a:spcPts val="315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水平上，研究物质的</a:t>
            </a:r>
            <a:pPr algn="l" indent="0" marL="0">
              <a:lnSpc>
                <a:spcPts val="315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组成、结构、性质与转化</a:t>
            </a:r>
            <a:pPr algn="l" indent="0" marL="0">
              <a:lnSpc>
                <a:spcPts val="315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的科学。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206901" y="996553"/>
            <a:ext cx="1714500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822752" y="1213693"/>
            <a:ext cx="4923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组成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299816" y="1575643"/>
            <a:ext cx="152852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物质由什么构成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921401" y="996553"/>
            <a:ext cx="1714500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7537252" y="1213693"/>
            <a:ext cx="4923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014316" y="1575643"/>
            <a:ext cx="152852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微粒如何排列连接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206901" y="2101304"/>
            <a:ext cx="1714500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822752" y="2318445"/>
            <a:ext cx="4923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性质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5299816" y="2680395"/>
            <a:ext cx="152852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表现什么特征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921401" y="2101304"/>
            <a:ext cx="1714500" cy="977801"/>
          </a:xfrm>
          <a:prstGeom prst="roundRect">
            <a:avLst>
              <a:gd name="adj" fmla="val 10391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537252" y="2318445"/>
            <a:ext cx="4923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转化</a:t>
            </a:r>
            <a:endParaRPr lang="en-US" sz="1900" dirty="0"/>
          </a:p>
        </p:txBody>
      </p:sp>
      <p:sp>
        <p:nvSpPr>
          <p:cNvPr id="25" name="Text 21"/>
          <p:cNvSpPr/>
          <p:nvPr/>
        </p:nvSpPr>
        <p:spPr>
          <a:xfrm>
            <a:off x="7014316" y="2680395"/>
            <a:ext cx="152852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如何变成新物质</a:t>
            </a:r>
            <a:endParaRPr lang="en-US" sz="1100" dirty="0"/>
          </a:p>
        </p:txBody>
      </p:sp>
      <p:pic>
        <p:nvPicPr>
          <p:cNvPr id="26" name="Image 2" descr="C:/Obsidion/妙妙屋/09-AI工作区/pptx-化学模板/开学第一课/images/p4-molecu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902" y="3180606"/>
            <a:ext cx="2044601" cy="8889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039541" y="4094857"/>
            <a:ext cx="13701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H₂O </a:t>
            </a:r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水分子示意图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219402" y="3366195"/>
            <a:ext cx="348482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小到一个原子、一个水分子，大到一种新药、一种航天材料，都在化学的研究范围之内。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 / 25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267200"/>
            <a:ext cx="101501" cy="8763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FlaskConica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化学家做三件事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225153"/>
            <a:ext cx="2558951" cy="1653927"/>
          </a:xfrm>
          <a:prstGeom prst="roundRect">
            <a:avLst>
              <a:gd name="adj" fmla="val 460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1234678"/>
            <a:ext cx="2539901" cy="482501"/>
          </a:xfrm>
          <a:prstGeom prst="roundRect">
            <a:avLst>
              <a:gd name="adj" fmla="val 1316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C:/Obsidion/妙妙屋/09-AI工作区/pptx-化学模板/icons/LuSearch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925" y="1387078"/>
            <a:ext cx="177701" cy="1777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17477" y="1337816"/>
            <a:ext cx="4145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识别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95176" y="1894880"/>
            <a:ext cx="222818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这是什么</a:t>
            </a:r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：分析成分、鉴定物质，比如检测一杯水的质量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292525" y="1225153"/>
            <a:ext cx="2558951" cy="1653927"/>
          </a:xfrm>
          <a:prstGeom prst="roundRect">
            <a:avLst>
              <a:gd name="adj" fmla="val 460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3302050" y="1234678"/>
            <a:ext cx="2539901" cy="482501"/>
          </a:xfrm>
          <a:prstGeom prst="roundRect">
            <a:avLst>
              <a:gd name="adj" fmla="val 1316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C:/Obsidion/妙妙屋/09-AI工作区/pptx-化学模板/icons/LuFlaskConical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500" y="1387078"/>
            <a:ext cx="177701" cy="17770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02051" y="1337816"/>
            <a:ext cx="4145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创造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3479750" y="1894880"/>
            <a:ext cx="22281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造出新物质</a:t>
            </a:r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：合成自然界没有的材料、药物和功能分子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076950" y="1225153"/>
            <a:ext cx="2558951" cy="1653927"/>
          </a:xfrm>
          <a:prstGeom prst="roundRect">
            <a:avLst>
              <a:gd name="adj" fmla="val 460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6086475" y="1234678"/>
            <a:ext cx="2539901" cy="482501"/>
          </a:xfrm>
          <a:prstGeom prst="roundRect">
            <a:avLst>
              <a:gd name="adj" fmla="val 13161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C:/Obsidion/妙妙屋/09-AI工作区/pptx-化学模板/icons/LuLightbulb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1387078"/>
            <a:ext cx="177701" cy="17770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86476" y="1337816"/>
            <a:ext cx="4145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264176" y="1894880"/>
            <a:ext cx="222818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为什么这样</a:t>
            </a:r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：用规律说明现象背后的原因，并做出预测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这三件事，也是你们三年要练的三种能力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5 / 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4089350"/>
            <a:ext cx="101501" cy="10540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ayoutGri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一张表的故事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card-mendele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895052"/>
            <a:ext cx="2667000" cy="2920901"/>
          </a:xfrm>
          <a:prstGeom prst="rect">
            <a:avLst/>
          </a:prstGeom>
        </p:spPr>
      </p:pic>
      <p:pic>
        <p:nvPicPr>
          <p:cNvPr id="12" name="Image 3" descr="C:/Obsidion/妙妙屋/09-AI工作区/pptx-化学模板/开学第一课/images/card-mendeleev-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651" y="895052"/>
            <a:ext cx="5283101" cy="21589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52651" y="3244453"/>
            <a:ext cx="5283101" cy="12625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6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1869 年，把当时已知的 63 种元素排成一张表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表里有空位——他直接预言了还没发现的元素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「类铝」= 镓、「类硅」= 锗，后来都被证实</a:t>
            </a:r>
            <a:endParaRPr lang="en-US" sz="1400" dirty="0"/>
          </a:p>
          <a:p>
            <a:pPr algn="l" marL="127000" indent="-127000">
              <a:lnSpc>
                <a:spcPts val="1960"/>
              </a:lnSpc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一张表，装下了整个物质世界的规律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6 / 25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898850"/>
            <a:ext cx="101501" cy="12445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Awar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2025 诺贝尔化学奖：MOF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45803"/>
            <a:ext cx="3962400" cy="51554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30"/>
              </a:lnSpc>
              <a:buSzPct val="100000"/>
              <a:buChar char="•"/>
            </a:pPr>
            <a:r>
              <a:rPr lang="en-US" sz="14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金属有机骨架（MOF）</a:t>
            </a:r>
            <a:pPr algn="l" marL="127000" indent="-127000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：像「分子房子」的多孔晶体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7950" y="1613743"/>
            <a:ext cx="3962400" cy="616595"/>
          </a:xfrm>
          <a:prstGeom prst="roundRect">
            <a:avLst>
              <a:gd name="adj" fmla="val 8239"/>
            </a:avLst>
          </a:prstGeom>
          <a:solidFill>
            <a:srgbClr val="FBF0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36525" y="1613743"/>
            <a:ext cx="0" cy="616595"/>
          </a:xfrm>
          <a:prstGeom prst="line">
            <a:avLst/>
          </a:prstGeom>
          <a:noFill/>
          <a:ln w="57150">
            <a:solidFill>
              <a:srgbClr val="E8A3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2801" y="1613743"/>
            <a:ext cx="3620845" cy="616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5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几克 MOF 的内部总面积
</a:t>
            </a:r>
            <a:pPr algn="l" indent="0" marL="0">
              <a:lnSpc>
                <a:spcPts val="2755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≈ 一个足球场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07950" y="2382738"/>
            <a:ext cx="3962400" cy="123408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用途①：储气 · 碳捕集 · 空气净化</a:t>
            </a:r>
            <a:endParaRPr lang="en-US" sz="1400" dirty="0"/>
          </a:p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用途②：药物递送 · 半导体除毒气</a:t>
            </a:r>
            <a:endParaRPr lang="en-US" sz="1400" dirty="0"/>
          </a:p>
          <a:p>
            <a:pPr algn="l" marL="127000" indent="-127000">
              <a:lnSpc>
                <a:spcPts val="203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获奖者：北川进（日）· 罗布森（澳）· 亚吉（美/约旦）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7950" y="3769221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来源：诺贝尔奖官方</a:t>
            </a:r>
            <a:endParaRPr lang="en-US" sz="1050" dirty="0"/>
          </a:p>
        </p:txBody>
      </p:sp>
      <p:pic>
        <p:nvPicPr>
          <p:cNvPr id="17" name="Image 2" descr="C:/Obsidion/妙妙屋/09-AI工作区/pptx-化学模板/开学第一课/images/card-mo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51" y="945803"/>
            <a:ext cx="3810000" cy="3810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7 / 25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708350"/>
            <a:ext cx="101501" cy="14350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etwork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化学是什么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化学是中心科学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p8-spok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895052"/>
            <a:ext cx="8127950" cy="35559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88921" y="2482453"/>
            <a:ext cx="11658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222093" y="1136303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物理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78301" y="1161752"/>
            <a:ext cx="3497580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原子结构、能量变化，解释反应为何发生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555093" y="1872853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生物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38991" y="2393603"/>
            <a:ext cx="2331720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呼吸、光合作用，本质上都是化学反应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889093" y="1872853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72991" y="2393603"/>
            <a:ext cx="2331720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从塑料、尼龙到芯片材料，都靠化学合成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555093" y="3244453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医学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738991" y="3765203"/>
            <a:ext cx="2331720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新药的设计与合成，是现代医学的地基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889093" y="3244453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环境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072991" y="3765203"/>
            <a:ext cx="2331720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污水处理、碳捕集，都要靠化学办法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222093" y="3981152"/>
            <a:ext cx="699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天文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978301" y="4006453"/>
            <a:ext cx="3497580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分析星光，就能知道遥远星球的成分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8 / 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517850"/>
            <a:ext cx="101501" cy="16255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Pil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化学×医学：青蒿素与屠呦呦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card-tu-youyo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920353"/>
            <a:ext cx="3810000" cy="3810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48051" y="9456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724251" y="998041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79802" y="945654"/>
            <a:ext cx="36011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青蒿素 → 抗疟药物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：从植物黄花蒿中提取出的抗疟疾有效成分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48051" y="15524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724251" y="1604814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79802" y="1552426"/>
            <a:ext cx="36011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灵感来自一本古书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：《肘后备急方》「青蒿一握，绞取汁」，提示不能高温煎煮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648051" y="215919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724251" y="2211586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79802" y="2159198"/>
            <a:ext cx="36011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改用乙醚低温提取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：保住怕热的有效成分——这一步靠的正是化学方法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648051" y="2765971"/>
            <a:ext cx="3962400" cy="552450"/>
          </a:xfrm>
          <a:prstGeom prst="roundRect">
            <a:avLst>
              <a:gd name="adj" fmla="val 1379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25752" y="2765971"/>
            <a:ext cx="367913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2015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300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中国本土科学家首次获得科学类诺贝尔奖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648051" y="3432721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来源：诺贝尔奖官方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 / 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327350"/>
            <a:ext cx="101501" cy="18160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hir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化学×材料：尼龙 66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card-ja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920353"/>
            <a:ext cx="3810000" cy="3810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48051" y="94565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724251" y="998041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079802" y="945654"/>
            <a:ext cx="36011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己二腈是尼龙 66 的核心原料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：没有它，就生产不出这种高强度的合成纤维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648051" y="15524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724251" y="1604814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79802" y="1552426"/>
            <a:ext cx="360111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尼龙 66 耐磨、耐热、强度高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：用于汽车轻量化部件、航空航天材料，也做成高端瑜伽服、冲锋衣面料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648051" y="239910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724251" y="2451497"/>
            <a:ext cx="155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79802" y="2399109"/>
            <a:ext cx="3601111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制造技术长期被国外垄断</a:t>
            </a:r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：己二腈曾是被「卡脖子」的关键一环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648051" y="3005882"/>
            <a:ext cx="3962400" cy="549176"/>
          </a:xfrm>
          <a:prstGeom prst="roundRect">
            <a:avLst>
              <a:gd name="adj" fmla="val 13875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825752" y="3005882"/>
            <a:ext cx="36791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20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 万吨</a:t>
            </a:r>
            <a:pPr algn="l" indent="0" marL="0">
              <a:spcBef>
                <a:spcPts val="1000"/>
              </a:spcBef>
              <a:buNone/>
            </a:pPr>
            <a:r>
              <a:rPr lang="en-US" sz="1150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2025 年 12 月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25752" y="3364557"/>
            <a:ext cx="36791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150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天辰齐翔（山东）己二腈装置达产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648051" y="3682008"/>
            <a:ext cx="40416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来源：科技日报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10 / 25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49501"/>
            <a:ext cx="101501" cy="1993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Gem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化学×战略资源：稀土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20353"/>
            <a:ext cx="2558951" cy="888802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30089" y="1031379"/>
            <a:ext cx="7289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6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36%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67946" y="1494830"/>
            <a:ext cx="18388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储量全球第一（约，2024）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92525" y="920353"/>
            <a:ext cx="2558951" cy="888802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088904" y="1031379"/>
            <a:ext cx="98536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6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60%+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976168" y="1494830"/>
            <a:ext cx="11915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开采量占全球比例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076950" y="920353"/>
            <a:ext cx="2558951" cy="888802"/>
          </a:xfrm>
          <a:prstGeom prst="roundRect">
            <a:avLst>
              <a:gd name="adj" fmla="val 11431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999089" y="1031379"/>
            <a:ext cx="7289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26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6760593" y="1494830"/>
            <a:ext cx="11915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9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精炼产能约占全球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07950" y="1986855"/>
            <a:ext cx="40416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507950" y="2301180"/>
            <a:ext cx="388620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17 种金属元素（镧系 15 种 + 钪、钇）；不是「土」，也不算稀有——难在性质太相似，互相分离极难</a:t>
            </a:r>
            <a:endParaRPr lang="en-US" sz="1350" dirty="0"/>
          </a:p>
        </p:txBody>
      </p:sp>
      <p:pic>
        <p:nvPicPr>
          <p:cNvPr id="22" name="Image 2" descr="C:/Obsidion/妙妙屋/09-AI工作区/pptx-化学模板/开学第一课/images/card-rare-ear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3173760"/>
            <a:ext cx="2476500" cy="14223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673501" y="1986855"/>
            <a:ext cx="40416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徐光宪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4673501" y="2301180"/>
            <a:ext cx="388620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上世纪 70 年代建立串级萃取理论，像接力赛一样把稀土「兄弟」逐个分开，2008 年获国家最高科学技术奖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4673501" y="3199209"/>
            <a:ext cx="3962400" cy="438150"/>
          </a:xfrm>
          <a:prstGeom prst="roundRect">
            <a:avLst>
              <a:gd name="adj" fmla="val 14493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763366" y="3199209"/>
            <a:ext cx="378266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30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应用：手机振动马达 · 新能源车电机 · 风力发电 · 光刻机玻璃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507950" y="4786610"/>
            <a:ext cx="8290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来源：知识库 / 公开报道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11 / 25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959001"/>
            <a:ext cx="101501" cy="2184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HeartPuls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健康与安全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96553"/>
            <a:ext cx="2558951" cy="1281708"/>
          </a:xfrm>
          <a:prstGeom prst="roundRect">
            <a:avLst>
              <a:gd name="adj" fmla="val 792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695176" y="1158478"/>
            <a:ext cx="2228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铁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95176" y="1431429"/>
            <a:ext cx="22281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血红蛋白的核心成分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95176" y="1707654"/>
            <a:ext cx="2228189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缺铁容易贫血、疲劳；红肉、动物肝脏、菠菜能补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292525" y="996553"/>
            <a:ext cx="2558951" cy="1281708"/>
          </a:xfrm>
          <a:prstGeom prst="roundRect">
            <a:avLst>
              <a:gd name="adj" fmla="val 792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79750" y="1158478"/>
            <a:ext cx="2228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碘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79750" y="1431429"/>
            <a:ext cx="22281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甲状腺激素的原料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479750" y="1707654"/>
            <a:ext cx="2228189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缺碘会让甲状腺肿大；加碘盐就是为这个设计的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076950" y="996553"/>
            <a:ext cx="2558951" cy="1281708"/>
          </a:xfrm>
          <a:prstGeom prst="roundRect">
            <a:avLst>
              <a:gd name="adj" fmla="val 792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264176" y="1158478"/>
            <a:ext cx="2228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钙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264176" y="1431429"/>
            <a:ext cx="22281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骨骼和牙齿的主要成分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264176" y="1707654"/>
            <a:ext cx="2228189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长身体的关键期，奶、豆制品要跟上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07950" y="2455962"/>
            <a:ext cx="8127950" cy="1455837"/>
          </a:xfrm>
          <a:prstGeom prst="roundRect">
            <a:avLst>
              <a:gd name="adj" fmla="val 5234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00" y="2617887"/>
            <a:ext cx="215801" cy="21580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96702" y="2601962"/>
            <a:ext cx="751326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84 消毒液 + 洁厕灵 = 有毒氯气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04701" y="2925812"/>
            <a:ext cx="78891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NaClO + 2HCl ═ NaCl + H₂O + Cl₂↑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704701" y="3268712"/>
            <a:ext cx="7889138" cy="220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84 含次氯酸钠（NaClO），洁厕灵含盐酸（HCl）——混用放出黄绿色、刺鼻的氯气，吸入会灼伤呼吸道。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04701" y="3565773"/>
            <a:ext cx="7889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记住两条：清洁剂绝不混用；闻到刺鼻气味，立刻开窗、离开现场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12 / 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768501"/>
            <a:ext cx="101501" cy="2374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parkle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化学也很美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C:/Obsidion/妙妙屋/09-AI工作区/pptx-化学模板/开学第一课/images/card-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50" y="971252"/>
            <a:ext cx="2539901" cy="2286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7950" y="3396853"/>
            <a:ext cx="253893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焰色反应</a:t>
            </a:r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：每种金属烧出专属颜色，节日的烟花就靠这个原理</a:t>
            </a:r>
            <a:endParaRPr lang="en-US" sz="1200" dirty="0"/>
          </a:p>
        </p:txBody>
      </p:sp>
      <p:pic>
        <p:nvPicPr>
          <p:cNvPr id="13" name="Image 3" descr="C:/Obsidion/妙妙屋/09-AI工作区/pptx-化学模板/开学第一课/images/card-tynd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50" y="971252"/>
            <a:ext cx="2539901" cy="2286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302050" y="3396853"/>
            <a:ext cx="2538933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丁达尔效应</a:t>
            </a:r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：阳光穿过林间雾气，光柱清晰可见——本质是光被胶体微粒散射</a:t>
            </a:r>
            <a:endParaRPr lang="en-US" sz="1200" dirty="0"/>
          </a:p>
        </p:txBody>
      </p:sp>
      <p:pic>
        <p:nvPicPr>
          <p:cNvPr id="15" name="Image 4" descr="C:/Obsidion/妙妙屋/09-AI工作区/pptx-化学模板/开学第一课/images/card-gard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971252"/>
            <a:ext cx="2539901" cy="2286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96000" y="3396853"/>
            <a:ext cx="2538933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水中花园</a:t>
            </a:r>
            <a:pPr algn="l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：金属盐在硅酸钠溶液里，慢慢长出「石头花」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26671" y="442555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这些现象背后的原理，高中三年都会一一学到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13 / 25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578001"/>
            <a:ext cx="101501" cy="25653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KeyRound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为什么学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小结：为什么学化学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174403"/>
            <a:ext cx="1898600" cy="867668"/>
          </a:xfrm>
          <a:prstGeom prst="roundRect">
            <a:avLst>
              <a:gd name="adj" fmla="val 1171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1183928"/>
            <a:ext cx="1879550" cy="364927"/>
          </a:xfrm>
          <a:prstGeom prst="roundRect">
            <a:avLst>
              <a:gd name="adj" fmla="val 2436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279475" y="1247329"/>
            <a:ext cx="362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农业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28169" y="1675805"/>
            <a:ext cx="1658163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化肥与农药，养活更多人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84400" y="1174403"/>
            <a:ext cx="1898600" cy="867668"/>
          </a:xfrm>
          <a:prstGeom prst="roundRect">
            <a:avLst>
              <a:gd name="adj" fmla="val 1171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593925" y="1183928"/>
            <a:ext cx="1879550" cy="364927"/>
          </a:xfrm>
          <a:prstGeom prst="roundRect">
            <a:avLst>
              <a:gd name="adj" fmla="val 2436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355925" y="1247329"/>
            <a:ext cx="362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医学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04619" y="1675805"/>
            <a:ext cx="1658163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新药从实验室走向病房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660850" y="1174403"/>
            <a:ext cx="1898600" cy="867668"/>
          </a:xfrm>
          <a:prstGeom prst="roundRect">
            <a:avLst>
              <a:gd name="adj" fmla="val 1171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670375" y="1183928"/>
            <a:ext cx="1879550" cy="364927"/>
          </a:xfrm>
          <a:prstGeom prst="roundRect">
            <a:avLst>
              <a:gd name="adj" fmla="val 2436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432375" y="1247329"/>
            <a:ext cx="362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材料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781069" y="1675805"/>
            <a:ext cx="1658163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从尼龙面料到芯片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737300" y="1174403"/>
            <a:ext cx="1898600" cy="867668"/>
          </a:xfrm>
          <a:prstGeom prst="roundRect">
            <a:avLst>
              <a:gd name="adj" fmla="val 11710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746825" y="1183928"/>
            <a:ext cx="1879550" cy="364927"/>
          </a:xfrm>
          <a:prstGeom prst="roundRect">
            <a:avLst>
              <a:gd name="adj" fmla="val 2436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508825" y="1247329"/>
            <a:ext cx="362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生活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857519" y="1675805"/>
            <a:ext cx="1658163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柴米油盐里都有学问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3149650" y="2575471"/>
            <a:ext cx="29012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化学，处处交叉</a:t>
            </a:r>
            <a:endParaRPr lang="en-US" sz="3200" dirty="0"/>
          </a:p>
        </p:txBody>
      </p:sp>
      <p:sp>
        <p:nvSpPr>
          <p:cNvPr id="28" name="Text 24"/>
          <p:cNvSpPr/>
          <p:nvPr/>
        </p:nvSpPr>
        <p:spPr>
          <a:xfrm>
            <a:off x="556162" y="3261271"/>
            <a:ext cx="803137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6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化肥养人 · 药物治病 · 材料强国 · 生活更美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4216301" y="3740646"/>
            <a:ext cx="711101" cy="50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14 / 25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387501"/>
            <a:ext cx="101501" cy="27558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ookO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初高中过渡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初中盘点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225153"/>
            <a:ext cx="2558951" cy="1366093"/>
          </a:xfrm>
          <a:prstGeom prst="roundRect">
            <a:avLst>
              <a:gd name="adj" fmla="val 743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C:/Obsidion/妙妙屋/09-AI工作区/pptx-化学模板/icons/LuFlame-1B43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76" y="142190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5277" y="1412379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氧气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95176" y="1710779"/>
            <a:ext cx="22281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性质 · 制法 · 检验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695176" y="1977479"/>
            <a:ext cx="222818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还记得吗？带火星的木条伸进去，会复燃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92525" y="1225153"/>
            <a:ext cx="2558951" cy="1366093"/>
          </a:xfrm>
          <a:prstGeom prst="roundRect">
            <a:avLst>
              <a:gd name="adj" fmla="val 743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C:/Obsidion/妙妙屋/09-AI工作区/pptx-化学模板/icons/LuTestTubes-1B43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50" y="1421904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09851" y="1412379"/>
            <a:ext cx="582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酸碱盐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479750" y="1710779"/>
            <a:ext cx="22281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指示剂 · 中和反应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3479750" y="1977479"/>
            <a:ext cx="222818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紫色石蕊试液：遇酸变红，遇碱变蓝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76950" y="1225153"/>
            <a:ext cx="2558951" cy="1366093"/>
          </a:xfrm>
          <a:prstGeom prst="roundRect">
            <a:avLst>
              <a:gd name="adj" fmla="val 7437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C:/Obsidion/妙妙屋/09-AI工作区/pptx-化学模板/icons/LuPenLine-1B433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176" y="1421904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94277" y="1412379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化学方程式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264176" y="1710779"/>
            <a:ext cx="22281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5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书写 · 配平 · 计算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264176" y="1977479"/>
            <a:ext cx="22281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配平的依据，是质量守恒定律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高中化学，是站在这些基础上的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15 / 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209800"/>
            <a:ext cx="101501" cy="2933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ab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初高中过渡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变化①：内容——从「认识」到「讲理」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047452"/>
            <a:ext cx="1406128" cy="434876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914079" y="1047452"/>
            <a:ext cx="3360986" cy="434876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955916" y="1145828"/>
            <a:ext cx="32773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初中 · 多靠记忆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75064" y="1047452"/>
            <a:ext cx="3360837" cy="434876"/>
          </a:xfrm>
          <a:prstGeom prst="rect">
            <a:avLst/>
          </a:prstGeom>
          <a:solidFill>
            <a:srgbClr val="1B4332"/>
          </a:solidFill>
          <a:ln w="9525">
            <a:solidFill>
              <a:srgbClr val="1B43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316752" y="1145828"/>
            <a:ext cx="32773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高中 · 重在逻辑推理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7950" y="1482328"/>
            <a:ext cx="1415802" cy="6664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07039" y="1704380"/>
            <a:ext cx="121762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氧气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923752" y="1482328"/>
            <a:ext cx="3384352" cy="6664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34778" y="1611213"/>
            <a:ext cx="3225546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记住性质和制法：2H₂O₂ ═ 2H₂O + O₂↑（MnO₂ 催化）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308104" y="1482328"/>
            <a:ext cx="3384352" cy="666452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419130" y="1593354"/>
            <a:ext cx="3225546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追问为什么：2H₂O₂ ═ 2H₂O + O₂↑——MnO₂ 为什么能加快？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7950" y="2148780"/>
            <a:ext cx="1415802" cy="888653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07039" y="2482007"/>
            <a:ext cx="121762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化学方程式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923752" y="2148780"/>
            <a:ext cx="3384352" cy="888653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034778" y="2490936"/>
            <a:ext cx="3225546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背下来、会配平：3Fe + 2O₂ ═ Fe₃O₄（点燃）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308104" y="2148780"/>
            <a:ext cx="3384352" cy="888653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419130" y="2259806"/>
            <a:ext cx="3225546" cy="66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同一个方程式还要算「量」：3Fe + 2O₂ ═ Fe₃O₄——系数 3∶2∶1，就是物质的量之比，能算出要多少铁、生成多少产物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507950" y="3037433"/>
            <a:ext cx="1415802" cy="4442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07039" y="3148459"/>
            <a:ext cx="1217625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1923752" y="3037433"/>
            <a:ext cx="3384352" cy="444252"/>
          </a:xfrm>
          <a:prstGeom prst="rect">
            <a:avLst/>
          </a:prstGeom>
          <a:solidFill>
            <a:srgbClr val="FFFFFF"/>
          </a:solidFill>
          <a:ln w="9525">
            <a:solidFill>
              <a:srgbClr val="C9D6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2003155" y="3148459"/>
            <a:ext cx="322554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看现象、记结论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308104" y="3037433"/>
            <a:ext cx="3384352" cy="444252"/>
          </a:xfrm>
          <a:prstGeom prst="rect">
            <a:avLst/>
          </a:prstGeom>
          <a:solidFill>
            <a:srgbClr val="FBF0DA"/>
          </a:solidFill>
          <a:ln w="9525">
            <a:solidFill>
              <a:srgbClr val="E8D9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387507" y="3148459"/>
            <a:ext cx="3225546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25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用证据推出结论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426671" y="43748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衔接研究共识：初中多靠记忆，高中重在逻辑推理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16 / 25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2019300"/>
            <a:ext cx="101501" cy="3124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Atom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初高中过渡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变化②：思维——宏观辨识与微观探析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022003"/>
            <a:ext cx="3892451" cy="2136428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1031528"/>
            <a:ext cx="3873401" cy="457200"/>
          </a:xfrm>
          <a:prstGeom prst="roundRect">
            <a:avLst>
              <a:gd name="adj" fmla="val 19444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C:/Obsidion/妙妙屋/09-AI工作区/pptx-化学模板/icons/LuEy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326" y="1171277"/>
            <a:ext cx="177701" cy="17770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5877" y="1136303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初中：看现象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20626" y="1666429"/>
            <a:ext cx="35364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spcAft>
                <a:spcPts val="16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带火星的木条伸进集气瓶——复燃了，说明是氧气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20626" y="2383929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C + O₂ ═ CO₂（点燃）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20626" y="2752130"/>
            <a:ext cx="3536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看到什么，记住什么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43450" y="1022003"/>
            <a:ext cx="3892451" cy="2136428"/>
          </a:xfrm>
          <a:prstGeom prst="roundRect">
            <a:avLst>
              <a:gd name="adj" fmla="val 475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752975" y="1031528"/>
            <a:ext cx="3873401" cy="457200"/>
          </a:xfrm>
          <a:prstGeom prst="roundRect">
            <a:avLst>
              <a:gd name="adj" fmla="val 19444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3" descr="C:/Obsidion/妙妙屋/09-AI工作区/pptx-化学模板/icons/LuAtom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825" y="1171277"/>
            <a:ext cx="177701" cy="177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1377" y="1136303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高中：探微观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56125" y="1666429"/>
            <a:ext cx="353644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spcBef>
                <a:spcPts val="1400"/>
              </a:spcBef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氧分子 O₂ 在反应中发生了什么？原子怎么重新组合？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56125" y="2282279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旧键断裂 → 新键形成，放出能量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4956125" y="2612380"/>
            <a:ext cx="353644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1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现象背后，追问微粒层面的原因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26671" y="3387030"/>
            <a:ext cx="8290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高中课标核心素养：</a:t>
            </a:r>
            <a:pPr algn="ctr" indent="0" marL="0">
              <a:spcBef>
                <a:spcPts val="1800"/>
              </a:spcBef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宏观辨识与微观探析</a:t>
            </a:r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《普通高中化学课程标准（2017 年版 2020 年修订）》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17 / 25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01501" cy="3314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Brai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初高中过渡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变化③：方法——证据推理与模型认知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174403"/>
            <a:ext cx="2320379" cy="844451"/>
          </a:xfrm>
          <a:prstGeom prst="roundRect">
            <a:avLst>
              <a:gd name="adj" fmla="val 12032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04178" y="1320403"/>
            <a:ext cx="2327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3667" y="1647379"/>
            <a:ext cx="20689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实验现象、数据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967484" y="1396603"/>
            <a:ext cx="3108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411587" y="1174403"/>
            <a:ext cx="2320528" cy="844451"/>
          </a:xfrm>
          <a:prstGeom prst="roundRect">
            <a:avLst>
              <a:gd name="adj" fmla="val 12032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407813" y="1320403"/>
            <a:ext cx="2328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537302" y="1647379"/>
            <a:ext cx="2069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分析、比较、论证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871270" y="1396603"/>
            <a:ext cx="31089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315373" y="1174403"/>
            <a:ext cx="2320528" cy="844451"/>
          </a:xfrm>
          <a:prstGeom prst="roundRect">
            <a:avLst>
              <a:gd name="adj" fmla="val 12032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311598" y="1320403"/>
            <a:ext cx="232807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41088" y="1647379"/>
            <a:ext cx="20690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站得住脚的判断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777901" y="2272754"/>
            <a:ext cx="5588050" cy="907852"/>
          </a:xfrm>
          <a:prstGeom prst="roundRect">
            <a:avLst>
              <a:gd name="adj" fmla="val 11191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990715" y="2459980"/>
            <a:ext cx="516242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模型认知</a:t>
            </a:r>
            <a:pPr algn="ctr" indent="0" marL="0">
              <a:lnSpc>
                <a:spcPts val="21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：用模型把看不见的微观世界「画」出来，比如用球棍模型表示分子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26671" y="3434507"/>
            <a:ext cx="8290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高中课标核心素养：</a:t>
            </a:r>
            <a:pPr algn="ctr" indent="0" marL="0">
              <a:spcBef>
                <a:spcPts val="2000"/>
              </a:spcBef>
              <a:buNone/>
            </a:pPr>
            <a:r>
              <a:rPr lang="en-US" sz="11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证据推理与模型认知</a:t>
            </a:r>
            <a:pPr algn="ctr" indent="0" marL="0">
              <a:spcBef>
                <a:spcPts val="20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 《普通高中化学课程标准（2017 年版 2020 年修订）》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18 / 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638300"/>
            <a:ext cx="101501" cy="35052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TriangleAlert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812602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初高中过渡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77760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三个「掉队」陷阱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174403"/>
            <a:ext cx="2578001" cy="1484114"/>
          </a:xfrm>
          <a:prstGeom prst="roundRect">
            <a:avLst>
              <a:gd name="adj" fmla="val 6846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951" y="1374428"/>
            <a:ext cx="1905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0302" y="1345853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只背不思考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82856" y="1695004"/>
            <a:ext cx="22281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背得滚瓜烂熟，一换情境就不会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04701" y="2035225"/>
            <a:ext cx="222818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破解：</a:t>
            </a:r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多问一句「为什么」，把结论还原成推理过程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283000" y="1174403"/>
            <a:ext cx="2578001" cy="1484114"/>
          </a:xfrm>
          <a:prstGeom prst="roundRect">
            <a:avLst>
              <a:gd name="adj" fmla="val 6846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3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000" y="1374428"/>
            <a:ext cx="190500" cy="190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235351" y="1345853"/>
            <a:ext cx="9715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攒问题不问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457905" y="1695004"/>
            <a:ext cx="22281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小问题攒成大窟窿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479750" y="2035225"/>
            <a:ext cx="222818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破解：</a:t>
            </a:r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当天问，当天清；问老师、问同学，问题不过夜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57900" y="1174403"/>
            <a:ext cx="2578001" cy="1484114"/>
          </a:xfrm>
          <a:prstGeom prst="roundRect">
            <a:avLst>
              <a:gd name="adj" fmla="val 6846"/>
            </a:avLst>
          </a:prstGeom>
          <a:solidFill>
            <a:srgbClr val="FBEAE8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C:/Obsidion/妙妙屋/09-AI工作区/pptx-化学模板/icons/LuTriangleAlert-C0392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401" y="1374428"/>
            <a:ext cx="190500" cy="1905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00751" y="1345853"/>
            <a:ext cx="5829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怕计算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232806" y="1695004"/>
            <a:ext cx="22281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一看到数字题就想跳过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254651" y="2035225"/>
            <a:ext cx="222818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破解：</a:t>
            </a:r>
            <a:pPr algn="l" indent="0" marL="0">
              <a:lnSpc>
                <a:spcPts val="1680"/>
              </a:lnSpc>
              <a:spcBef>
                <a:spcPts val="10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跟着例题一步步算；计算题套路固定，动手三遍就熟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这三个坑避开了，高一化学就稳了一半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19 / 25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447800"/>
            <a:ext cx="101501" cy="3695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ListChecks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怎么学好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上课四步法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473101" y="1529953"/>
            <a:ext cx="61975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231850" y="1301353"/>
            <a:ext cx="482501" cy="482501"/>
          </a:xfrm>
          <a:prstGeom prst="roundRect">
            <a:avLst>
              <a:gd name="adj" fmla="val 18951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410444" y="140449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4625" y="1936254"/>
            <a:ext cx="1796951" cy="1090017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66371" y="2072729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听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566371" y="2396579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跟上思路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9902" y="2660005"/>
            <a:ext cx="16063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耳朵跟着老师走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297734" y="1301353"/>
            <a:ext cx="482501" cy="482501"/>
          </a:xfrm>
          <a:prstGeom prst="roundRect">
            <a:avLst>
              <a:gd name="adj" fmla="val 18951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76327" y="140449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640509" y="1936254"/>
            <a:ext cx="1796951" cy="1090017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632255" y="2072729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记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2632255" y="2396579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记要点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735785" y="2660005"/>
            <a:ext cx="16063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不抄板书，记关键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363617" y="1301353"/>
            <a:ext cx="482501" cy="482501"/>
          </a:xfrm>
          <a:prstGeom prst="roundRect">
            <a:avLst>
              <a:gd name="adj" fmla="val 18951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542211" y="140449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706392" y="1936254"/>
            <a:ext cx="1796951" cy="1090017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698138" y="2072729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4698138" y="2396579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不懂就问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01669" y="2660005"/>
            <a:ext cx="16063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问题不过夜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7429500" y="1301353"/>
            <a:ext cx="482501" cy="482501"/>
          </a:xfrm>
          <a:prstGeom prst="roundRect">
            <a:avLst>
              <a:gd name="adj" fmla="val 18951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608094" y="140449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772275" y="1936254"/>
            <a:ext cx="1796951" cy="1090017"/>
          </a:xfrm>
          <a:prstGeom prst="roundRect">
            <a:avLst>
              <a:gd name="adj" fmla="val 582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764021" y="2072729"/>
            <a:ext cx="18134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7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6764021" y="2396579"/>
            <a:ext cx="18134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2D6A4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当堂练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867552" y="2660005"/>
            <a:ext cx="1606397" cy="20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0"/>
              </a:lnSpc>
              <a:spcBef>
                <a:spcPts val="500"/>
              </a:spcBef>
              <a:spcAft>
                <a:spcPts val="12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动手才算学会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每节课按这四步走，课堂效率最高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20 / 25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269950"/>
            <a:ext cx="101501" cy="3873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NotebookPen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怎么学好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两个本子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250603"/>
            <a:ext cx="3892451" cy="1586210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17475" y="1260128"/>
            <a:ext cx="3873401" cy="507950"/>
          </a:xfrm>
          <a:prstGeom prst="roundRect">
            <a:avLst>
              <a:gd name="adj" fmla="val 17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C:/Obsidion/妙妙屋/09-AI工作区/pptx-化学模板/icons/LuNotebookPen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375" y="1418779"/>
            <a:ext cx="190500" cy="190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95376" y="1375916"/>
            <a:ext cx="62179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笔记本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11913" y="1996678"/>
            <a:ext cx="3484525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0"/>
              </a:lnSpc>
              <a:spcBef>
                <a:spcPts val="1800"/>
              </a:spcBef>
              <a:spcAft>
                <a:spcPts val="2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记课堂要点——概念、方法、易错点；只记关键，不抄板书，留出动脑的余地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743450" y="1250603"/>
            <a:ext cx="3892451" cy="1586210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752975" y="1260128"/>
            <a:ext cx="3873401" cy="507950"/>
          </a:xfrm>
          <a:prstGeom prst="roundRect">
            <a:avLst>
              <a:gd name="adj" fmla="val 17502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C:/Obsidion/妙妙屋/09-AI工作区/pptx-化学模板/icons/LuPenLine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18779"/>
            <a:ext cx="190500" cy="1905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0876" y="1375916"/>
            <a:ext cx="62179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错题本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947413" y="1996678"/>
            <a:ext cx="3484525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70"/>
              </a:lnSpc>
              <a:spcBef>
                <a:spcPts val="1800"/>
              </a:spcBef>
              <a:spcAft>
                <a:spcPts val="22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积累错题——错在哪、为什么错；每周翻一次，同类错误不犯第二次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别等到第一次考试之后，好习惯从第一节课就开始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21 / 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079450"/>
            <a:ext cx="101501" cy="40639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RefreshCw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怎么学好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课前预习 + 课后复习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777901" y="1542604"/>
            <a:ext cx="5587901" cy="253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523851" y="130135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715095" y="141714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4625" y="1961704"/>
            <a:ext cx="2406551" cy="1143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60275" y="2123629"/>
            <a:ext cx="2435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5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课前标疑问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89765" y="2457004"/>
            <a:ext cx="217627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花 5 分钟翻一遍，标出看不懂的地方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317950" y="130135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509195" y="141714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368725" y="1961704"/>
            <a:ext cx="2406551" cy="1143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354375" y="2123629"/>
            <a:ext cx="2435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5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课上带着听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3483864" y="2457004"/>
            <a:ext cx="217627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带着问题听课，重点听自己的疑问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7111901" y="1301353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7303145" y="1417141"/>
            <a:ext cx="1278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162675" y="1961704"/>
            <a:ext cx="2406551" cy="1143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6148325" y="2123629"/>
            <a:ext cx="243525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buNone/>
            </a:pPr>
            <a:r>
              <a:rPr lang="en-US" sz="15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课后当天清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6277814" y="2457004"/>
            <a:ext cx="2176272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600"/>
              </a:spcBef>
              <a:spcAft>
                <a:spcPts val="14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当天的疑问当天解决，不拖到明天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26671" y="4451003"/>
            <a:ext cx="829050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每天课前 5 分钟、课后 10 分钟，换来课堂上听得懂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22 / 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888950"/>
            <a:ext cx="101501" cy="42544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Smile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685651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怎么学好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650653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心态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485900" y="1390352"/>
            <a:ext cx="20724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「我不会」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797052" y="1409402"/>
            <a:ext cx="3886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4457402" y="1352252"/>
            <a:ext cx="326440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「我还没学会」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26671" y="2139553"/>
            <a:ext cx="82905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只差两个字，心态完全不一样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251" y="2834878"/>
            <a:ext cx="1777901" cy="501551"/>
          </a:xfrm>
          <a:prstGeom prst="roundRect">
            <a:avLst>
              <a:gd name="adj" fmla="val 15193"/>
            </a:avLst>
          </a:prstGeom>
          <a:solidFill>
            <a:srgbClr val="E3E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612702" y="2961829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听懂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760018" y="2834878"/>
            <a:ext cx="1777901" cy="501551"/>
          </a:xfrm>
          <a:prstGeom prst="roundRect">
            <a:avLst>
              <a:gd name="adj" fmla="val 15193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58468" y="2961829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会做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05933" y="2834878"/>
            <a:ext cx="1777901" cy="501551"/>
          </a:xfrm>
          <a:prstGeom prst="roundRect">
            <a:avLst>
              <a:gd name="adj" fmla="val 15193"/>
            </a:avLst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304383" y="2961829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AF7F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做对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51699" y="2834878"/>
            <a:ext cx="1777901" cy="501551"/>
          </a:xfrm>
          <a:prstGeom prst="roundRect">
            <a:avLst>
              <a:gd name="adj" fmla="val 15193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150150" y="2961829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熟练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26671" y="3565029"/>
            <a:ext cx="829050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4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学会，只是时间问题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23 / 25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98450"/>
            <a:ext cx="101501" cy="4444901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GraduationCap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431750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259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96752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寄语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1250603"/>
            <a:ext cx="2558951" cy="21462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482626" y="1488728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C:/Obsidion/妙妙屋/09-AI工作区/pptx-化学模板/icons/LuEye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676" y="1653778"/>
            <a:ext cx="279350" cy="2793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7927" y="2225278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看见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73331" y="2698254"/>
            <a:ext cx="2228189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奶茶、烟花、铁生锈——生活处处是课堂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292525" y="1250603"/>
            <a:ext cx="2558951" cy="21462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267200" y="1488728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C:/Obsidion/妙妙屋/09-AI工作区/pptx-化学模板/icons/LuSearch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250" y="1653778"/>
            <a:ext cx="279350" cy="279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92501" y="2225278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追问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3457905" y="2698254"/>
            <a:ext cx="2228189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不停在「是什么」，多问一层「为什么」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076950" y="1250603"/>
            <a:ext cx="2558951" cy="21462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  <a:effectLst>
            <a:outerShdw sx="100000" sy="100000" kx="0" ky="0" algn="bl" rotWithShape="0" blurRad="76200" dist="26941" dir="27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7051625" y="1488728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3" name="Image 4" descr="C:/Obsidion/妙妙屋/09-AI工作区/pptx-化学模板/icons/LuTarget-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6676" y="1653778"/>
            <a:ext cx="279350" cy="2793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76926" y="2225278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22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坚持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6242331" y="2698254"/>
            <a:ext cx="2228189" cy="460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13"/>
              </a:lnSpc>
              <a:spcBef>
                <a:spcPts val="800"/>
              </a:spcBef>
              <a:spcAft>
                <a:spcPts val="1800"/>
              </a:spcAft>
              <a:buNone/>
            </a:pPr>
            <a:r>
              <a:rPr lang="en-US" sz="125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每天弄懂一个小点，一学期就是一大步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24 / 25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20601"/>
            <a:ext cx="101501" cy="462275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C:/Obsidion/妙妙屋/09-AI工作区/pptx-化学模板/icons/hex-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1905000"/>
          </a:xfrm>
          <a:prstGeom prst="rect">
            <a:avLst/>
          </a:prstGeom>
        </p:spPr>
      </p:pic>
      <p:pic>
        <p:nvPicPr>
          <p:cNvPr id="5" name="Image 1" descr="C:/Obsidion/妙妙屋/09-AI工作区/pptx-化学模板/icons/LuMail-1B433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317450"/>
            <a:ext cx="203150" cy="203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602" y="306288"/>
            <a:ext cx="431750" cy="225326"/>
          </a:xfrm>
          <a:prstGeom prst="roundRect">
            <a:avLst>
              <a:gd name="adj" fmla="val 1690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01452" y="337989"/>
            <a:ext cx="259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50"/>
              </a:spcBef>
              <a:spcAft>
                <a:spcPts val="25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396752" y="200025"/>
            <a:ext cx="64768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课后任务 + 答疑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507950" y="695176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07950" y="685651"/>
            <a:ext cx="558701" cy="31700"/>
          </a:xfrm>
          <a:prstGeom prst="rect">
            <a:avLst/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07950" y="996553"/>
            <a:ext cx="5168950" cy="549771"/>
          </a:xfrm>
          <a:prstGeom prst="roundRect">
            <a:avLst>
              <a:gd name="adj" fmla="val 13860"/>
            </a:avLst>
          </a:prstGeom>
          <a:solidFill>
            <a:srgbClr val="FBF0DA"/>
          </a:solidFill>
          <a:ln w="19050">
            <a:solidFill>
              <a:srgbClr val="E8A3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04701" y="1142554"/>
            <a:ext cx="4870957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B45309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【必做】准备两个本子</a:t>
            </a:r>
            <a:pPr algn="l" indent="0" marL="0">
              <a:lnSpc>
                <a:spcPts val="203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：笔记本 + 错题本，下节课带来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7950" y="1673275"/>
            <a:ext cx="5168950" cy="1018580"/>
          </a:xfrm>
          <a:prstGeom prst="roundRect">
            <a:avLst>
              <a:gd name="adj" fmla="val 7481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95176" y="1809750"/>
            <a:ext cx="4890388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选做一：找一个生活里的化学现象</a:t>
            </a:r>
            <a:pPr algn="l" indent="0" marL="0">
              <a:lnSpc>
                <a:spcPts val="1958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——拍下来或记下来，下节课分享（比如：切开的苹果为什么会变黄？铁锅为什么会生锈？）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7950" y="2818805"/>
            <a:ext cx="5168950" cy="521494"/>
          </a:xfrm>
          <a:prstGeom prst="roundRect">
            <a:avLst>
              <a:gd name="adj" fmla="val 14612"/>
            </a:avLst>
          </a:prstGeom>
          <a:solidFill>
            <a:srgbClr val="FFFFFF"/>
          </a:solidFill>
          <a:ln w="9525">
            <a:solidFill>
              <a:srgbClr val="DDD6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95176" y="2955280"/>
            <a:ext cx="489038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选做二：翻翻课本目录</a:t>
            </a:r>
            <a:pPr algn="l" indent="0" marL="0">
              <a:lnSpc>
                <a:spcPts val="1958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——标出你最好奇的一节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981700" y="996553"/>
            <a:ext cx="2654201" cy="2343745"/>
          </a:xfrm>
          <a:prstGeom prst="roundRect">
            <a:avLst>
              <a:gd name="adj" fmla="val 4335"/>
            </a:avLst>
          </a:prstGeom>
          <a:solidFill>
            <a:srgbClr val="E3EDE6"/>
          </a:solidFill>
          <a:ln w="9525">
            <a:solidFill>
              <a:srgbClr val="B7CD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64873" y="1183779"/>
            <a:ext cx="268785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答疑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964873" y="1558379"/>
            <a:ext cx="26878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有问必答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964873" y="1853654"/>
            <a:ext cx="268785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联系方式：___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146128" y="2225129"/>
            <a:ext cx="2325344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40"/>
              </a:lnSpc>
              <a:spcBef>
                <a:spcPts val="1200"/>
              </a:spcBef>
              <a:spcAft>
                <a:spcPts val="1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问题不过夜，是学好化学最快的路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26671" y="3568898"/>
            <a:ext cx="82905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B4332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下节课见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07950" y="4876800"/>
            <a:ext cx="8127950" cy="12650"/>
          </a:xfrm>
          <a:prstGeom prst="rect">
            <a:avLst/>
          </a:prstGeom>
          <a:solidFill>
            <a:srgbClr val="DDE5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599831" y="4927550"/>
            <a:ext cx="10362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Times New Roman" pitchFamily="34" charset="0"/>
                <a:ea typeface="Microsoft YaHei" pitchFamily="34" charset="-122"/>
                <a:cs typeface="Microsoft YaHei" pitchFamily="34" charset="-120"/>
              </a:rPr>
              <a:t>25 / 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开学第一课</dc:title>
  <dc:subject>PptxGenJS Presentation</dc:subject>
  <dc:creator/>
  <cp:lastModifiedBy/>
  <cp:revision>1</cp:revision>
  <dcterms:created xsi:type="dcterms:W3CDTF">2026-08-25T07:20:07Z</dcterms:created>
  <dcterms:modified xsi:type="dcterms:W3CDTF">2026-08-25T07:20:07Z</dcterms:modified>
</cp:coreProperties>
</file>