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占位数据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类别一</c:v>
                  </c:pt>
                  <c:pt idx="1">
                    <c:v>类别二</c:v>
                  </c:pt>
                  <c:pt idx="2">
                    <c:v>类别三</c:v>
                  </c:pt>
                  <c:pt idx="3">
                    <c:v>类别四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4</c:v>
                </c:pt>
                <c:pt idx="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6B7280"/>
                    </a:solidFill>
                    <a:latin typeface="Arial"/>
                  </a:rPr>
                  <a:t>类别占位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6B7280"/>
                    </a:solidFill>
                    <a:latin typeface="Arial"/>
                  </a:rPr>
                  <a:t>数值占位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微软雅黑"/>
              </a:rPr>
              <a:t/>
            </a:r>
            <a:endParaRPr lang="en-US" dirty="0"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ea typeface="微软雅黑"/>
              </a:rPr>
              <a:t>1</a:t>
            </a:fld>
            <a:endParaRPr lang="en-US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微软雅黑"/>
              </a:rPr>
              <a:t/>
            </a:r>
            <a:endParaRPr lang="en-US" dirty="0"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ea typeface="微软雅黑"/>
              </a:rPr>
              <a:t>2</a:t>
            </a:fld>
            <a:endParaRPr lang="en-US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微软雅黑"/>
              </a:rPr>
              <a:t/>
            </a:r>
            <a:endParaRPr lang="en-US" dirty="0"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ea typeface="微软雅黑"/>
              </a:rPr>
              <a:t>3</a:t>
            </a:fld>
            <a:endParaRPr lang="en-US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微软雅黑"/>
              </a:rPr>
              <a:t/>
            </a:r>
            <a:endParaRPr lang="en-US" dirty="0"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ea typeface="微软雅黑"/>
              </a:rPr>
              <a:t>4</a:t>
            </a:fld>
            <a:endParaRPr lang="en-US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微软雅黑"/>
              </a:rPr>
              <a:t/>
            </a:r>
            <a:endParaRPr lang="en-US" dirty="0"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ea typeface="微软雅黑"/>
              </a:rPr>
              <a:t>5</a:t>
            </a:fld>
            <a:endParaRPr lang="en-US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微软雅黑"/>
              </a:rPr>
              <a:t/>
            </a:r>
            <a:endParaRPr lang="en-US" dirty="0"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ea typeface="微软雅黑"/>
              </a:rPr>
              <a:t>6</a:t>
            </a:fld>
            <a:endParaRPr lang="en-US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微软雅黑"/>
              </a:rPr>
              <a:t/>
            </a:r>
            <a:endParaRPr lang="en-US" dirty="0"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ea typeface="微软雅黑"/>
              </a:rPr>
              <a:t>7</a:t>
            </a:fld>
            <a:endParaRPr lang="en-US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微软雅黑"/>
              </a:rPr>
              <a:t/>
            </a:r>
            <a:endParaRPr lang="en-US" dirty="0"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ea typeface="微软雅黑"/>
              </a:rPr>
              <a:t>8</a:t>
            </a:fld>
            <a:endParaRPr lang="en-US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微软雅黑"/>
              </a:rPr>
              <a:t/>
            </a:r>
            <a:endParaRPr lang="en-US" dirty="0"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ea typeface="微软雅黑"/>
              </a:rPr>
              <a:t>9</a:t>
            </a:fld>
            <a:endParaRPr lang="en-US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微软雅黑"/>
              </a:rPr>
              <a:t/>
            </a:r>
            <a:endParaRPr lang="en-US" dirty="0"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ea typeface="微软雅黑"/>
              </a:rPr>
              <a:t>10</a:t>
            </a:fld>
            <a:endParaRPr lang="en-US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微软雅黑"/>
              </a:rPr>
              <a:t/>
            </a:r>
            <a:endParaRPr lang="en-US" dirty="0"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ea typeface="微软雅黑"/>
              </a:rPr>
              <a:t>11</a:t>
            </a:fld>
            <a:endParaRPr lang="en-US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微软雅黑"/>
              </a:rPr>
              <a:t/>
            </a:r>
            <a:endParaRPr lang="en-US" dirty="0"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ea typeface="微软雅黑"/>
              </a:rPr>
              <a:t>12</a:t>
            </a:fld>
            <a:endParaRPr lang="en-US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微软雅黑"/>
              </a:rPr>
              <a:t/>
            </a:r>
            <a:endParaRPr lang="en-US" dirty="0"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ea typeface="微软雅黑"/>
              </a:rPr>
              <a:t>13</a:t>
            </a:fld>
            <a:endParaRPr lang="en-US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微软雅黑"/>
              </a:rPr>
              <a:t/>
            </a:r>
            <a:endParaRPr lang="en-US" dirty="0"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ea typeface="微软雅黑"/>
              </a:rPr>
              <a:t>14</a:t>
            </a:fld>
            <a:endParaRPr lang="en-US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微软雅黑"/>
              </a:rPr>
              <a:t/>
            </a:r>
            <a:endParaRPr lang="en-US" dirty="0"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ea typeface="微软雅黑"/>
              </a:rPr>
              <a:t>15</a:t>
            </a:fld>
            <a:endParaRPr lang="en-US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微软雅黑"/>
              </a:rPr>
              <a:t/>
            </a:r>
            <a:endParaRPr lang="en-US" dirty="0"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ea typeface="微软雅黑"/>
              </a:rPr>
              <a:t>16</a:t>
            </a:fld>
            <a:endParaRPr lang="en-US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微软雅黑"/>
              </a:rPr>
              <a:t/>
            </a:r>
            <a:endParaRPr lang="en-US" dirty="0"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ea typeface="微软雅黑"/>
              </a:rPr>
              <a:t>17</a:t>
            </a:fld>
            <a:endParaRPr lang="en-US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微软雅黑"/>
              </a:rPr>
              <a:t/>
            </a:r>
            <a:endParaRPr lang="en-US" dirty="0"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ea typeface="微软雅黑"/>
              </a:rPr>
              <a:t>18</a:t>
            </a:fld>
            <a:endParaRPr lang="en-US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微软雅黑"/>
              </a:rPr>
              <a:t/>
            </a:r>
            <a:endParaRPr lang="en-US" dirty="0"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ea typeface="微软雅黑"/>
              </a:rPr>
              <a:t>19</a:t>
            </a:fld>
            <a:endParaRPr lang="en-US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微软雅黑"/>
              </a:rPr>
              <a:t/>
            </a:r>
            <a:endParaRPr lang="en-US" dirty="0"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ea typeface="微软雅黑"/>
              </a:rPr>
              <a:t>20</a:t>
            </a:fld>
            <a:endParaRPr lang="en-US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6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05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04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02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01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微软雅黑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>
          <a:ea typeface="微软雅黑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pn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png"/><Relationship Id="rId17" Type="http://schemas.openxmlformats.org/officeDocument/2006/relationships/image" Target="../media/image-18-17.png"/><Relationship Id="rId18" Type="http://schemas.openxmlformats.org/officeDocument/2006/relationships/image" Target="../media/image-18-18.png"/><Relationship Id="rId19" Type="http://schemas.openxmlformats.org/officeDocument/2006/relationships/image" Target="../media/image-18-19.png"/><Relationship Id="rId20" Type="http://schemas.openxmlformats.org/officeDocument/2006/relationships/image" Target="../media/image-18-20.png"/><Relationship Id="rId21" Type="http://schemas.openxmlformats.org/officeDocument/2006/relationships/image" Target="../media/image-18-21.png"/><Relationship Id="rId22" Type="http://schemas.openxmlformats.org/officeDocument/2006/relationships/image" Target="../media/image-18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9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EDEDED"/>
                </a:solidFill>
                <a:latin typeface="Arial"/>
                <a:ea typeface="微软雅黑"/>
              </a:rPr>
              <a:t>1 / 20</a:t>
            </a:r>
          </a:p>
        </p:txBody>
      </p:sp>
      <p:sp>
        <p:nvSpPr>
          <p:cNvPr id="10008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07" name="SkinProgress"/>
          <p:cNvSpPr/>
          <p:nvPr/>
        </p:nvSpPr>
        <p:spPr>
          <a:xfrm>
            <a:off x="100584" y="4886325"/>
            <a:ext cx="41148" cy="257175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7950" y="1015901"/>
            <a:ext cx="965150" cy="301526"/>
          </a:xfrm>
          <a:prstGeom prst="roundRect">
            <a:avLst>
              <a:gd name="adj" fmla="val 12636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651" y="1066651"/>
            <a:ext cx="6217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AF7F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高中化学</a:t>
            </a:r>
            <a:endParaRPr lang="en-US" sz="1200" dirty="0">
              <a:ea typeface="微软雅黑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7950" y="1546027"/>
            <a:ext cx="557016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buNone/>
            </a:pPr>
            <a:r>
              <a:rPr lang="en-US" sz="4600" b="1" dirty="0">
                <a:solidFill>
                  <a:srgbClr val="FAF7F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课题名称占位</a:t>
            </a:r>
            <a:endParaRPr lang="en-US" sz="4600" dirty="0">
              <a:ea typeface="微软雅黑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7950" y="2495252"/>
            <a:ext cx="711101" cy="507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7950" y="2749153"/>
            <a:ext cx="55701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buNone/>
            </a:pPr>
            <a:r>
              <a:rPr lang="en-US" sz="1700" dirty="0">
                <a:solidFill>
                  <a:srgbClr val="FAF7F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章节 / 课时信息占位</a:t>
            </a:r>
            <a:endParaRPr lang="en-US" sz="1700" dirty="0">
              <a:ea typeface="微软雅黑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7950" y="3771454"/>
            <a:ext cx="55701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800"/>
              </a:spcBef>
              <a:buNone/>
            </a:pPr>
            <a:r>
              <a:rPr lang="en-US" sz="1150" dirty="0">
                <a:solidFill>
                  <a:srgbClr val="FAF7F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授课教师：XXX　　日期：20XX-XX-XX</a:t>
            </a:r>
            <a:endParaRPr lang="en-US" sz="1150" dirty="0">
              <a:ea typeface="微软雅黑"/>
            </a:endParaRPr>
          </a:p>
        </p:txBody>
      </p:sp>
      <p:pic>
        <p:nvPicPr>
          <p:cNvPr id="9" name="Image 0" descr="C:/Obsidion/妙妙屋/09-AI工作区/pptx-化学模板/icons/cell-C-9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5101" y="2819400"/>
            <a:ext cx="1752600" cy="1752600"/>
          </a:xfrm>
          <a:prstGeom prst="rect">
            <a:avLst/>
          </a:prstGeom>
        </p:spPr>
      </p:pic>
      <p:pic>
        <p:nvPicPr>
          <p:cNvPr id="10" name="Image 1" descr="C:/Obsidion/妙妙屋/09-AI工作区/pptx-化学模板/icons/cell-Na-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102" y="2920901"/>
            <a:ext cx="1676400" cy="1676400"/>
          </a:xfrm>
          <a:prstGeom prst="rect">
            <a:avLst/>
          </a:prstGeom>
        </p:spPr>
      </p:pic>
      <p:pic>
        <p:nvPicPr>
          <p:cNvPr id="11" name="Image 2" descr="C:/Obsidion/妙妙屋/09-AI工作区/pptx-化学模板/icons/cell-H-1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301" y="1181100"/>
            <a:ext cx="1981200" cy="1981200"/>
          </a:xfrm>
          <a:prstGeom prst="rect">
            <a:avLst/>
          </a:prstGeom>
        </p:spPr>
      </p:pic>
      <p:pic>
        <p:nvPicPr>
          <p:cNvPr id="12" name="Image 3" descr="C:/Obsidion/妙妙屋/09-AI工作区/pptx-化学模板/icons/cell-O-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301" y="368201"/>
            <a:ext cx="1828800" cy="18288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0" y="5080099"/>
            <a:ext cx="9144000" cy="63401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4" name="Text 8"/>
          <p:cNvSpPr/>
          <p:nvPr/>
        </p:nvSpPr>
        <p:spPr>
          <a:xfrm>
            <a:off x="7599831" y="48513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FAF7F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1 / 20</a:t>
            </a:r>
            <a:endParaRPr lang="en-US" sz="1000" dirty="0">
              <a:ea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2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2 / 20</a:t>
            </a:r>
          </a:p>
        </p:txBody>
      </p:sp>
      <p:sp>
        <p:nvSpPr>
          <p:cNvPr id="10011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10" name="SkinProgress"/>
          <p:cNvSpPr/>
          <p:nvPr/>
        </p:nvSpPr>
        <p:spPr>
          <a:xfrm>
            <a:off x="100584" y="4629150"/>
            <a:ext cx="41148" cy="51435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4838700"/>
            <a:ext cx="101501" cy="3048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pic>
        <p:nvPicPr>
          <p:cNvPr id="4" name="Image 0" descr="C:/Obsidion/妙妙屋/09-AI工作区/pptx-化学模板/icons/hex-corn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BookOpen-1B43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使用说明</a:t>
            </a:r>
            <a:endParaRPr lang="en-US" sz="1000" dirty="0">
              <a:ea typeface="微软雅黑"/>
            </a:endParaRPr>
          </a:p>
        </p:txBody>
      </p:sp>
      <p:sp>
        <p:nvSpPr>
          <p:cNvPr id="8" name="Text 4"/>
          <p:cNvSpPr/>
          <p:nvPr/>
        </p:nvSpPr>
        <p:spPr>
          <a:xfrm>
            <a:off x="1650653" y="200025"/>
            <a:ext cx="20205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模板使用说明</a:t>
            </a:r>
            <a:endParaRPr lang="en-US" sz="2600" dirty="0">
              <a:ea typeface="微软雅黑"/>
            </a:endParaRPr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07950" y="895052"/>
            <a:ext cx="829050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语义色板（60-30-10：米白底 / 墨绿结构 / 橙黄点缀）</a:t>
            </a:r>
            <a:endParaRPr lang="en-US" sz="1400" dirty="0">
              <a:ea typeface="微软雅黑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07950" y="1234678"/>
            <a:ext cx="1117550" cy="507950"/>
          </a:xfrm>
          <a:prstGeom prst="roundRect">
            <a:avLst>
              <a:gd name="adj" fmla="val 12501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07950" y="1793379"/>
            <a:ext cx="12693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主色墨绿</a:t>
            </a:r>
            <a:endParaRPr lang="en-US" sz="1100" dirty="0">
              <a:ea typeface="微软雅黑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07950" y="1983879"/>
            <a:ext cx="12693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#1B4332</a:t>
            </a:r>
            <a:endParaRPr lang="en-US" sz="1000" dirty="0">
              <a:ea typeface="微软雅黑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752451" y="1234678"/>
            <a:ext cx="1117550" cy="507950"/>
          </a:xfrm>
          <a:prstGeom prst="roundRect">
            <a:avLst>
              <a:gd name="adj" fmla="val 12501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1752451" y="1793379"/>
            <a:ext cx="12693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中绿辅助</a:t>
            </a:r>
            <a:endParaRPr lang="en-US" sz="1100" dirty="0">
              <a:ea typeface="微软雅黑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752451" y="1983879"/>
            <a:ext cx="12693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#2D6A4F</a:t>
            </a:r>
            <a:endParaRPr lang="en-US" sz="1000" dirty="0">
              <a:ea typeface="微软雅黑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2996952" y="1234678"/>
            <a:ext cx="1117550" cy="507950"/>
          </a:xfrm>
          <a:prstGeom prst="roundRect">
            <a:avLst>
              <a:gd name="adj" fmla="val 12501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2996952" y="1793379"/>
            <a:ext cx="12693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橙黄强调</a:t>
            </a:r>
            <a:endParaRPr lang="en-US" sz="1100" dirty="0">
              <a:ea typeface="微软雅黑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2996952" y="1983879"/>
            <a:ext cx="12693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#E8A33D</a:t>
            </a:r>
            <a:endParaRPr lang="en-US" sz="1000" dirty="0">
              <a:ea typeface="微软雅黑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4241453" y="1234678"/>
            <a:ext cx="1117550" cy="507950"/>
          </a:xfrm>
          <a:prstGeom prst="roundRect">
            <a:avLst>
              <a:gd name="adj" fmla="val 12501"/>
            </a:avLst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4241453" y="1793379"/>
            <a:ext cx="12693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深橙文字</a:t>
            </a:r>
            <a:endParaRPr lang="en-US" sz="1100" dirty="0">
              <a:ea typeface="微软雅黑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4241453" y="1983879"/>
            <a:ext cx="12693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#B45309</a:t>
            </a:r>
            <a:endParaRPr lang="en-US" sz="1000" dirty="0">
              <a:ea typeface="微软雅黑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5485954" y="1234678"/>
            <a:ext cx="1117550" cy="507950"/>
          </a:xfrm>
          <a:prstGeom prst="roundRect">
            <a:avLst>
              <a:gd name="adj" fmla="val 12501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5485954" y="1793379"/>
            <a:ext cx="12693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砖红警示</a:t>
            </a:r>
            <a:endParaRPr lang="en-US" sz="1100" dirty="0">
              <a:ea typeface="微软雅黑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5485954" y="1983879"/>
            <a:ext cx="12693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#C0392B</a:t>
            </a:r>
            <a:endParaRPr lang="en-US" sz="1000" dirty="0">
              <a:ea typeface="微软雅黑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6730454" y="1234678"/>
            <a:ext cx="1136600" cy="527000"/>
          </a:xfrm>
          <a:prstGeom prst="roundRect">
            <a:avLst>
              <a:gd name="adj" fmla="val 12049"/>
            </a:avLst>
          </a:prstGeom>
          <a:solidFill>
            <a:srgbClr val="FAF7F0"/>
          </a:solidFill>
          <a:ln w="9525">
            <a:solidFill>
              <a:srgbClr val="D9D2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6730454" y="1812429"/>
            <a:ext cx="12693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米白底色</a:t>
            </a:r>
            <a:endParaRPr lang="en-US" sz="1100" dirty="0">
              <a:ea typeface="微软雅黑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6730454" y="2002929"/>
            <a:ext cx="12693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#FAF7F0</a:t>
            </a:r>
            <a:endParaRPr lang="en-US" sz="1000" dirty="0">
              <a:ea typeface="微软雅黑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507950" y="2368004"/>
            <a:ext cx="42748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字号层级</a:t>
            </a:r>
            <a:endParaRPr lang="en-US" sz="1400" dirty="0">
              <a:ea typeface="微软雅黑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507950" y="2682329"/>
            <a:ext cx="42748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页标题 26pt</a:t>
            </a:r>
            <a:endParaRPr lang="en-US" sz="2600" dirty="0">
              <a:ea typeface="微软雅黑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507950" y="3196679"/>
            <a:ext cx="427482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正文 16-18pt，每页要点不超过 5 条</a:t>
            </a:r>
            <a:endParaRPr lang="en-US" sz="1600" dirty="0">
              <a:ea typeface="微软雅黑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507950" y="3549104"/>
            <a:ext cx="42748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注释 / 页脚 11-12pt（说明性正文不低于 14pt）</a:t>
            </a:r>
            <a:endParaRPr lang="en-US" sz="1150" dirty="0">
              <a:ea typeface="微软雅黑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4952851" y="2368004"/>
            <a:ext cx="375655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图标使用</a:t>
            </a:r>
            <a:endParaRPr lang="en-US" sz="1400" dirty="0">
              <a:ea typeface="微软雅黑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4952851" y="2707630"/>
            <a:ext cx="36270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功能标签 = 图标 + 文字（2px 线宽）</a:t>
            </a:r>
            <a:endParaRPr lang="en-US" sz="1400" dirty="0">
              <a:ea typeface="微软雅黑"/>
            </a:endParaRPr>
          </a:p>
        </p:txBody>
      </p:sp>
      <p:pic>
        <p:nvPicPr>
          <p:cNvPr id="36" name="Image 2" descr="C:/Obsidion/妙妙屋/09-AI工作区/pptx-化学模板/icons/LuLightbulb-B453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851" y="3090118"/>
            <a:ext cx="203150" cy="20315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257502" y="3072705"/>
            <a:ext cx="5440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提示</a:t>
            </a:r>
            <a:endParaRPr lang="en-US" sz="1400" dirty="0">
              <a:ea typeface="微软雅黑"/>
            </a:endParaRPr>
          </a:p>
        </p:txBody>
      </p:sp>
      <p:pic>
        <p:nvPicPr>
          <p:cNvPr id="38" name="Image 3" descr="C:/Obsidion/妙妙屋/09-AI工作区/pptx-化学模板/icons/LuTriangleAlert-C039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6453" y="3090118"/>
            <a:ext cx="203150" cy="20315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451104" y="3072705"/>
            <a:ext cx="12953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警示专用砖红</a:t>
            </a:r>
            <a:endParaRPr lang="en-US" sz="1400" dirty="0">
              <a:ea typeface="微软雅黑"/>
            </a:endParaRPr>
          </a:p>
        </p:txBody>
      </p:sp>
      <p:sp>
        <p:nvSpPr>
          <p:cNvPr id="40" name="Text 34"/>
          <p:cNvSpPr/>
          <p:nvPr/>
        </p:nvSpPr>
        <p:spPr>
          <a:xfrm>
            <a:off x="4952851" y="3437781"/>
            <a:ext cx="37565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正确 = 主绿；警示 = 砖红；全片禁用蓝色</a:t>
            </a:r>
            <a:endParaRPr lang="en-US" sz="1150" dirty="0">
              <a:ea typeface="微软雅黑"/>
            </a:endParaRPr>
          </a:p>
        </p:txBody>
      </p:sp>
      <p:sp>
        <p:nvSpPr>
          <p:cNvPr id="41" name="Text 35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42" name="Text 36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2 / 20</a:t>
            </a:r>
            <a:endParaRPr lang="en-US" sz="1000" dirty="0">
              <a:ea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5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3 / 20</a:t>
            </a:r>
          </a:p>
        </p:txBody>
      </p:sp>
      <p:sp>
        <p:nvSpPr>
          <p:cNvPr id="10014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13" name="SkinProgress"/>
          <p:cNvSpPr/>
          <p:nvPr/>
        </p:nvSpPr>
        <p:spPr>
          <a:xfrm>
            <a:off x="100584" y="4371975"/>
            <a:ext cx="41148" cy="771525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4559201"/>
            <a:ext cx="101501" cy="5841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pic>
        <p:nvPicPr>
          <p:cNvPr id="4" name="Image 0" descr="C:/Obsidion/妙妙屋/09-AI工作区/pptx-化学模板/icons/hex-corn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List-1B43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888653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72517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CONTENTS</a:t>
            </a:r>
            <a:endParaRPr lang="en-US" sz="1000" dirty="0">
              <a:ea typeface="微软雅黑"/>
            </a:endParaRPr>
          </a:p>
        </p:txBody>
      </p:sp>
      <p:sp>
        <p:nvSpPr>
          <p:cNvPr id="8" name="Text 4"/>
          <p:cNvSpPr/>
          <p:nvPr/>
        </p:nvSpPr>
        <p:spPr>
          <a:xfrm>
            <a:off x="1853654" y="200025"/>
            <a:ext cx="67355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目录</a:t>
            </a:r>
            <a:endParaRPr lang="en-US" sz="2600" dirty="0">
              <a:ea typeface="微软雅黑"/>
            </a:endParaRPr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07950" y="1022003"/>
            <a:ext cx="482501" cy="482501"/>
          </a:xfrm>
          <a:prstGeom prst="roundRect">
            <a:avLst>
              <a:gd name="adj" fmla="val 13161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31627" y="1139428"/>
            <a:ext cx="239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01</a:t>
            </a:r>
            <a:endParaRPr lang="en-US" sz="1500" dirty="0">
              <a:ea typeface="微软雅黑"/>
            </a:endParaRPr>
          </a:p>
        </p:txBody>
      </p:sp>
      <p:pic>
        <p:nvPicPr>
          <p:cNvPr id="13" name="Image 2" descr="C:/Obsidion/妙妙屋/09-AI工作区/pptx-化学模板/icons/LuBookOpen-1B43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602" y="1161752"/>
            <a:ext cx="203150" cy="2031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23702" y="1010841"/>
            <a:ext cx="312778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章节名称占位一</a:t>
            </a:r>
            <a:endParaRPr lang="en-US" sz="1600" dirty="0">
              <a:ea typeface="微软雅黑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1523702" y="1325166"/>
            <a:ext cx="31277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本章节内容简介占位文字，一句话概括学习要点</a:t>
            </a:r>
            <a:endParaRPr lang="en-US" sz="1150" dirty="0">
              <a:ea typeface="微软雅黑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507950" y="1631603"/>
            <a:ext cx="8127950" cy="12650"/>
          </a:xfrm>
          <a:prstGeom prst="rect">
            <a:avLst/>
          </a:prstGeom>
          <a:solidFill>
            <a:srgbClr val="E0D9C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507950" y="1771204"/>
            <a:ext cx="482501" cy="482501"/>
          </a:xfrm>
          <a:prstGeom prst="roundRect">
            <a:avLst>
              <a:gd name="adj" fmla="val 13161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31627" y="1888629"/>
            <a:ext cx="239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02</a:t>
            </a:r>
            <a:endParaRPr lang="en-US" sz="1500" dirty="0">
              <a:ea typeface="微软雅黑"/>
            </a:endParaRPr>
          </a:p>
        </p:txBody>
      </p:sp>
      <p:pic>
        <p:nvPicPr>
          <p:cNvPr id="19" name="Image 3" descr="C:/Obsidion/妙妙屋/09-AI工作区/pptx-化学模板/icons/LuAtom-1B43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602" y="1910953"/>
            <a:ext cx="203150" cy="2031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23702" y="1760041"/>
            <a:ext cx="312778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章节名称占位二</a:t>
            </a:r>
            <a:endParaRPr lang="en-US" sz="1600" dirty="0">
              <a:ea typeface="微软雅黑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1523702" y="2074366"/>
            <a:ext cx="31277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本章节内容简介占位文字，一句话概括学习要点</a:t>
            </a:r>
            <a:endParaRPr lang="en-US" sz="1150" dirty="0">
              <a:ea typeface="微软雅黑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507950" y="2380804"/>
            <a:ext cx="8127950" cy="12650"/>
          </a:xfrm>
          <a:prstGeom prst="rect">
            <a:avLst/>
          </a:prstGeom>
          <a:solidFill>
            <a:srgbClr val="E0D9C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507950" y="2520404"/>
            <a:ext cx="482501" cy="482501"/>
          </a:xfrm>
          <a:prstGeom prst="roundRect">
            <a:avLst>
              <a:gd name="adj" fmla="val 13161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631627" y="2637830"/>
            <a:ext cx="239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03</a:t>
            </a:r>
            <a:endParaRPr lang="en-US" sz="1500" dirty="0">
              <a:ea typeface="微软雅黑"/>
            </a:endParaRPr>
          </a:p>
        </p:txBody>
      </p:sp>
      <p:pic>
        <p:nvPicPr>
          <p:cNvPr id="25" name="Image 4" descr="C:/Obsidion/妙妙屋/09-AI工作区/pptx-化学模板/icons/LuFlaskConical-1B43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602" y="2660154"/>
            <a:ext cx="203150" cy="20315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23702" y="2509242"/>
            <a:ext cx="312778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章节名称占位三</a:t>
            </a:r>
            <a:endParaRPr lang="en-US" sz="1600" dirty="0">
              <a:ea typeface="微软雅黑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1523702" y="2823567"/>
            <a:ext cx="31277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本章节内容简介占位文字，一句话概括学习要点</a:t>
            </a:r>
            <a:endParaRPr lang="en-US" sz="1150" dirty="0">
              <a:ea typeface="微软雅黑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507950" y="3130004"/>
            <a:ext cx="8127950" cy="12650"/>
          </a:xfrm>
          <a:prstGeom prst="rect">
            <a:avLst/>
          </a:prstGeom>
          <a:solidFill>
            <a:srgbClr val="E0D9C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507950" y="3269605"/>
            <a:ext cx="482501" cy="482501"/>
          </a:xfrm>
          <a:prstGeom prst="roundRect">
            <a:avLst>
              <a:gd name="adj" fmla="val 13161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631627" y="3387030"/>
            <a:ext cx="239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04</a:t>
            </a:r>
            <a:endParaRPr lang="en-US" sz="1500" dirty="0">
              <a:ea typeface="微软雅黑"/>
            </a:endParaRPr>
          </a:p>
        </p:txBody>
      </p:sp>
      <p:pic>
        <p:nvPicPr>
          <p:cNvPr id="31" name="Image 5" descr="C:/Obsidion/妙妙屋/09-AI工作区/pptx-化学模板/icons/LuChartColumn-1B43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3602" y="3409355"/>
            <a:ext cx="203150" cy="20315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523702" y="3258443"/>
            <a:ext cx="312778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章节名称占位四</a:t>
            </a:r>
            <a:endParaRPr lang="en-US" sz="1600" dirty="0">
              <a:ea typeface="微软雅黑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1523702" y="3572768"/>
            <a:ext cx="31277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本章节内容简介占位文字，一句话概括学习要点</a:t>
            </a:r>
            <a:endParaRPr lang="en-US" sz="1150" dirty="0">
              <a:ea typeface="微软雅黑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3 / 20</a:t>
            </a:r>
            <a:endParaRPr lang="en-US" sz="1000" dirty="0">
              <a:ea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8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EDEDED"/>
                </a:solidFill>
                <a:latin typeface="Arial"/>
                <a:ea typeface="微软雅黑"/>
              </a:rPr>
              <a:t>4 / 20</a:t>
            </a:r>
          </a:p>
        </p:txBody>
      </p:sp>
      <p:sp>
        <p:nvSpPr>
          <p:cNvPr id="10017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16" name="SkinProgress"/>
          <p:cNvSpPr/>
          <p:nvPr/>
        </p:nvSpPr>
        <p:spPr>
          <a:xfrm>
            <a:off x="100584" y="4114800"/>
            <a:ext cx="41148" cy="10287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Text 0"/>
          <p:cNvSpPr/>
          <p:nvPr/>
        </p:nvSpPr>
        <p:spPr>
          <a:xfrm>
            <a:off x="457200" y="381000"/>
            <a:ext cx="239669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2D6A4F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01</a:t>
            </a:r>
            <a:endParaRPr lang="en-US" sz="15000" dirty="0">
              <a:ea typeface="微软雅黑"/>
            </a:endParaRPr>
          </a:p>
        </p:txBody>
      </p:sp>
      <p:sp>
        <p:nvSpPr>
          <p:cNvPr id="3" name="Text 1"/>
          <p:cNvSpPr/>
          <p:nvPr/>
        </p:nvSpPr>
        <p:spPr>
          <a:xfrm>
            <a:off x="558701" y="3124200"/>
            <a:ext cx="101117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SECTION 01</a:t>
            </a:r>
            <a:endParaRPr lang="en-US" sz="1300" dirty="0">
              <a:ea typeface="微软雅黑"/>
            </a:endParaRPr>
          </a:p>
        </p:txBody>
      </p:sp>
      <p:sp>
        <p:nvSpPr>
          <p:cNvPr id="4" name="Text 2"/>
          <p:cNvSpPr/>
          <p:nvPr/>
        </p:nvSpPr>
        <p:spPr>
          <a:xfrm>
            <a:off x="558701" y="3454301"/>
            <a:ext cx="558701" cy="507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5" name="Text 3"/>
          <p:cNvSpPr/>
          <p:nvPr/>
        </p:nvSpPr>
        <p:spPr>
          <a:xfrm>
            <a:off x="558701" y="3657600"/>
            <a:ext cx="264246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AF7F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章节标题占位</a:t>
            </a:r>
            <a:endParaRPr lang="en-US" sz="3400" dirty="0">
              <a:ea typeface="微软雅黑"/>
            </a:endParaRPr>
          </a:p>
        </p:txBody>
      </p:sp>
      <p:pic>
        <p:nvPicPr>
          <p:cNvPr id="6" name="Image 0" descr="C:/Obsidion/妙妙屋/09-AI工作区/pptx-化学模板/icons/cell-C-6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412950"/>
            <a:ext cx="1219200" cy="1219200"/>
          </a:xfrm>
          <a:prstGeom prst="rect">
            <a:avLst/>
          </a:prstGeom>
        </p:spPr>
      </p:pic>
      <p:pic>
        <p:nvPicPr>
          <p:cNvPr id="7" name="Image 1" descr="C:/Obsidion/妙妙屋/09-AI工作区/pptx-化学模板/icons/cell-H-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1117550"/>
            <a:ext cx="1600200" cy="1600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0" y="5080099"/>
            <a:ext cx="9144000" cy="63401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9" name="Text 5"/>
          <p:cNvSpPr/>
          <p:nvPr/>
        </p:nvSpPr>
        <p:spPr>
          <a:xfrm>
            <a:off x="7599831" y="48513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FAF7F0">
                    <a:alpha val="60000"/>
                  </a:srgbClr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4 / 20</a:t>
            </a:r>
            <a:endParaRPr lang="en-US" sz="1000" dirty="0">
              <a:ea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1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5 / 20</a:t>
            </a:r>
          </a:p>
        </p:txBody>
      </p:sp>
      <p:sp>
        <p:nvSpPr>
          <p:cNvPr id="10020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19" name="SkinProgress"/>
          <p:cNvSpPr/>
          <p:nvPr/>
        </p:nvSpPr>
        <p:spPr>
          <a:xfrm>
            <a:off x="100584" y="3857625"/>
            <a:ext cx="41148" cy="1285875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4292501"/>
            <a:ext cx="101501" cy="8508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pic>
        <p:nvPicPr>
          <p:cNvPr id="4" name="Image 0" descr="C:/Obsidion/妙妙屋/09-AI工作区/pptx-化学模板/icons/hex-corn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BookOpen-1B43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55870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3886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知识点</a:t>
            </a:r>
            <a:endParaRPr lang="en-US" sz="1000" dirty="0">
              <a:ea typeface="微软雅黑"/>
            </a:endParaRPr>
          </a:p>
        </p:txBody>
      </p:sp>
      <p:sp>
        <p:nvSpPr>
          <p:cNvPr id="8" name="Text 4"/>
          <p:cNvSpPr/>
          <p:nvPr/>
        </p:nvSpPr>
        <p:spPr>
          <a:xfrm>
            <a:off x="1523702" y="200025"/>
            <a:ext cx="168381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页标题占位</a:t>
            </a:r>
            <a:endParaRPr lang="en-US" sz="2600" dirty="0">
              <a:ea typeface="微软雅黑"/>
            </a:endParaRPr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07950" y="895052"/>
            <a:ext cx="3749725" cy="179784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64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要点占位一：</a:t>
            </a:r>
            <a:pPr algn="l" marL="127000" indent="-127000">
              <a:lnSpc>
                <a:spcPts val="264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B45309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关键词高亮</a:t>
            </a:r>
            <a:pPr algn="l" marL="127000" indent="-127000">
              <a:lnSpc>
                <a:spcPts val="264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示范写法</a:t>
            </a:r>
            <a:endParaRPr lang="en-US" sz="1600" dirty="0">
              <a:ea typeface="微软雅黑"/>
            </a:endParaRPr>
          </a:p>
          <a:p>
            <a:pPr algn="l" marL="127000" indent="-127000">
              <a:lnSpc>
                <a:spcPts val="264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要点占位二：性质规律与适用范围描述</a:t>
            </a:r>
            <a:endParaRPr lang="en-US" sz="1600" dirty="0">
              <a:ea typeface="微软雅黑"/>
            </a:endParaRPr>
          </a:p>
          <a:p>
            <a:pPr algn="l" marL="127000" indent="-127000">
              <a:lnSpc>
                <a:spcPts val="264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要点占位三：</a:t>
            </a:r>
            <a:pPr algn="l" marL="127000" indent="-127000">
              <a:lnSpc>
                <a:spcPts val="264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B45309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核心概念</a:t>
            </a:r>
            <a:pPr algn="l" marL="127000" indent="-127000">
              <a:lnSpc>
                <a:spcPts val="264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与实例说明</a:t>
            </a:r>
            <a:endParaRPr lang="en-US" sz="1600" dirty="0">
              <a:ea typeface="微软雅黑"/>
            </a:endParaRPr>
          </a:p>
          <a:p>
            <a:pPr algn="l" marL="127000" indent="-127000">
              <a:lnSpc>
                <a:spcPts val="264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要点占位四：易错提醒与小结归纳</a:t>
            </a:r>
            <a:endParaRPr lang="en-US" sz="1600" dirty="0">
              <a:ea typeface="微软雅黑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765625" y="895052"/>
            <a:ext cx="3870275" cy="2863751"/>
          </a:xfrm>
          <a:prstGeom prst="roundRect">
            <a:avLst>
              <a:gd name="adj" fmla="val 3548"/>
            </a:avLst>
          </a:prstGeom>
          <a:solidFill>
            <a:srgbClr val="E3EDE6"/>
          </a:solidFill>
          <a:ln w="9525">
            <a:solidFill>
              <a:srgbClr val="B7CD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016719" y="2207865"/>
            <a:ext cx="336793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图片/结构式占位</a:t>
            </a:r>
            <a:endParaRPr lang="en-US" sz="1400" dirty="0">
              <a:ea typeface="微软雅黑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5 / 20</a:t>
            </a:r>
            <a:endParaRPr lang="en-US" sz="1000" dirty="0">
              <a:ea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4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6 / 20</a:t>
            </a:r>
          </a:p>
        </p:txBody>
      </p:sp>
      <p:sp>
        <p:nvSpPr>
          <p:cNvPr id="10023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22" name="SkinProgress"/>
          <p:cNvSpPr/>
          <p:nvPr/>
        </p:nvSpPr>
        <p:spPr>
          <a:xfrm>
            <a:off x="100584" y="3600450"/>
            <a:ext cx="41148" cy="154305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4025801"/>
            <a:ext cx="101501" cy="11175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pic>
        <p:nvPicPr>
          <p:cNvPr id="4" name="Image 0" descr="C:/Obsidion/妙妙屋/09-AI工作区/pptx-化学模板/icons/hex-corn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BookOpen-1B43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55870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3886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知识点</a:t>
            </a:r>
            <a:endParaRPr lang="en-US" sz="1000" dirty="0">
              <a:ea typeface="微软雅黑"/>
            </a:endParaRPr>
          </a:p>
        </p:txBody>
      </p:sp>
      <p:sp>
        <p:nvSpPr>
          <p:cNvPr id="8" name="Text 4"/>
          <p:cNvSpPr/>
          <p:nvPr/>
        </p:nvSpPr>
        <p:spPr>
          <a:xfrm>
            <a:off x="1523702" y="200025"/>
            <a:ext cx="168381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页标题占位</a:t>
            </a:r>
            <a:endParaRPr lang="en-US" sz="2600" dirty="0">
              <a:ea typeface="微软雅黑"/>
            </a:endParaRPr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07950" y="895052"/>
            <a:ext cx="8127950" cy="1792188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48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B45309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要点一</a:t>
            </a:r>
            <a:pPr algn="l" marL="139700" indent="-139700">
              <a:lnSpc>
                <a:spcPts val="248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 占位描述文字，说明本页第一个核心内容</a:t>
            </a:r>
            <a:endParaRPr lang="en-US" sz="1600" dirty="0">
              <a:ea typeface="微软雅黑"/>
            </a:endParaRPr>
          </a:p>
          <a:p>
            <a:pPr algn="l" marL="139700" indent="-139700">
              <a:lnSpc>
                <a:spcPts val="248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B45309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要点二</a:t>
            </a:r>
            <a:pPr algn="l" marL="139700" indent="-139700">
              <a:lnSpc>
                <a:spcPts val="248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 占位描述文字，说明本页第二个核心内容</a:t>
            </a:r>
            <a:endParaRPr lang="en-US" sz="1600" dirty="0">
              <a:ea typeface="微软雅黑"/>
            </a:endParaRPr>
          </a:p>
          <a:p>
            <a:pPr algn="l" marL="139700" indent="-139700">
              <a:lnSpc>
                <a:spcPts val="248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B45309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要点三</a:t>
            </a:r>
            <a:pPr algn="l" marL="139700" indent="-139700">
              <a:lnSpc>
                <a:spcPts val="248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 占位描述文字，说明本页第三个核心内容</a:t>
            </a:r>
            <a:endParaRPr lang="en-US" sz="1600" dirty="0">
              <a:ea typeface="微软雅黑"/>
            </a:endParaRPr>
          </a:p>
          <a:p>
            <a:pPr algn="l" marL="139700" indent="-139700">
              <a:lnSpc>
                <a:spcPts val="248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B45309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要点四</a:t>
            </a:r>
            <a:pPr algn="l" marL="139700" indent="-139700">
              <a:lnSpc>
                <a:spcPts val="248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 占位描述文字，说明本页第四个核心内容</a:t>
            </a:r>
            <a:endParaRPr lang="en-US" sz="1600" dirty="0">
              <a:ea typeface="微软雅黑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07950" y="4270474"/>
            <a:ext cx="8185100" cy="466725"/>
          </a:xfrm>
          <a:prstGeom prst="roundRect">
            <a:avLst>
              <a:gd name="adj" fmla="val 8163"/>
            </a:avLst>
          </a:prstGeom>
          <a:solidFill>
            <a:srgbClr val="FBF0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36525" y="4270474"/>
            <a:ext cx="0" cy="466725"/>
          </a:xfrm>
          <a:prstGeom prst="line">
            <a:avLst/>
          </a:prstGeom>
          <a:noFill/>
          <a:ln w="57150">
            <a:solidFill>
              <a:srgbClr val="E8A33D"/>
            </a:solidFill>
            <a:prstDash val="solid"/>
          </a:ln>
        </p:spPr>
      </p:sp>
      <p:pic>
        <p:nvPicPr>
          <p:cNvPr id="14" name="Image 2" descr="C:/Obsidion/妙妙屋/09-AI工作区/pptx-化学模板/icons/LuLightbulb-B453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00" y="4408587"/>
            <a:ext cx="190500" cy="1905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9501" y="4384774"/>
            <a:ext cx="43511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课堂提示：</a:t>
            </a:r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占位文字，写一句需要学生特别注意的提醒</a:t>
            </a:r>
            <a:endParaRPr lang="en-US" sz="1400" dirty="0">
              <a:ea typeface="微软雅黑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6 / 20</a:t>
            </a:r>
            <a:endParaRPr lang="en-US" sz="1000" dirty="0">
              <a:ea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7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7 / 20</a:t>
            </a:r>
          </a:p>
        </p:txBody>
      </p:sp>
      <p:sp>
        <p:nvSpPr>
          <p:cNvPr id="10026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25" name="SkinProgress"/>
          <p:cNvSpPr/>
          <p:nvPr/>
        </p:nvSpPr>
        <p:spPr>
          <a:xfrm>
            <a:off x="100584" y="3343275"/>
            <a:ext cx="41148" cy="1800225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3759101"/>
            <a:ext cx="101501" cy="13842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pic>
        <p:nvPicPr>
          <p:cNvPr id="4" name="Image 0" descr="C:/Obsidion/妙妙屋/09-AI工作区/pptx-化学模板/icons/hex-corn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BookOpen-1B43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55870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3886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知识点</a:t>
            </a:r>
            <a:endParaRPr lang="en-US" sz="1000" dirty="0">
              <a:ea typeface="微软雅黑"/>
            </a:endParaRPr>
          </a:p>
        </p:txBody>
      </p:sp>
      <p:sp>
        <p:nvSpPr>
          <p:cNvPr id="8" name="Text 4"/>
          <p:cNvSpPr/>
          <p:nvPr/>
        </p:nvSpPr>
        <p:spPr>
          <a:xfrm>
            <a:off x="1523702" y="200025"/>
            <a:ext cx="168381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页标题占位</a:t>
            </a:r>
            <a:endParaRPr lang="en-US" sz="2600" dirty="0">
              <a:ea typeface="微软雅黑"/>
            </a:endParaRPr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07950" y="895052"/>
            <a:ext cx="25400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17475" y="904577"/>
            <a:ext cx="2521000" cy="431750"/>
          </a:xfrm>
          <a:prstGeom prst="roundRect">
            <a:avLst>
              <a:gd name="adj" fmla="val 14708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pic>
        <p:nvPicPr>
          <p:cNvPr id="13" name="Image 2" descr="C:/Obsidion/妙妙屋/09-AI工作区/pptx-化学模板/icons/LuBookOpen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426" y="1044178"/>
            <a:ext cx="152400" cy="152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35026" y="1006078"/>
            <a:ext cx="5246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概念一</a:t>
            </a:r>
            <a:endParaRPr lang="en-US" sz="1350" dirty="0">
              <a:ea typeface="微软雅黑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695176" y="1488728"/>
            <a:ext cx="22089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占位文字：该概念的定义要点与关键特征，控制在两行到三行。</a:t>
            </a:r>
            <a:endParaRPr lang="en-US" sz="1400" dirty="0">
              <a:ea typeface="微软雅黑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3301901" y="895052"/>
            <a:ext cx="25400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3311426" y="904577"/>
            <a:ext cx="2521000" cy="431750"/>
          </a:xfrm>
          <a:prstGeom prst="roundRect">
            <a:avLst>
              <a:gd name="adj" fmla="val 14708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pic>
        <p:nvPicPr>
          <p:cNvPr id="18" name="Image 3" descr="C:/Obsidion/妙妙屋/09-AI工作区/pptx-化学模板/icons/LuAtom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0376" y="1044178"/>
            <a:ext cx="152400" cy="1524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428976" y="1006078"/>
            <a:ext cx="5246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概念二</a:t>
            </a:r>
            <a:endParaRPr lang="en-US" sz="1350" dirty="0">
              <a:ea typeface="微软雅黑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3489127" y="1488728"/>
            <a:ext cx="22089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占位文字：该概念的定义要点与关键特征，控制在两行到三行。</a:t>
            </a:r>
            <a:endParaRPr lang="en-US" sz="1400" dirty="0">
              <a:ea typeface="微软雅黑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6095851" y="895052"/>
            <a:ext cx="25400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6105376" y="904577"/>
            <a:ext cx="2521000" cy="431750"/>
          </a:xfrm>
          <a:prstGeom prst="roundRect">
            <a:avLst>
              <a:gd name="adj" fmla="val 14708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pic>
        <p:nvPicPr>
          <p:cNvPr id="23" name="Image 4" descr="C:/Obsidion/妙妙屋/09-AI工作区/pptx-化学模板/icons/LuFlaskConical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4327" y="1044178"/>
            <a:ext cx="152400" cy="1524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22927" y="1006078"/>
            <a:ext cx="5246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概念三</a:t>
            </a:r>
            <a:endParaRPr lang="en-US" sz="1350" dirty="0">
              <a:ea typeface="微软雅黑"/>
            </a:endParaRPr>
          </a:p>
        </p:txBody>
      </p:sp>
      <p:sp>
        <p:nvSpPr>
          <p:cNvPr id="25" name="Text 18"/>
          <p:cNvSpPr/>
          <p:nvPr/>
        </p:nvSpPr>
        <p:spPr>
          <a:xfrm>
            <a:off x="6283077" y="1488728"/>
            <a:ext cx="22089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占位文字：该概念的定义要点与关键特征，控制在两行到三行。</a:t>
            </a:r>
            <a:endParaRPr lang="en-US" sz="1400" dirty="0">
              <a:ea typeface="微软雅黑"/>
            </a:endParaRPr>
          </a:p>
        </p:txBody>
      </p:sp>
      <p:sp>
        <p:nvSpPr>
          <p:cNvPr id="26" name="Text 19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7 / 20</a:t>
            </a:r>
            <a:endParaRPr lang="en-US" sz="1000" dirty="0">
              <a:ea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0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8 / 20</a:t>
            </a:r>
          </a:p>
        </p:txBody>
      </p:sp>
      <p:sp>
        <p:nvSpPr>
          <p:cNvPr id="10029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28" name="SkinProgress"/>
          <p:cNvSpPr/>
          <p:nvPr/>
        </p:nvSpPr>
        <p:spPr>
          <a:xfrm>
            <a:off x="100584" y="3086100"/>
            <a:ext cx="41148" cy="20574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3479750"/>
            <a:ext cx="101501" cy="1663601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pic>
        <p:nvPicPr>
          <p:cNvPr id="4" name="Image 0" descr="C:/Obsidion/妙妙屋/09-AI工作区/pptx-化学模板/icons/hex-corn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Search-1B43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微观探析</a:t>
            </a:r>
            <a:endParaRPr lang="en-US" sz="1000" dirty="0">
              <a:ea typeface="微软雅黑"/>
            </a:endParaRPr>
          </a:p>
        </p:txBody>
      </p:sp>
      <p:sp>
        <p:nvSpPr>
          <p:cNvPr id="8" name="Text 4"/>
          <p:cNvSpPr/>
          <p:nvPr/>
        </p:nvSpPr>
        <p:spPr>
          <a:xfrm>
            <a:off x="1650653" y="200025"/>
            <a:ext cx="168381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页标题占位</a:t>
            </a:r>
            <a:endParaRPr lang="en-US" sz="2600" dirty="0">
              <a:ea typeface="微软雅黑"/>
            </a:endParaRPr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07950" y="895052"/>
            <a:ext cx="5086648" cy="3016151"/>
          </a:xfrm>
          <a:prstGeom prst="roundRect">
            <a:avLst>
              <a:gd name="adj" fmla="val 3369"/>
            </a:avLst>
          </a:prstGeom>
          <a:solidFill>
            <a:srgbClr val="E3EDE6"/>
          </a:solidFill>
          <a:ln w="9525">
            <a:solidFill>
              <a:srgbClr val="B7CD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108174" y="2284065"/>
            <a:ext cx="38862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晶胞 / 分子模型图占位</a:t>
            </a:r>
            <a:endParaRPr lang="en-US" sz="1400" dirty="0">
              <a:ea typeface="微软雅黑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69875" y="1031528"/>
            <a:ext cx="4080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标注一</a:t>
            </a:r>
            <a:endParaRPr lang="en-US" sz="1050" dirty="0">
              <a:ea typeface="微软雅黑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120676" y="1115616"/>
            <a:ext cx="330101" cy="12650"/>
          </a:xfrm>
          <a:prstGeom prst="rect">
            <a:avLst/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651772" y="1115616"/>
            <a:ext cx="330101" cy="12650"/>
          </a:xfrm>
          <a:prstGeom prst="rect">
            <a:avLst/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5032623" y="1031528"/>
            <a:ext cx="4080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标注二</a:t>
            </a:r>
            <a:endParaRPr lang="en-US" sz="1050" dirty="0">
              <a:ea typeface="微软雅黑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69875" y="3593753"/>
            <a:ext cx="4080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标注三</a:t>
            </a:r>
            <a:endParaRPr lang="en-US" sz="1050" dirty="0">
              <a:ea typeface="微软雅黑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1120676" y="3677841"/>
            <a:ext cx="330101" cy="12650"/>
          </a:xfrm>
          <a:prstGeom prst="rect">
            <a:avLst/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4651772" y="3677841"/>
            <a:ext cx="330101" cy="12650"/>
          </a:xfrm>
          <a:prstGeom prst="rect">
            <a:avLst/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5032623" y="3593753"/>
            <a:ext cx="4080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标注四</a:t>
            </a:r>
            <a:endParaRPr lang="en-US" sz="1050" dirty="0">
              <a:ea typeface="微软雅黑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5899398" y="895052"/>
            <a:ext cx="2736503" cy="345877"/>
          </a:xfrm>
          <a:prstGeom prst="roundRect">
            <a:avLst>
              <a:gd name="adj" fmla="val 14687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7102525" y="958453"/>
            <a:ext cx="33685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AF7F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宏观</a:t>
            </a:r>
            <a:endParaRPr lang="en-US" sz="1300" dirty="0">
              <a:ea typeface="微软雅黑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5899398" y="1342430"/>
            <a:ext cx="2736503" cy="6096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宏观现象占位要点一</a:t>
            </a:r>
            <a:endParaRPr lang="en-US" sz="1400" dirty="0">
              <a:ea typeface="微软雅黑"/>
            </a:endParaRPr>
          </a:p>
          <a:p>
            <a:pPr algn="l" marL="114300" indent="-1143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宏观现象占位要点二</a:t>
            </a:r>
            <a:endParaRPr lang="en-US" sz="1400" dirty="0">
              <a:ea typeface="微软雅黑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5899398" y="2129730"/>
            <a:ext cx="2736503" cy="345877"/>
          </a:xfrm>
          <a:prstGeom prst="roundRect">
            <a:avLst>
              <a:gd name="adj" fmla="val 14687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7102525" y="2193131"/>
            <a:ext cx="33685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AF7F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微观</a:t>
            </a:r>
            <a:endParaRPr lang="en-US" sz="1300" dirty="0">
              <a:ea typeface="微软雅黑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5899398" y="2577108"/>
            <a:ext cx="2736503" cy="6096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微观解释占位要点一</a:t>
            </a:r>
            <a:endParaRPr lang="en-US" sz="1400" dirty="0">
              <a:ea typeface="微软雅黑"/>
            </a:endParaRPr>
          </a:p>
          <a:p>
            <a:pPr algn="l" marL="114300" indent="-1143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微观解释占位要点二</a:t>
            </a:r>
            <a:endParaRPr lang="en-US" sz="1400" dirty="0">
              <a:ea typeface="微软雅黑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8 / 20</a:t>
            </a:r>
            <a:endParaRPr lang="en-US" sz="1000" dirty="0">
              <a:ea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3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9 / 20</a:t>
            </a:r>
          </a:p>
        </p:txBody>
      </p:sp>
      <p:sp>
        <p:nvSpPr>
          <p:cNvPr id="10032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31" name="SkinProgress"/>
          <p:cNvSpPr/>
          <p:nvPr/>
        </p:nvSpPr>
        <p:spPr>
          <a:xfrm>
            <a:off x="100584" y="2828925"/>
            <a:ext cx="41148" cy="2314575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3213050"/>
            <a:ext cx="101501" cy="1930301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pic>
        <p:nvPicPr>
          <p:cNvPr id="4" name="Image 0" descr="C:/Obsidion/妙妙屋/09-AI工作区/pptx-化学模板/icons/hex-corn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Sigma-1B43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812602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6475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推导与计算</a:t>
            </a:r>
            <a:endParaRPr lang="en-US" sz="1000" dirty="0">
              <a:ea typeface="微软雅黑"/>
            </a:endParaRPr>
          </a:p>
        </p:txBody>
      </p:sp>
      <p:sp>
        <p:nvSpPr>
          <p:cNvPr id="8" name="Text 4"/>
          <p:cNvSpPr/>
          <p:nvPr/>
        </p:nvSpPr>
        <p:spPr>
          <a:xfrm>
            <a:off x="1777603" y="200025"/>
            <a:ext cx="168381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页标题占位</a:t>
            </a:r>
            <a:endParaRPr lang="en-US" sz="2600" dirty="0">
              <a:ea typeface="微软雅黑"/>
            </a:endParaRPr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73001" y="1225153"/>
            <a:ext cx="25301" cy="182880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07950" y="89505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34752" y="963216"/>
            <a:ext cx="10383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AF7F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1</a:t>
            </a:r>
            <a:endParaRPr lang="en-US" sz="1300" dirty="0">
              <a:ea typeface="微软雅黑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041202" y="895052"/>
            <a:ext cx="419087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已知条件</a:t>
            </a:r>
            <a:endParaRPr lang="en-US" sz="1500" dirty="0">
              <a:ea typeface="微软雅黑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041202" y="1180802"/>
            <a:ext cx="41908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占位：列出题目给出的已知量与单位，如 </a:t>
            </a:r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B45309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m = 5.3 g</a:t>
            </a:r>
            <a:endParaRPr lang="en-US" sz="1400" dirty="0">
              <a:ea typeface="微软雅黑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507950" y="160615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34752" y="1674316"/>
            <a:ext cx="10383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AF7F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2</a:t>
            </a:r>
            <a:endParaRPr lang="en-US" sz="1300" dirty="0">
              <a:ea typeface="微软雅黑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1041202" y="1606153"/>
            <a:ext cx="308209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公式</a:t>
            </a:r>
            <a:endParaRPr lang="en-US" sz="1500" dirty="0">
              <a:ea typeface="微软雅黑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1041202" y="1891903"/>
            <a:ext cx="308209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占位：写出所依据的公式或化学方程式</a:t>
            </a:r>
            <a:endParaRPr lang="en-US" sz="1400" dirty="0">
              <a:ea typeface="微软雅黑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507950" y="231725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634752" y="2385417"/>
            <a:ext cx="10383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AF7F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3</a:t>
            </a:r>
            <a:endParaRPr lang="en-US" sz="1300" dirty="0">
              <a:ea typeface="微软雅黑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1041202" y="2317254"/>
            <a:ext cx="764275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代入数据</a:t>
            </a:r>
            <a:endParaRPr lang="en-US" sz="1500" dirty="0">
              <a:ea typeface="微软雅黑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1041202" y="2603004"/>
            <a:ext cx="764275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占位：代入数据统一单位，如 </a:t>
            </a:r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B45309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n = 0.20 mol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，保留有效数字</a:t>
            </a:r>
            <a:endParaRPr lang="en-US" sz="1400" dirty="0">
              <a:ea typeface="微软雅黑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507950" y="302835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634752" y="3096518"/>
            <a:ext cx="10383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AF7F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4</a:t>
            </a:r>
            <a:endParaRPr lang="en-US" sz="1300" dirty="0">
              <a:ea typeface="微软雅黑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1041202" y="3028355"/>
            <a:ext cx="725413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答案</a:t>
            </a:r>
            <a:endParaRPr lang="en-US" sz="1500" dirty="0">
              <a:ea typeface="微软雅黑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1041202" y="3339405"/>
            <a:ext cx="7111901" cy="453926"/>
          </a:xfrm>
          <a:prstGeom prst="roundRect">
            <a:avLst>
              <a:gd name="adj" fmla="val 13989"/>
            </a:avLst>
          </a:prstGeom>
          <a:solidFill>
            <a:srgbClr val="FBF0DA"/>
          </a:solidFill>
          <a:ln w="19050">
            <a:solidFill>
              <a:srgbClr val="E8A3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1212652" y="3447306"/>
            <a:ext cx="69043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占位：计算结果与结论，如 </a:t>
            </a:r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B45309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w = 32%</a:t>
            </a:r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（保留两位有效数字）</a:t>
            </a:r>
            <a:endParaRPr lang="en-US" sz="1400" dirty="0">
              <a:ea typeface="微软雅黑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9 / 20</a:t>
            </a:r>
            <a:endParaRPr lang="en-US" sz="1000" dirty="0">
              <a:ea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6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10 / 20</a:t>
            </a:r>
          </a:p>
        </p:txBody>
      </p:sp>
      <p:sp>
        <p:nvSpPr>
          <p:cNvPr id="10035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34" name="SkinProgress"/>
          <p:cNvSpPr/>
          <p:nvPr/>
        </p:nvSpPr>
        <p:spPr>
          <a:xfrm>
            <a:off x="100584" y="2571750"/>
            <a:ext cx="41148" cy="257175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2946350"/>
            <a:ext cx="101501" cy="2197001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pic>
        <p:nvPicPr>
          <p:cNvPr id="4" name="Image 0" descr="C:/Obsidion/妙妙屋/09-AI工作区/pptx-化学模板/icons/hex-corn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PenLine-1B43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例题精讲</a:t>
            </a:r>
            <a:endParaRPr lang="en-US" sz="1000" dirty="0">
              <a:ea typeface="微软雅黑"/>
            </a:endParaRPr>
          </a:p>
        </p:txBody>
      </p:sp>
      <p:sp>
        <p:nvSpPr>
          <p:cNvPr id="8" name="Text 4"/>
          <p:cNvSpPr/>
          <p:nvPr/>
        </p:nvSpPr>
        <p:spPr>
          <a:xfrm>
            <a:off x="1650653" y="200025"/>
            <a:ext cx="20205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习题讲评占位</a:t>
            </a:r>
            <a:endParaRPr lang="en-US" sz="2600" dirty="0">
              <a:ea typeface="微软雅黑"/>
            </a:endParaRPr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07950" y="895052"/>
            <a:ext cx="8127950" cy="914400"/>
          </a:xfrm>
          <a:prstGeom prst="roundRect">
            <a:avLst>
              <a:gd name="adj" fmla="val 11111"/>
            </a:avLst>
          </a:prstGeom>
          <a:solidFill>
            <a:srgbClr val="FBF0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11101" y="1022003"/>
            <a:ext cx="78760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【例题】</a:t>
            </a:r>
            <a:pPr algn="l" indent="0" marL="0">
              <a:lnSpc>
                <a:spcPts val="21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题干内容占位：在此粘贴题目原文，可包含已知条件、问题描述与选项，约两行文字。</a:t>
            </a:r>
            <a:endParaRPr lang="en-US" sz="1400" dirty="0">
              <a:ea typeface="微软雅黑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07950" y="1936403"/>
            <a:ext cx="8127950" cy="2194620"/>
          </a:xfrm>
          <a:prstGeom prst="roundRect">
            <a:avLst>
              <a:gd name="adj" fmla="val 4630"/>
            </a:avLst>
          </a:prstGeom>
          <a:solidFill>
            <a:srgbClr val="E3ED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711101" y="2063353"/>
            <a:ext cx="7876083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【解析】</a:t>
            </a:r>
            <a:pPr algn="l" indent="0" marL="0">
              <a:lnSpc>
                <a:spcPts val="217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第一步：分析思路占位文字。</a:t>
            </a:r>
            <a:endParaRPr lang="en-US" sz="1400" dirty="0">
              <a:ea typeface="微软雅黑"/>
            </a:endParaRPr>
          </a:p>
          <a:p>
            <a:pPr algn="l" indent="0" marL="0">
              <a:lnSpc>
                <a:spcPts val="217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第二步：关键方程式或计算步骤占位。</a:t>
            </a:r>
            <a:endParaRPr lang="en-US" sz="1400" dirty="0">
              <a:ea typeface="微软雅黑"/>
            </a:endParaRPr>
          </a:p>
          <a:p>
            <a:pPr algn="l" indent="0" marL="0">
              <a:lnSpc>
                <a:spcPts val="217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第三步：得出结论与答案占位。</a:t>
            </a:r>
            <a:endParaRPr lang="en-US" sz="1400" dirty="0">
              <a:ea typeface="微软雅黑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07950" y="4257973"/>
            <a:ext cx="8166050" cy="479227"/>
          </a:xfrm>
          <a:prstGeom prst="roundRect">
            <a:avLst>
              <a:gd name="adj" fmla="val 15901"/>
            </a:avLst>
          </a:prstGeom>
          <a:solidFill>
            <a:srgbClr val="FBEAE8"/>
          </a:solidFill>
          <a:ln w="19050">
            <a:solidFill>
              <a:srgbClr val="C039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pic>
        <p:nvPicPr>
          <p:cNvPr id="16" name="Image 2" descr="C:/Obsidion/妙妙屋/09-AI工作区/pptx-化学模板/icons/LuTriangleAlert-C039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00" y="4402336"/>
            <a:ext cx="190500" cy="1905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71401" y="4378523"/>
            <a:ext cx="43511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易错警示：</a:t>
            </a:r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占位文字，写本题最常见的错误与规避方法</a:t>
            </a:r>
            <a:endParaRPr lang="en-US" sz="1400" dirty="0">
              <a:ea typeface="微软雅黑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10 / 20</a:t>
            </a:r>
            <a:endParaRPr lang="en-US" sz="1000" dirty="0">
              <a:ea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9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11 / 20</a:t>
            </a:r>
          </a:p>
        </p:txBody>
      </p:sp>
      <p:sp>
        <p:nvSpPr>
          <p:cNvPr id="10038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37" name="SkinProgress"/>
          <p:cNvSpPr/>
          <p:nvPr/>
        </p:nvSpPr>
        <p:spPr>
          <a:xfrm>
            <a:off x="100584" y="2314575"/>
            <a:ext cx="41148" cy="2828925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2679650"/>
            <a:ext cx="101501" cy="2463701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pic>
        <p:nvPicPr>
          <p:cNvPr id="4" name="Image 0" descr="C:/Obsidion/妙妙屋/09-AI工作区/pptx-化学模板/icons/hex-corn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FlaskConical-1B43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实验探究</a:t>
            </a:r>
            <a:endParaRPr lang="en-US" sz="1000" dirty="0">
              <a:ea typeface="微软雅黑"/>
            </a:endParaRPr>
          </a:p>
        </p:txBody>
      </p:sp>
      <p:sp>
        <p:nvSpPr>
          <p:cNvPr id="8" name="Text 4"/>
          <p:cNvSpPr/>
          <p:nvPr/>
        </p:nvSpPr>
        <p:spPr>
          <a:xfrm>
            <a:off x="1650653" y="200025"/>
            <a:ext cx="20205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实验名称占位</a:t>
            </a:r>
            <a:endParaRPr lang="en-US" sz="2600" dirty="0">
              <a:ea typeface="微软雅黑"/>
            </a:endParaRPr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07950" y="895052"/>
            <a:ext cx="3200400" cy="2457450"/>
          </a:xfrm>
          <a:prstGeom prst="roundRect">
            <a:avLst>
              <a:gd name="adj" fmla="val 4134"/>
            </a:avLst>
          </a:prstGeom>
          <a:solidFill>
            <a:srgbClr val="E3EDE6"/>
          </a:solidFill>
          <a:ln w="9525">
            <a:solidFill>
              <a:srgbClr val="B7CD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2" name="Text 8"/>
          <p:cNvSpPr/>
          <p:nvPr/>
        </p:nvSpPr>
        <p:spPr>
          <a:xfrm>
            <a:off x="812801" y="2004715"/>
            <a:ext cx="259069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实验装置图占位</a:t>
            </a:r>
            <a:endParaRPr lang="en-US" sz="1400" dirty="0">
              <a:ea typeface="微软雅黑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025426" y="136177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122015" y="1406128"/>
            <a:ext cx="878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AF7F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1</a:t>
            </a:r>
            <a:endParaRPr lang="en-US" sz="1100" dirty="0">
              <a:ea typeface="微软雅黑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2809875" y="255567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2906464" y="2600027"/>
            <a:ext cx="878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AF7F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2</a:t>
            </a:r>
            <a:endParaRPr lang="en-US" sz="1100" dirty="0">
              <a:ea typeface="微软雅黑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4013150" y="89505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118521" y="947440"/>
            <a:ext cx="959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F7F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1</a:t>
            </a:r>
            <a:endParaRPr lang="en-US" sz="1200" dirty="0">
              <a:ea typeface="微软雅黑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4444901" y="895052"/>
            <a:ext cx="4274820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步骤一：</a:t>
            </a:r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占位文字，与装置图中标号 1 呼应</a:t>
            </a:r>
            <a:endParaRPr lang="en-US" sz="1400" dirty="0">
              <a:ea typeface="微软雅黑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4013150" y="137755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4118521" y="1429941"/>
            <a:ext cx="959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F7F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2</a:t>
            </a:r>
            <a:endParaRPr lang="en-US" sz="1200" dirty="0">
              <a:ea typeface="微软雅黑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4444901" y="1377553"/>
            <a:ext cx="4274820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步骤二：</a:t>
            </a:r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占位文字，与装置图中标号 2 呼应</a:t>
            </a:r>
            <a:endParaRPr lang="en-US" sz="1400" dirty="0">
              <a:ea typeface="微软雅黑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4013150" y="186005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4118521" y="1912441"/>
            <a:ext cx="959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F7F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3</a:t>
            </a:r>
            <a:endParaRPr lang="en-US" sz="1200" dirty="0">
              <a:ea typeface="微软雅黑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4444901" y="1860054"/>
            <a:ext cx="4274820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步骤三：</a:t>
            </a:r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占位文字，观察并记录实验现象</a:t>
            </a:r>
            <a:endParaRPr lang="en-US" sz="1400" dirty="0">
              <a:ea typeface="微软雅黑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507950" y="3530203"/>
            <a:ext cx="8166050" cy="479227"/>
          </a:xfrm>
          <a:prstGeom prst="roundRect">
            <a:avLst>
              <a:gd name="adj" fmla="val 15901"/>
            </a:avLst>
          </a:prstGeom>
          <a:solidFill>
            <a:srgbClr val="FBEAE8"/>
          </a:solidFill>
          <a:ln w="19050">
            <a:solidFill>
              <a:srgbClr val="C039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pic>
        <p:nvPicPr>
          <p:cNvPr id="27" name="Image 2" descr="C:/Obsidion/妙妙屋/09-AI工作区/pptx-化学模板/icons/LuTriangleAlert-C039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00" y="3674566"/>
            <a:ext cx="190500" cy="1905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71401" y="3650754"/>
            <a:ext cx="39886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注意事项：</a:t>
            </a:r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占位文字，写实验安全与操作规范提醒</a:t>
            </a:r>
            <a:endParaRPr lang="en-US" sz="1400" dirty="0">
              <a:ea typeface="微软雅黑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11 / 20</a:t>
            </a:r>
            <a:endParaRPr lang="en-US" sz="1000" dirty="0">
              <a:ea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2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12 / 20</a:t>
            </a:r>
          </a:p>
        </p:txBody>
      </p:sp>
      <p:sp>
        <p:nvSpPr>
          <p:cNvPr id="10041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40" name="SkinProgress"/>
          <p:cNvSpPr/>
          <p:nvPr/>
        </p:nvSpPr>
        <p:spPr>
          <a:xfrm>
            <a:off x="100584" y="2057400"/>
            <a:ext cx="41148" cy="30861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2400300"/>
            <a:ext cx="101501" cy="27432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pic>
        <p:nvPicPr>
          <p:cNvPr id="4" name="Image 0" descr="C:/Obsidion/妙妙屋/09-AI工作区/pptx-化学模板/icons/hex-corn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TestTubes-1B43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现象记录</a:t>
            </a:r>
            <a:endParaRPr lang="en-US" sz="1000" dirty="0">
              <a:ea typeface="微软雅黑"/>
            </a:endParaRPr>
          </a:p>
        </p:txBody>
      </p:sp>
      <p:sp>
        <p:nvSpPr>
          <p:cNvPr id="8" name="Text 4"/>
          <p:cNvSpPr/>
          <p:nvPr/>
        </p:nvSpPr>
        <p:spPr>
          <a:xfrm>
            <a:off x="1650653" y="200025"/>
            <a:ext cx="269392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实验现象记录占位</a:t>
            </a:r>
            <a:endParaRPr lang="en-US" sz="2600" dirty="0">
              <a:ea typeface="微软雅黑"/>
            </a:endParaRPr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07950" y="895052"/>
            <a:ext cx="2288977" cy="444401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461939" y="993428"/>
            <a:ext cx="3886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FAF7F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操作</a:t>
            </a:r>
            <a:endParaRPr lang="en-US" sz="1500" dirty="0">
              <a:ea typeface="微软雅黑"/>
            </a:endParaRPr>
          </a:p>
        </p:txBody>
      </p:sp>
      <p:sp>
        <p:nvSpPr>
          <p:cNvPr id="13" name="Text 9"/>
          <p:cNvSpPr/>
          <p:nvPr/>
        </p:nvSpPr>
        <p:spPr>
          <a:xfrm>
            <a:off x="2796927" y="895052"/>
            <a:ext cx="2919561" cy="444401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066133" y="993428"/>
            <a:ext cx="3886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FAF7F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现象</a:t>
            </a:r>
            <a:endParaRPr lang="en-US" sz="1500" dirty="0">
              <a:ea typeface="微软雅黑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716488" y="895052"/>
            <a:ext cx="2919413" cy="444401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985695" y="993428"/>
            <a:ext cx="3886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FAF7F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结论</a:t>
            </a:r>
            <a:endParaRPr lang="en-US" sz="1500" dirty="0">
              <a:ea typeface="微软雅黑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507950" y="1339453"/>
            <a:ext cx="2288977" cy="53637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1030337" y="1488579"/>
            <a:ext cx="12690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操作步骤占位一</a:t>
            </a:r>
            <a:endParaRPr lang="en-US" sz="1400" dirty="0">
              <a:ea typeface="微软雅黑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2796927" y="1339453"/>
            <a:ext cx="2919561" cy="53637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3634532" y="1488579"/>
            <a:ext cx="12690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现象描述占位一</a:t>
            </a:r>
            <a:endParaRPr lang="en-US" sz="1400" dirty="0">
              <a:ea typeface="微软雅黑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5716488" y="1339453"/>
            <a:ext cx="2919413" cy="53637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6731794" y="1488579"/>
            <a:ext cx="9065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结论占位一</a:t>
            </a:r>
            <a:endParaRPr lang="en-US" sz="1400" dirty="0">
              <a:ea typeface="微软雅黑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507950" y="1875830"/>
            <a:ext cx="2288977" cy="53637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1030337" y="2024955"/>
            <a:ext cx="12690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操作步骤占位二</a:t>
            </a:r>
            <a:endParaRPr lang="en-US" sz="1400" dirty="0">
              <a:ea typeface="微软雅黑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2796927" y="1875830"/>
            <a:ext cx="2919561" cy="53637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3634532" y="2024955"/>
            <a:ext cx="12690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现象描述占位二</a:t>
            </a:r>
            <a:endParaRPr lang="en-US" sz="1400" dirty="0">
              <a:ea typeface="微软雅黑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5716488" y="1875830"/>
            <a:ext cx="2919413" cy="53637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6731794" y="2024955"/>
            <a:ext cx="9065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结论占位二</a:t>
            </a:r>
            <a:endParaRPr lang="en-US" sz="1400" dirty="0">
              <a:ea typeface="微软雅黑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507950" y="2412206"/>
            <a:ext cx="2288977" cy="53637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1030337" y="2561332"/>
            <a:ext cx="12690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操作步骤占位三</a:t>
            </a:r>
            <a:endParaRPr lang="en-US" sz="1400" dirty="0">
              <a:ea typeface="微软雅黑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2796927" y="2412206"/>
            <a:ext cx="2919561" cy="53637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3634532" y="2561332"/>
            <a:ext cx="12690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现象描述占位三</a:t>
            </a:r>
            <a:endParaRPr lang="en-US" sz="1400" dirty="0">
              <a:ea typeface="微软雅黑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5716488" y="2412206"/>
            <a:ext cx="2919413" cy="53637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6731794" y="2561332"/>
            <a:ext cx="9065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结论占位三</a:t>
            </a:r>
            <a:endParaRPr lang="en-US" sz="1400" dirty="0">
              <a:ea typeface="微软雅黑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507950" y="3151733"/>
            <a:ext cx="8185100" cy="466725"/>
          </a:xfrm>
          <a:prstGeom prst="roundRect">
            <a:avLst>
              <a:gd name="adj" fmla="val 8163"/>
            </a:avLst>
          </a:prstGeom>
          <a:solidFill>
            <a:srgbClr val="FBF0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6" name="Shape 32"/>
          <p:cNvSpPr/>
          <p:nvPr/>
        </p:nvSpPr>
        <p:spPr>
          <a:xfrm>
            <a:off x="536525" y="3151733"/>
            <a:ext cx="0" cy="466725"/>
          </a:xfrm>
          <a:prstGeom prst="line">
            <a:avLst/>
          </a:prstGeom>
          <a:noFill/>
          <a:ln w="57150">
            <a:solidFill>
              <a:srgbClr val="E8A33D"/>
            </a:solidFill>
            <a:prstDash val="solid"/>
          </a:ln>
        </p:spPr>
      </p:sp>
      <p:pic>
        <p:nvPicPr>
          <p:cNvPr id="37" name="Image 2" descr="C:/Obsidion/妙妙屋/09-AI工作区/pptx-化学模板/icons/LuLightbulb-B453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00" y="3289846"/>
            <a:ext cx="190500" cy="19050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1009501" y="3266033"/>
            <a:ext cx="39886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规律小结：</a:t>
            </a:r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占位文字，一句话归纳本组实验的规律</a:t>
            </a:r>
            <a:endParaRPr lang="en-US" sz="1400" dirty="0">
              <a:ea typeface="微软雅黑"/>
            </a:endParaRPr>
          </a:p>
        </p:txBody>
      </p:sp>
      <p:sp>
        <p:nvSpPr>
          <p:cNvPr id="39" name="Text 34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40" name="Text 35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12 / 20</a:t>
            </a:r>
            <a:endParaRPr lang="en-US" sz="1000" dirty="0">
              <a:ea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5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13 / 20</a:t>
            </a:r>
          </a:p>
        </p:txBody>
      </p:sp>
      <p:sp>
        <p:nvSpPr>
          <p:cNvPr id="10044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43" name="SkinProgress"/>
          <p:cNvSpPr/>
          <p:nvPr/>
        </p:nvSpPr>
        <p:spPr>
          <a:xfrm>
            <a:off x="100584" y="1800225"/>
            <a:ext cx="41148" cy="3343275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2133600"/>
            <a:ext cx="101501" cy="30099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pic>
        <p:nvPicPr>
          <p:cNvPr id="4" name="Image 0" descr="C:/Obsidion/妙妙屋/09-AI工作区/pptx-化学模板/icons/hex-corn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ChartColumn-1B43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数据图表</a:t>
            </a:r>
            <a:endParaRPr lang="en-US" sz="1000" dirty="0">
              <a:ea typeface="微软雅黑"/>
            </a:endParaRPr>
          </a:p>
        </p:txBody>
      </p:sp>
      <p:sp>
        <p:nvSpPr>
          <p:cNvPr id="8" name="Text 4"/>
          <p:cNvSpPr/>
          <p:nvPr/>
        </p:nvSpPr>
        <p:spPr>
          <a:xfrm>
            <a:off x="1650653" y="200025"/>
            <a:ext cx="168381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页标题占位</a:t>
            </a:r>
            <a:endParaRPr lang="en-US" sz="2600" dirty="0">
              <a:ea typeface="微软雅黑"/>
            </a:endParaRPr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892701" y="895052"/>
            <a:ext cx="2743200" cy="345877"/>
          </a:xfrm>
          <a:prstGeom prst="roundRect">
            <a:avLst>
              <a:gd name="adj" fmla="val 14687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099102" y="958453"/>
            <a:ext cx="33685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AF7F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结论</a:t>
            </a:r>
            <a:endParaRPr lang="en-US" sz="1300" dirty="0">
              <a:ea typeface="微软雅黑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892701" y="1367879"/>
            <a:ext cx="2743200" cy="1229469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7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结论要点占位一：一句话概括图表反映的规律</a:t>
            </a:r>
            <a:endParaRPr lang="en-US" sz="1400" dirty="0">
              <a:ea typeface="微软雅黑"/>
            </a:endParaRPr>
          </a:p>
          <a:p>
            <a:pPr algn="l" marL="114300" indent="-114300">
              <a:lnSpc>
                <a:spcPts val="217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结论要点占位二：单图单结论，避免信息过载</a:t>
            </a:r>
            <a:endParaRPr lang="en-US" sz="1400" dirty="0">
              <a:ea typeface="微软雅黑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13 / 20</a:t>
            </a:r>
            <a:endParaRPr lang="en-US" sz="1000" dirty="0">
              <a:ea typeface="微软雅黑"/>
            </a:endParaRPr>
          </a:p>
        </p:txBody>
      </p:sp>
      <p:graphicFrame>
        <p:nvGraphicFramePr>
          <p:cNvPr id="16" name="Chart 0" descr=""/>
          <p:cNvGraphicFramePr/>
          <p:nvPr/>
        </p:nvGraphicFramePr>
        <p:xfrm>
          <a:off x="507950" y="895052"/>
          <a:ext cx="5079950" cy="29971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8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14 / 20</a:t>
            </a:r>
          </a:p>
        </p:txBody>
      </p:sp>
      <p:sp>
        <p:nvSpPr>
          <p:cNvPr id="10047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46" name="SkinProgress"/>
          <p:cNvSpPr/>
          <p:nvPr/>
        </p:nvSpPr>
        <p:spPr>
          <a:xfrm>
            <a:off x="100584" y="1543050"/>
            <a:ext cx="41148" cy="360045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1866900"/>
            <a:ext cx="101501" cy="32766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pic>
        <p:nvPicPr>
          <p:cNvPr id="4" name="Image 0" descr="C:/Obsidion/妙妙屋/09-AI工作区/pptx-化学模板/icons/hex-corn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Network-1B43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知识框架</a:t>
            </a:r>
            <a:endParaRPr lang="en-US" sz="1000" dirty="0">
              <a:ea typeface="微软雅黑"/>
            </a:endParaRPr>
          </a:p>
        </p:txBody>
      </p:sp>
      <p:sp>
        <p:nvSpPr>
          <p:cNvPr id="8" name="Text 4"/>
          <p:cNvSpPr/>
          <p:nvPr/>
        </p:nvSpPr>
        <p:spPr>
          <a:xfrm>
            <a:off x="1650653" y="200025"/>
            <a:ext cx="168381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页标题占位</a:t>
            </a:r>
            <a:endParaRPr lang="en-US" sz="2600" dirty="0">
              <a:ea typeface="微软雅黑"/>
            </a:endParaRPr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1" name="Text 7"/>
          <p:cNvSpPr/>
          <p:nvPr/>
        </p:nvSpPr>
        <p:spPr>
          <a:xfrm>
            <a:off x="2285851" y="2469803"/>
            <a:ext cx="888950" cy="25301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174950" y="1377553"/>
            <a:ext cx="25301" cy="220980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174950" y="1364903"/>
            <a:ext cx="888950" cy="25301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3174950" y="2469803"/>
            <a:ext cx="888950" cy="25301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174950" y="3574703"/>
            <a:ext cx="888950" cy="25301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5714851" y="1364903"/>
            <a:ext cx="1396901" cy="25301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5714851" y="2469803"/>
            <a:ext cx="1396901" cy="25301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5714851" y="3574703"/>
            <a:ext cx="1396901" cy="25301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761851" y="2203103"/>
            <a:ext cx="1524000" cy="558701"/>
          </a:xfrm>
          <a:prstGeom prst="roundRect">
            <a:avLst>
              <a:gd name="adj" fmla="val 18185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1142851" y="2358628"/>
            <a:ext cx="7772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F7F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主题占位</a:t>
            </a:r>
            <a:endParaRPr lang="en-US" sz="1500" dirty="0">
              <a:ea typeface="微软雅黑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4063901" y="1148953"/>
            <a:ext cx="1689050" cy="495300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4463951" y="1277541"/>
            <a:ext cx="9065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分支一占位</a:t>
            </a:r>
            <a:endParaRPr lang="en-US" sz="1400" dirty="0">
              <a:ea typeface="微软雅黑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4063901" y="2253853"/>
            <a:ext cx="1689050" cy="495300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4463951" y="2382441"/>
            <a:ext cx="9065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分支二占位</a:t>
            </a:r>
            <a:endParaRPr lang="en-US" sz="1400" dirty="0">
              <a:ea typeface="微软雅黑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4063901" y="3358753"/>
            <a:ext cx="1689050" cy="495300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4463951" y="3487341"/>
            <a:ext cx="9065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分支三占位</a:t>
            </a:r>
            <a:endParaRPr lang="en-US" sz="1400" dirty="0">
              <a:ea typeface="微软雅黑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7111901" y="1174403"/>
            <a:ext cx="1524000" cy="406301"/>
          </a:xfrm>
          <a:prstGeom prst="roundRect">
            <a:avLst>
              <a:gd name="adj" fmla="val 18755"/>
            </a:avLst>
          </a:prstGeom>
          <a:solidFill>
            <a:srgbClr val="E3ED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7543651" y="1268016"/>
            <a:ext cx="67355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二级节点</a:t>
            </a:r>
            <a:endParaRPr lang="en-US" sz="1300" dirty="0">
              <a:ea typeface="微软雅黑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7111901" y="2279303"/>
            <a:ext cx="1524000" cy="406301"/>
          </a:xfrm>
          <a:prstGeom prst="roundRect">
            <a:avLst>
              <a:gd name="adj" fmla="val 18755"/>
            </a:avLst>
          </a:prstGeom>
          <a:solidFill>
            <a:srgbClr val="E3ED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7543651" y="2372916"/>
            <a:ext cx="67355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二级节点</a:t>
            </a:r>
            <a:endParaRPr lang="en-US" sz="1300" dirty="0">
              <a:ea typeface="微软雅黑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7111901" y="3384203"/>
            <a:ext cx="1524000" cy="406301"/>
          </a:xfrm>
          <a:prstGeom prst="roundRect">
            <a:avLst>
              <a:gd name="adj" fmla="val 18755"/>
            </a:avLst>
          </a:prstGeom>
          <a:solidFill>
            <a:srgbClr val="E3ED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7543651" y="3477816"/>
            <a:ext cx="67355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二级节点</a:t>
            </a:r>
            <a:endParaRPr lang="en-US" sz="1300" dirty="0">
              <a:ea typeface="微软雅黑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14 / 20</a:t>
            </a:r>
            <a:endParaRPr lang="en-US" sz="1000" dirty="0">
              <a:ea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1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15 / 20</a:t>
            </a:r>
          </a:p>
        </p:txBody>
      </p:sp>
      <p:sp>
        <p:nvSpPr>
          <p:cNvPr id="10050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49" name="SkinProgress"/>
          <p:cNvSpPr/>
          <p:nvPr/>
        </p:nvSpPr>
        <p:spPr>
          <a:xfrm>
            <a:off x="100584" y="1285875"/>
            <a:ext cx="41148" cy="3857625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1600200"/>
            <a:ext cx="101501" cy="35433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pic>
        <p:nvPicPr>
          <p:cNvPr id="4" name="Image 0" descr="C:/Obsidion/妙妙屋/09-AI工作区/pptx-化学模板/icons/hex-corn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Target-1B43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课堂练习</a:t>
            </a:r>
            <a:endParaRPr lang="en-US" sz="1000" dirty="0">
              <a:ea typeface="微软雅黑"/>
            </a:endParaRPr>
          </a:p>
        </p:txBody>
      </p:sp>
      <p:sp>
        <p:nvSpPr>
          <p:cNvPr id="8" name="Text 4"/>
          <p:cNvSpPr/>
          <p:nvPr/>
        </p:nvSpPr>
        <p:spPr>
          <a:xfrm>
            <a:off x="1650653" y="200025"/>
            <a:ext cx="168381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页标题占位</a:t>
            </a:r>
            <a:endParaRPr lang="en-US" sz="2600" dirty="0">
              <a:ea typeface="微软雅黑"/>
            </a:endParaRPr>
          </a:p>
        </p:txBody>
      </p:sp>
      <p:pic>
        <p:nvPicPr>
          <p:cNvPr id="9" name="Image 2" descr="C:/Obsidion/妙妙屋/09-AI工作区/pptx-化学模板/icons/LuTimer-1B43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304651"/>
            <a:ext cx="203150" cy="2031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670750" y="306139"/>
            <a:ext cx="9844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限时 3 分钟</a:t>
            </a:r>
            <a:endParaRPr lang="en-US" sz="1200" dirty="0">
              <a:ea typeface="微软雅黑"/>
            </a:endParaRPr>
          </a:p>
        </p:txBody>
      </p:sp>
      <p:sp>
        <p:nvSpPr>
          <p:cNvPr id="11" name="Text 6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2" name="Text 7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3" name="Text 8"/>
          <p:cNvSpPr/>
          <p:nvPr/>
        </p:nvSpPr>
        <p:spPr>
          <a:xfrm>
            <a:off x="685800" y="920502"/>
            <a:ext cx="7772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题干占位：在此书写课堂练习题干，控制在一到两行</a:t>
            </a:r>
            <a:endParaRPr lang="en-US" sz="1800" dirty="0">
              <a:ea typeface="微软雅黑"/>
            </a:endParaRPr>
          </a:p>
        </p:txBody>
      </p:sp>
      <p:sp>
        <p:nvSpPr>
          <p:cNvPr id="14" name="Text 9"/>
          <p:cNvSpPr/>
          <p:nvPr/>
        </p:nvSpPr>
        <p:spPr>
          <a:xfrm>
            <a:off x="507950" y="1469678"/>
            <a:ext cx="3911650" cy="730151"/>
          </a:xfrm>
          <a:prstGeom prst="roundRect">
            <a:avLst>
              <a:gd name="adj" fmla="val 10436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669875" y="1656904"/>
            <a:ext cx="355550" cy="355550"/>
          </a:xfrm>
          <a:prstGeom prst="roundRect">
            <a:avLst>
              <a:gd name="adj" fmla="val 14288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780752" y="1715542"/>
            <a:ext cx="1364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A</a:t>
            </a:r>
            <a:endParaRPr lang="en-US" sz="1400" dirty="0">
              <a:ea typeface="微软雅黑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1152376" y="1710928"/>
            <a:ext cx="11658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选项内容占位</a:t>
            </a:r>
            <a:endParaRPr lang="en-US" sz="1500" dirty="0">
              <a:ea typeface="微软雅黑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4724400" y="1469678"/>
            <a:ext cx="3911501" cy="730151"/>
          </a:xfrm>
          <a:prstGeom prst="roundRect">
            <a:avLst>
              <a:gd name="adj" fmla="val 10436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4886325" y="1656904"/>
            <a:ext cx="355550" cy="355550"/>
          </a:xfrm>
          <a:prstGeom prst="roundRect">
            <a:avLst>
              <a:gd name="adj" fmla="val 14288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5003304" y="1715542"/>
            <a:ext cx="12402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B</a:t>
            </a:r>
            <a:endParaRPr lang="en-US" sz="1400" dirty="0">
              <a:ea typeface="微软雅黑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5368826" y="1710928"/>
            <a:ext cx="11658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选项内容占位</a:t>
            </a:r>
            <a:endParaRPr lang="en-US" sz="1500" dirty="0">
              <a:ea typeface="微软雅黑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507950" y="2377529"/>
            <a:ext cx="3911650" cy="730151"/>
          </a:xfrm>
          <a:prstGeom prst="roundRect">
            <a:avLst>
              <a:gd name="adj" fmla="val 10436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669875" y="2564755"/>
            <a:ext cx="355550" cy="355550"/>
          </a:xfrm>
          <a:prstGeom prst="roundRect">
            <a:avLst>
              <a:gd name="adj" fmla="val 14288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787747" y="2623393"/>
            <a:ext cx="1222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C</a:t>
            </a:r>
            <a:endParaRPr lang="en-US" sz="1400" dirty="0">
              <a:ea typeface="微软雅黑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1152376" y="2618780"/>
            <a:ext cx="11658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选项内容占位</a:t>
            </a:r>
            <a:endParaRPr lang="en-US" sz="1500" dirty="0">
              <a:ea typeface="微软雅黑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4724400" y="2377529"/>
            <a:ext cx="3911501" cy="730151"/>
          </a:xfrm>
          <a:prstGeom prst="roundRect">
            <a:avLst>
              <a:gd name="adj" fmla="val 10436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4886325" y="2564755"/>
            <a:ext cx="355550" cy="355550"/>
          </a:xfrm>
          <a:prstGeom prst="roundRect">
            <a:avLst>
              <a:gd name="adj" fmla="val 14288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4993630" y="2623393"/>
            <a:ext cx="1436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D</a:t>
            </a:r>
            <a:endParaRPr lang="en-US" sz="1400" dirty="0">
              <a:ea typeface="微软雅黑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5368826" y="2618780"/>
            <a:ext cx="11658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选项内容占位</a:t>
            </a:r>
            <a:endParaRPr lang="en-US" sz="1500" dirty="0">
              <a:ea typeface="微软雅黑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426669" y="4537174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2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答案与解析课上揭晓</a:t>
            </a:r>
            <a:endParaRPr lang="en-US" sz="1200" dirty="0">
              <a:ea typeface="微软雅黑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2" name="Text 27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15 / 20</a:t>
            </a:r>
            <a:endParaRPr lang="en-US" sz="1000" dirty="0">
              <a:ea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4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16 / 20</a:t>
            </a:r>
          </a:p>
        </p:txBody>
      </p:sp>
      <p:sp>
        <p:nvSpPr>
          <p:cNvPr id="10053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52" name="SkinProgress"/>
          <p:cNvSpPr/>
          <p:nvPr/>
        </p:nvSpPr>
        <p:spPr>
          <a:xfrm>
            <a:off x="100584" y="1028700"/>
            <a:ext cx="41148" cy="4114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1320701"/>
            <a:ext cx="101501" cy="38226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pic>
        <p:nvPicPr>
          <p:cNvPr id="4" name="Image 0" descr="C:/Obsidion/妙妙屋/09-AI工作区/pptx-化学模板/icons/hex-corn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History-1B43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55870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3886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化学史</a:t>
            </a:r>
            <a:endParaRPr lang="en-US" sz="1000" dirty="0">
              <a:ea typeface="微软雅黑"/>
            </a:endParaRPr>
          </a:p>
        </p:txBody>
      </p:sp>
      <p:sp>
        <p:nvSpPr>
          <p:cNvPr id="8" name="Text 4"/>
          <p:cNvSpPr/>
          <p:nvPr/>
        </p:nvSpPr>
        <p:spPr>
          <a:xfrm>
            <a:off x="1523702" y="200025"/>
            <a:ext cx="168381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页标题占位</a:t>
            </a:r>
            <a:endParaRPr lang="en-US" sz="2600" dirty="0">
              <a:ea typeface="微软雅黑"/>
            </a:endParaRPr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61851" y="2393603"/>
            <a:ext cx="7620000" cy="381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638151" y="2317403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714351" y="2114252"/>
            <a:ext cx="25301" cy="20315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755600" y="920353"/>
            <a:ext cx="19431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19XX 年</a:t>
            </a:r>
            <a:endParaRPr lang="en-US" sz="1600" dirty="0">
              <a:ea typeface="微软雅黑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755600" y="1221879"/>
            <a:ext cx="19431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事件名称占位</a:t>
            </a:r>
            <a:endParaRPr lang="en-US" sz="1400" dirty="0">
              <a:ea typeface="微软雅黑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755600" y="148530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一行说明占位文字</a:t>
            </a:r>
            <a:endParaRPr lang="en-US" sz="1150" dirty="0">
              <a:ea typeface="微软雅黑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3543151" y="2317403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3619351" y="2495252"/>
            <a:ext cx="25301" cy="20315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2660600" y="2749153"/>
            <a:ext cx="19431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19XX 年</a:t>
            </a:r>
            <a:endParaRPr lang="en-US" sz="1600" dirty="0">
              <a:ea typeface="微软雅黑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2660600" y="3050679"/>
            <a:ext cx="19431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事件名称占位</a:t>
            </a:r>
            <a:endParaRPr lang="en-US" sz="1400" dirty="0">
              <a:ea typeface="微软雅黑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2660600" y="331410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一行说明占位文字</a:t>
            </a:r>
            <a:endParaRPr lang="en-US" sz="1150" dirty="0">
              <a:ea typeface="微软雅黑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5448151" y="2317403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5524351" y="2114252"/>
            <a:ext cx="25301" cy="20315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4565600" y="920353"/>
            <a:ext cx="19431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19XX 年</a:t>
            </a:r>
            <a:endParaRPr lang="en-US" sz="1600" dirty="0">
              <a:ea typeface="微软雅黑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4565600" y="1221879"/>
            <a:ext cx="19431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事件名称占位</a:t>
            </a:r>
            <a:endParaRPr lang="en-US" sz="1400" dirty="0">
              <a:ea typeface="微软雅黑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4565600" y="148530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一行说明占位文字</a:t>
            </a:r>
            <a:endParaRPr lang="en-US" sz="1150" dirty="0">
              <a:ea typeface="微软雅黑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7353151" y="2317403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7429351" y="2495252"/>
            <a:ext cx="25301" cy="20315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6470600" y="2749153"/>
            <a:ext cx="19431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19XX 年</a:t>
            </a:r>
            <a:endParaRPr lang="en-US" sz="1600" dirty="0">
              <a:ea typeface="微软雅黑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6470600" y="3050679"/>
            <a:ext cx="19431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事件名称占位</a:t>
            </a:r>
            <a:endParaRPr lang="en-US" sz="1400" dirty="0">
              <a:ea typeface="微软雅黑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6470600" y="331410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一行说明占位文字</a:t>
            </a:r>
            <a:endParaRPr lang="en-US" sz="1150" dirty="0">
              <a:ea typeface="微软雅黑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16 / 20</a:t>
            </a:r>
            <a:endParaRPr lang="en-US" sz="1000" dirty="0">
              <a:ea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7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17 / 20</a:t>
            </a:r>
          </a:p>
        </p:txBody>
      </p:sp>
      <p:sp>
        <p:nvSpPr>
          <p:cNvPr id="10056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55" name="SkinProgress"/>
          <p:cNvSpPr/>
          <p:nvPr/>
        </p:nvSpPr>
        <p:spPr>
          <a:xfrm>
            <a:off x="100584" y="771525"/>
            <a:ext cx="41148" cy="4371975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1054001"/>
            <a:ext cx="101501" cy="40893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pic>
        <p:nvPicPr>
          <p:cNvPr id="4" name="Image 0" descr="C:/Obsidion/妙妙屋/09-AI工作区/pptx-化学模板/icons/hex-corn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Table-1B43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对比归纳</a:t>
            </a:r>
            <a:endParaRPr lang="en-US" sz="1000" dirty="0">
              <a:ea typeface="微软雅黑"/>
            </a:endParaRPr>
          </a:p>
        </p:txBody>
      </p:sp>
      <p:sp>
        <p:nvSpPr>
          <p:cNvPr id="8" name="Text 4"/>
          <p:cNvSpPr/>
          <p:nvPr/>
        </p:nvSpPr>
        <p:spPr>
          <a:xfrm>
            <a:off x="1650653" y="200025"/>
            <a:ext cx="168381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页标题占位</a:t>
            </a:r>
            <a:endParaRPr lang="en-US" sz="2600" dirty="0">
              <a:ea typeface="微软雅黑"/>
            </a:endParaRPr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07950" y="895052"/>
            <a:ext cx="2036713" cy="444401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240482" y="993428"/>
            <a:ext cx="5829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FAF7F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对比项</a:t>
            </a:r>
            <a:endParaRPr lang="en-US" sz="1500" dirty="0">
              <a:ea typeface="微软雅黑"/>
            </a:endParaRPr>
          </a:p>
        </p:txBody>
      </p:sp>
      <p:sp>
        <p:nvSpPr>
          <p:cNvPr id="13" name="Text 9"/>
          <p:cNvSpPr/>
          <p:nvPr/>
        </p:nvSpPr>
        <p:spPr>
          <a:xfrm>
            <a:off x="2544663" y="895052"/>
            <a:ext cx="3045619" cy="444401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3160743" y="993428"/>
            <a:ext cx="181345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FAF7F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项目 A</a:t>
            </a:r>
            <a:endParaRPr lang="en-US" sz="1500" dirty="0">
              <a:ea typeface="微软雅黑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590282" y="895052"/>
            <a:ext cx="3045619" cy="444401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206362" y="993428"/>
            <a:ext cx="181345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FAF7F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项目 B</a:t>
            </a:r>
            <a:endParaRPr lang="en-US" sz="1500" dirty="0">
              <a:ea typeface="微软雅黑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507950" y="1339453"/>
            <a:ext cx="2036713" cy="53637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1259681" y="1488579"/>
            <a:ext cx="54391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维度一</a:t>
            </a:r>
            <a:endParaRPr lang="en-US" sz="1400" dirty="0">
              <a:ea typeface="微软雅黑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2544663" y="1339453"/>
            <a:ext cx="3045619" cy="53637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3534221" y="1488579"/>
            <a:ext cx="10878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内容占位文字</a:t>
            </a:r>
            <a:endParaRPr lang="en-US" sz="1400" dirty="0">
              <a:ea typeface="微软雅黑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5590282" y="1339453"/>
            <a:ext cx="3045619" cy="53637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6579840" y="1488579"/>
            <a:ext cx="10878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内容占位文字</a:t>
            </a:r>
            <a:endParaRPr lang="en-US" sz="1400" dirty="0">
              <a:ea typeface="微软雅黑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507950" y="1875830"/>
            <a:ext cx="2036713" cy="536377"/>
          </a:xfrm>
          <a:prstGeom prst="rect">
            <a:avLst/>
          </a:prstGeom>
          <a:solidFill>
            <a:srgbClr val="FBF0DA"/>
          </a:solidFill>
          <a:ln w="9525">
            <a:solidFill>
              <a:srgbClr val="E8D9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1170831" y="2024955"/>
            <a:ext cx="72517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关键差异</a:t>
            </a:r>
            <a:endParaRPr lang="en-US" sz="1400" dirty="0">
              <a:ea typeface="微软雅黑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2544663" y="1875830"/>
            <a:ext cx="3045619" cy="536377"/>
          </a:xfrm>
          <a:prstGeom prst="rect">
            <a:avLst/>
          </a:prstGeom>
          <a:solidFill>
            <a:srgbClr val="FBF0DA"/>
          </a:solidFill>
          <a:ln w="9525">
            <a:solidFill>
              <a:srgbClr val="E8D9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3445371" y="2024955"/>
            <a:ext cx="12690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差异点占位文字</a:t>
            </a:r>
            <a:endParaRPr lang="en-US" sz="1400" dirty="0">
              <a:ea typeface="微软雅黑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5590282" y="1875830"/>
            <a:ext cx="3045619" cy="536377"/>
          </a:xfrm>
          <a:prstGeom prst="rect">
            <a:avLst/>
          </a:prstGeom>
          <a:solidFill>
            <a:srgbClr val="FBF0DA"/>
          </a:solidFill>
          <a:ln w="9525">
            <a:solidFill>
              <a:srgbClr val="E8D9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6490990" y="2024955"/>
            <a:ext cx="12690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差异点占位文字</a:t>
            </a:r>
            <a:endParaRPr lang="en-US" sz="1400" dirty="0">
              <a:ea typeface="微软雅黑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507950" y="2412206"/>
            <a:ext cx="2036713" cy="53637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1259681" y="2561332"/>
            <a:ext cx="54391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维度三</a:t>
            </a:r>
            <a:endParaRPr lang="en-US" sz="1400" dirty="0">
              <a:ea typeface="微软雅黑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2544663" y="2412206"/>
            <a:ext cx="3045619" cy="53637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3534221" y="2561332"/>
            <a:ext cx="10878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内容占位文字</a:t>
            </a:r>
            <a:endParaRPr lang="en-US" sz="1400" dirty="0">
              <a:ea typeface="微软雅黑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5590282" y="2412206"/>
            <a:ext cx="3045619" cy="53637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6579840" y="2561332"/>
            <a:ext cx="10878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内容占位文字</a:t>
            </a:r>
            <a:endParaRPr lang="en-US" sz="1400" dirty="0">
              <a:ea typeface="微软雅黑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507950" y="3126284"/>
            <a:ext cx="82905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注：浅黄底行为需要重点记忆的差异点，注释占位文字。</a:t>
            </a:r>
            <a:endParaRPr lang="en-US" sz="1200" dirty="0">
              <a:ea typeface="微软雅黑"/>
            </a:endParaRPr>
          </a:p>
        </p:txBody>
      </p:sp>
      <p:sp>
        <p:nvSpPr>
          <p:cNvPr id="36" name="Text 32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17 / 20</a:t>
            </a:r>
            <a:endParaRPr lang="en-US" sz="1000" dirty="0">
              <a:ea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0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18 / 20</a:t>
            </a:r>
          </a:p>
        </p:txBody>
      </p:sp>
      <p:sp>
        <p:nvSpPr>
          <p:cNvPr id="10059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58" name="SkinProgress"/>
          <p:cNvSpPr/>
          <p:nvPr/>
        </p:nvSpPr>
        <p:spPr>
          <a:xfrm>
            <a:off x="100584" y="514350"/>
            <a:ext cx="41148" cy="462915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787301"/>
            <a:ext cx="101501" cy="43560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pic>
        <p:nvPicPr>
          <p:cNvPr id="4" name="Image 0" descr="C:/Obsidion/妙妙屋/09-AI工作区/pptx-化学模板/icons/hex-corn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LayoutGrid-1B43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55870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3886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图标库</a:t>
            </a:r>
            <a:endParaRPr lang="en-US" sz="1000" dirty="0">
              <a:ea typeface="微软雅黑"/>
            </a:endParaRPr>
          </a:p>
        </p:txBody>
      </p:sp>
      <p:sp>
        <p:nvSpPr>
          <p:cNvPr id="8" name="Text 4"/>
          <p:cNvSpPr/>
          <p:nvPr/>
        </p:nvSpPr>
        <p:spPr>
          <a:xfrm>
            <a:off x="1523702" y="200025"/>
            <a:ext cx="440430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图标库 · 复制即用</a:t>
            </a:r>
            <a:endParaRPr lang="en-US" sz="2600" dirty="0">
              <a:ea typeface="微软雅黑"/>
            </a:endParaRPr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pic>
        <p:nvPicPr>
          <p:cNvPr id="11" name="Image 2" descr="C:/Obsidion/妙妙屋/09-AI工作区/pptx-化学模板/icons/LuFlaskConical-1B43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301" y="895052"/>
            <a:ext cx="304800" cy="304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8281" y="1263253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锥形瓶</a:t>
            </a:r>
            <a:endParaRPr lang="en-US" sz="1100" dirty="0">
              <a:ea typeface="微软雅黑"/>
            </a:endParaRPr>
          </a:p>
        </p:txBody>
      </p:sp>
      <p:pic>
        <p:nvPicPr>
          <p:cNvPr id="13" name="Image 3" descr="C:/Obsidion/妙妙屋/09-AI工作区/pptx-化学模板/icons/LuFlaskRound-1B43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3802" y="895052"/>
            <a:ext cx="304800" cy="3048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233782" y="1263253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圆底烧瓶</a:t>
            </a:r>
            <a:endParaRPr lang="en-US" sz="1100" dirty="0">
              <a:ea typeface="微软雅黑"/>
            </a:endParaRPr>
          </a:p>
        </p:txBody>
      </p:sp>
      <p:pic>
        <p:nvPicPr>
          <p:cNvPr id="15" name="Image 4" descr="C:/Obsidion/妙妙屋/09-AI工作区/pptx-化学模板/icons/LuTestTubes-1B43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302" y="895052"/>
            <a:ext cx="304800" cy="3048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859283" y="1263253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试管</a:t>
            </a:r>
            <a:endParaRPr lang="en-US" sz="1100" dirty="0">
              <a:ea typeface="微软雅黑"/>
            </a:endParaRPr>
          </a:p>
        </p:txBody>
      </p:sp>
      <p:pic>
        <p:nvPicPr>
          <p:cNvPr id="17" name="Image 5" descr="C:/Obsidion/妙妙屋/09-AI工作区/pptx-化学模板/icons/LuFlame-1B43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4803" y="895052"/>
            <a:ext cx="304800" cy="3048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484784" y="1263253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酒精灯</a:t>
            </a:r>
            <a:endParaRPr lang="en-US" sz="1100" dirty="0">
              <a:ea typeface="微软雅黑"/>
            </a:endParaRPr>
          </a:p>
        </p:txBody>
      </p:sp>
      <p:pic>
        <p:nvPicPr>
          <p:cNvPr id="19" name="Image 6" descr="C:/Obsidion/妙妙屋/09-AI工作区/pptx-化学模板/icons/LuPipette-1B433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0304" y="895052"/>
            <a:ext cx="304800" cy="3048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110285" y="1263253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滴管</a:t>
            </a:r>
            <a:endParaRPr lang="en-US" sz="1100" dirty="0">
              <a:ea typeface="微软雅黑"/>
            </a:endParaRPr>
          </a:p>
        </p:txBody>
      </p:sp>
      <p:pic>
        <p:nvPicPr>
          <p:cNvPr id="21" name="Image 7" descr="C:/Obsidion/妙妙屋/09-AI工作区/pptx-化学模板/icons/LuAtom-1B433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8301" y="1631454"/>
            <a:ext cx="304800" cy="30480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08281" y="1999655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原子</a:t>
            </a:r>
            <a:endParaRPr lang="en-US" sz="1100" dirty="0">
              <a:ea typeface="微软雅黑"/>
            </a:endParaRPr>
          </a:p>
        </p:txBody>
      </p:sp>
      <p:pic>
        <p:nvPicPr>
          <p:cNvPr id="23" name="Image 8" descr="C:/Obsidion/妙妙屋/09-AI工作区/pptx-化学模板/icons/LuMicroscope-1B433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3802" y="1631454"/>
            <a:ext cx="304800" cy="30480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2233782" y="1999655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显微镜</a:t>
            </a:r>
            <a:endParaRPr lang="en-US" sz="1100" dirty="0">
              <a:ea typeface="微软雅黑"/>
            </a:endParaRPr>
          </a:p>
        </p:txBody>
      </p:sp>
      <p:pic>
        <p:nvPicPr>
          <p:cNvPr id="25" name="Image 9" descr="C:/Obsidion/妙妙屋/09-AI工作区/pptx-化学模板/icons/LuSearch-1B433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19302" y="1631454"/>
            <a:ext cx="304800" cy="30480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3859283" y="1999655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放大镜</a:t>
            </a:r>
            <a:endParaRPr lang="en-US" sz="1100" dirty="0">
              <a:ea typeface="微软雅黑"/>
            </a:endParaRPr>
          </a:p>
        </p:txBody>
      </p:sp>
      <p:pic>
        <p:nvPicPr>
          <p:cNvPr id="27" name="Image 10" descr="C:/Obsidion/妙妙屋/09-AI工作区/pptx-化学模板/icons/LuBookOpen-1B433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44803" y="1631454"/>
            <a:ext cx="304800" cy="304800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5484784" y="1999655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书本</a:t>
            </a:r>
            <a:endParaRPr lang="en-US" sz="1100" dirty="0">
              <a:ea typeface="微软雅黑"/>
            </a:endParaRPr>
          </a:p>
        </p:txBody>
      </p:sp>
      <p:pic>
        <p:nvPicPr>
          <p:cNvPr id="29" name="Image 11" descr="C:/Obsidion/妙妙屋/09-AI工作区/pptx-化学模板/icons/LuPenLine-1B433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70304" y="1631454"/>
            <a:ext cx="304800" cy="304800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7110285" y="1999655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笔</a:t>
            </a:r>
            <a:endParaRPr lang="en-US" sz="1100" dirty="0">
              <a:ea typeface="微软雅黑"/>
            </a:endParaRPr>
          </a:p>
        </p:txBody>
      </p:sp>
      <p:pic>
        <p:nvPicPr>
          <p:cNvPr id="31" name="Image 12" descr="C:/Obsidion/妙妙屋/09-AI工作区/pptx-化学模板/icons/LuChartColumn-1B433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68301" y="2367855"/>
            <a:ext cx="304800" cy="304800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608281" y="2736056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图表</a:t>
            </a:r>
            <a:endParaRPr lang="en-US" sz="1100" dirty="0">
              <a:ea typeface="微软雅黑"/>
            </a:endParaRPr>
          </a:p>
        </p:txBody>
      </p:sp>
      <p:pic>
        <p:nvPicPr>
          <p:cNvPr id="33" name="Image 13" descr="C:/Obsidion/妙妙屋/09-AI工作区/pptx-化学模板/icons/LuNetwork-1B433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93802" y="2367855"/>
            <a:ext cx="304800" cy="304800"/>
          </a:xfrm>
          <a:prstGeom prst="rect">
            <a:avLst/>
          </a:prstGeom>
        </p:spPr>
      </p:pic>
      <p:sp>
        <p:nvSpPr>
          <p:cNvPr id="34" name="Text 18"/>
          <p:cNvSpPr/>
          <p:nvPr/>
        </p:nvSpPr>
        <p:spPr>
          <a:xfrm>
            <a:off x="2233782" y="2736056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框架</a:t>
            </a:r>
            <a:endParaRPr lang="en-US" sz="1100" dirty="0">
              <a:ea typeface="微软雅黑"/>
            </a:endParaRPr>
          </a:p>
        </p:txBody>
      </p:sp>
      <p:pic>
        <p:nvPicPr>
          <p:cNvPr id="35" name="Image 14" descr="C:/Obsidion/妙妙屋/09-AI工作区/pptx-化学模板/icons/LuHistory-1B433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19302" y="2367855"/>
            <a:ext cx="304800" cy="304800"/>
          </a:xfrm>
          <a:prstGeom prst="rect">
            <a:avLst/>
          </a:prstGeom>
        </p:spPr>
      </p:pic>
      <p:sp>
        <p:nvSpPr>
          <p:cNvPr id="36" name="Text 19"/>
          <p:cNvSpPr/>
          <p:nvPr/>
        </p:nvSpPr>
        <p:spPr>
          <a:xfrm>
            <a:off x="3859283" y="2736056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历史</a:t>
            </a:r>
            <a:endParaRPr lang="en-US" sz="1100" dirty="0">
              <a:ea typeface="微软雅黑"/>
            </a:endParaRPr>
          </a:p>
        </p:txBody>
      </p:sp>
      <p:pic>
        <p:nvPicPr>
          <p:cNvPr id="37" name="Image 15" descr="C:/Obsidion/妙妙屋/09-AI工作区/pptx-化学模板/icons/LuGraduationCap-1B4332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44803" y="2367855"/>
            <a:ext cx="304800" cy="304800"/>
          </a:xfrm>
          <a:prstGeom prst="rect">
            <a:avLst/>
          </a:prstGeom>
        </p:spPr>
      </p:pic>
      <p:sp>
        <p:nvSpPr>
          <p:cNvPr id="38" name="Text 20"/>
          <p:cNvSpPr/>
          <p:nvPr/>
        </p:nvSpPr>
        <p:spPr>
          <a:xfrm>
            <a:off x="5484784" y="2736056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毕业帽</a:t>
            </a:r>
            <a:endParaRPr lang="en-US" sz="1100" dirty="0">
              <a:ea typeface="微软雅黑"/>
            </a:endParaRPr>
          </a:p>
        </p:txBody>
      </p:sp>
      <p:pic>
        <p:nvPicPr>
          <p:cNvPr id="39" name="Image 16" descr="C:/Obsidion/妙妙屋/09-AI工作区/pptx-化学模板/icons/LuTimer-E8A33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70304" y="2367855"/>
            <a:ext cx="304800" cy="304800"/>
          </a:xfrm>
          <a:prstGeom prst="rect">
            <a:avLst/>
          </a:prstGeom>
        </p:spPr>
      </p:pic>
      <p:sp>
        <p:nvSpPr>
          <p:cNvPr id="40" name="Text 21"/>
          <p:cNvSpPr/>
          <p:nvPr/>
        </p:nvSpPr>
        <p:spPr>
          <a:xfrm>
            <a:off x="7110285" y="2736056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计时器</a:t>
            </a:r>
            <a:endParaRPr lang="en-US" sz="1100" dirty="0">
              <a:ea typeface="微软雅黑"/>
            </a:endParaRPr>
          </a:p>
        </p:txBody>
      </p:sp>
      <p:pic>
        <p:nvPicPr>
          <p:cNvPr id="41" name="Image 17" descr="C:/Obsidion/妙妙屋/09-AI工作区/pptx-化学模板/icons/LuLightbulb-E8A33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68301" y="3104257"/>
            <a:ext cx="304800" cy="304800"/>
          </a:xfrm>
          <a:prstGeom prst="rect">
            <a:avLst/>
          </a:prstGeom>
        </p:spPr>
      </p:pic>
      <p:sp>
        <p:nvSpPr>
          <p:cNvPr id="42" name="Text 22"/>
          <p:cNvSpPr/>
          <p:nvPr/>
        </p:nvSpPr>
        <p:spPr>
          <a:xfrm>
            <a:off x="608281" y="3472458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灯泡·提示</a:t>
            </a:r>
            <a:endParaRPr lang="en-US" sz="1100" dirty="0">
              <a:ea typeface="微软雅黑"/>
            </a:endParaRPr>
          </a:p>
        </p:txBody>
      </p:sp>
      <p:pic>
        <p:nvPicPr>
          <p:cNvPr id="43" name="Image 18" descr="C:/Obsidion/妙妙屋/09-AI工作区/pptx-化学模板/icons/LuTarget-E8A33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93802" y="3104257"/>
            <a:ext cx="304800" cy="304800"/>
          </a:xfrm>
          <a:prstGeom prst="rect">
            <a:avLst/>
          </a:prstGeom>
        </p:spPr>
      </p:pic>
      <p:sp>
        <p:nvSpPr>
          <p:cNvPr id="44" name="Text 23"/>
          <p:cNvSpPr/>
          <p:nvPr/>
        </p:nvSpPr>
        <p:spPr>
          <a:xfrm>
            <a:off x="2233782" y="3472458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靶心·考点</a:t>
            </a:r>
            <a:endParaRPr lang="en-US" sz="1100" dirty="0">
              <a:ea typeface="微软雅黑"/>
            </a:endParaRPr>
          </a:p>
        </p:txBody>
      </p:sp>
      <p:pic>
        <p:nvPicPr>
          <p:cNvPr id="45" name="Image 19" descr="C:/Obsidion/妙妙屋/09-AI工作区/pptx-化学模板/icons/LuTriangleAlert-C0392B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19302" y="3104257"/>
            <a:ext cx="304800" cy="304800"/>
          </a:xfrm>
          <a:prstGeom prst="rect">
            <a:avLst/>
          </a:prstGeom>
        </p:spPr>
      </p:pic>
      <p:sp>
        <p:nvSpPr>
          <p:cNvPr id="46" name="Text 24"/>
          <p:cNvSpPr/>
          <p:nvPr/>
        </p:nvSpPr>
        <p:spPr>
          <a:xfrm>
            <a:off x="3859283" y="3472458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警示·砖红</a:t>
            </a:r>
            <a:endParaRPr lang="en-US" sz="1100" dirty="0">
              <a:ea typeface="微软雅黑"/>
            </a:endParaRPr>
          </a:p>
        </p:txBody>
      </p:sp>
      <p:pic>
        <p:nvPicPr>
          <p:cNvPr id="47" name="Image 20" descr="C:/Obsidion/妙妙屋/09-AI工作区/pptx-化学模板/icons/LuCheck-1B4332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44803" y="3104257"/>
            <a:ext cx="304800" cy="304800"/>
          </a:xfrm>
          <a:prstGeom prst="rect">
            <a:avLst/>
          </a:prstGeom>
        </p:spPr>
      </p:pic>
      <p:sp>
        <p:nvSpPr>
          <p:cNvPr id="48" name="Text 25"/>
          <p:cNvSpPr/>
          <p:nvPr/>
        </p:nvSpPr>
        <p:spPr>
          <a:xfrm>
            <a:off x="5484784" y="3472458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对勾</a:t>
            </a:r>
            <a:endParaRPr lang="en-US" sz="1100" dirty="0">
              <a:ea typeface="微软雅黑"/>
            </a:endParaRPr>
          </a:p>
        </p:txBody>
      </p:sp>
      <p:pic>
        <p:nvPicPr>
          <p:cNvPr id="49" name="Image 21" descr="C:/Obsidion/妙妙屋/09-AI工作区/pptx-化学模板/icons/LuX-1B4332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670304" y="3104257"/>
            <a:ext cx="304800" cy="304800"/>
          </a:xfrm>
          <a:prstGeom prst="rect">
            <a:avLst/>
          </a:prstGeom>
        </p:spPr>
      </p:pic>
      <p:sp>
        <p:nvSpPr>
          <p:cNvPr id="50" name="Text 26"/>
          <p:cNvSpPr/>
          <p:nvPr/>
        </p:nvSpPr>
        <p:spPr>
          <a:xfrm>
            <a:off x="7110285" y="3472458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叉号</a:t>
            </a:r>
            <a:endParaRPr lang="en-US" sz="1100" dirty="0">
              <a:ea typeface="微软雅黑"/>
            </a:endParaRPr>
          </a:p>
        </p:txBody>
      </p:sp>
      <p:sp>
        <p:nvSpPr>
          <p:cNvPr id="51" name="Text 27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52" name="Text 28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18 / 20</a:t>
            </a:r>
            <a:endParaRPr lang="en-US" sz="1000" dirty="0">
              <a:ea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3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19 / 20</a:t>
            </a:r>
          </a:p>
        </p:txBody>
      </p:sp>
      <p:sp>
        <p:nvSpPr>
          <p:cNvPr id="10062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61" name="SkinProgress"/>
          <p:cNvSpPr/>
          <p:nvPr/>
        </p:nvSpPr>
        <p:spPr>
          <a:xfrm>
            <a:off x="100584" y="257175"/>
            <a:ext cx="41148" cy="4886325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520601"/>
            <a:ext cx="101501" cy="46227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pic>
        <p:nvPicPr>
          <p:cNvPr id="4" name="Image 0" descr="C:/Obsidion/妙妙屋/09-AI工作区/pptx-化学模板/icons/hex-corn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Plus-1B43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55870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3886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自由页</a:t>
            </a:r>
            <a:endParaRPr lang="en-US" sz="1000" dirty="0">
              <a:ea typeface="微软雅黑"/>
            </a:endParaRPr>
          </a:p>
        </p:txBody>
      </p:sp>
      <p:sp>
        <p:nvSpPr>
          <p:cNvPr id="8" name="Text 4"/>
          <p:cNvSpPr/>
          <p:nvPr/>
        </p:nvSpPr>
        <p:spPr>
          <a:xfrm>
            <a:off x="1523702" y="200025"/>
            <a:ext cx="168381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页标题占位</a:t>
            </a:r>
            <a:endParaRPr lang="en-US" sz="2600" dirty="0">
              <a:ea typeface="微软雅黑"/>
            </a:endParaRPr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19 / 20</a:t>
            </a:r>
            <a:endParaRPr lang="en-US" sz="1000" dirty="0">
              <a:ea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6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EDEDED"/>
                </a:solidFill>
                <a:latin typeface="Arial"/>
                <a:ea typeface="微软雅黑"/>
              </a:rPr>
              <a:t>20 / 20</a:t>
            </a:r>
          </a:p>
        </p:txBody>
      </p:sp>
      <p:sp>
        <p:nvSpPr>
          <p:cNvPr id="10065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64" name="SkinProgress"/>
          <p:cNvSpPr/>
          <p:nvPr/>
        </p:nvSpPr>
        <p:spPr>
          <a:xfrm>
            <a:off x="100584" y="0"/>
            <a:ext cx="41148" cy="51435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Text 0"/>
          <p:cNvSpPr/>
          <p:nvPr/>
        </p:nvSpPr>
        <p:spPr>
          <a:xfrm>
            <a:off x="3454450" y="1625501"/>
            <a:ext cx="2279651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800"/>
              </a:spcBef>
              <a:buNone/>
            </a:pPr>
            <a:r>
              <a:rPr lang="en-US" sz="4400" b="1" dirty="0">
                <a:solidFill>
                  <a:srgbClr val="FAF7F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谢谢聆听</a:t>
            </a:r>
            <a:endParaRPr lang="en-US" sz="4400" dirty="0">
              <a:ea typeface="微软雅黑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16450" y="2587526"/>
            <a:ext cx="711101" cy="507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83198" y="2892177"/>
            <a:ext cx="18130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buNone/>
            </a:pPr>
            <a:r>
              <a:rPr lang="en-US" sz="1400" b="1" dirty="0">
                <a:solidFill>
                  <a:srgbClr val="FAF7F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课后思考：思考题占位</a:t>
            </a:r>
            <a:endParaRPr lang="en-US" sz="1400" dirty="0">
              <a:ea typeface="微软雅黑"/>
            </a:endParaRPr>
          </a:p>
        </p:txBody>
      </p:sp>
      <p:pic>
        <p:nvPicPr>
          <p:cNvPr id="5" name="Image 0" descr="C:/Obsidion/妙妙屋/09-AI工作区/pptx-化学模板/icons/cell-H-6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150" y="812750"/>
            <a:ext cx="1219200" cy="1219200"/>
          </a:xfrm>
          <a:prstGeom prst="rect">
            <a:avLst/>
          </a:prstGeom>
        </p:spPr>
      </p:pic>
      <p:pic>
        <p:nvPicPr>
          <p:cNvPr id="6" name="Image 1" descr="C:/Obsidion/妙妙屋/09-AI工作区/pptx-化学模板/icons/cell-O-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168301"/>
            <a:ext cx="990600" cy="990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0" y="5080099"/>
            <a:ext cx="9144000" cy="63401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>
              <a:ea typeface="微软雅黑"/>
            </a:endParaRPr>
          </a:p>
        </p:txBody>
      </p:sp>
      <p:sp>
        <p:nvSpPr>
          <p:cNvPr id="8" name="Text 4"/>
          <p:cNvSpPr/>
          <p:nvPr/>
        </p:nvSpPr>
        <p:spPr>
          <a:xfrm>
            <a:off x="7599831" y="48513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FAF7F0"/>
                </a:solidFill>
                <a:latin typeface="Microsoft YaHei" pitchFamily="34" charset="0"/>
                <a:ea typeface="微软雅黑" pitchFamily="34" charset="-122"/>
                <a:cs typeface="Microsoft YaHei" pitchFamily="34" charset="-120"/>
              </a:rPr>
              <a:t>20 / 20</a:t>
            </a:r>
            <a:endParaRPr lang="en-US" sz="1000" dirty="0">
              <a:ea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高中化学课件模板</dc:title>
  <dc:subject>PptxGenJS Presentation</dc:subject>
  <dc:creator/>
  <cp:lastModifiedBy/>
  <cp:revision>1</cp:revision>
  <dcterms:created xsi:type="dcterms:W3CDTF">2026-08-24T03:01:42Z</dcterms:created>
  <dcterms:modified xsi:type="dcterms:W3CDTF">2026-08-24T03:01:42Z</dcterms:modified>
</cp:coreProperties>
</file>