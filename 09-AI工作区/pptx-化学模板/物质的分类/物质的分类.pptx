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同学们好，今天我们开始高中化学第一章第一节：物质的分类。【1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先问学生：图书馆书那么多，为什么你能很快找到？超市也是。答案很简单——分类摆放。化学要研究的物质有数千万种，也需要分类。【1.5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不只是图书馆和超市——实验室的药品、物流的快递、小区的垃圾分类，分类法无处不在。【1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给分类下个定义：抓共同点归并，抓差异点区分。分类的关键是先定标准。【1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阅读材料：一百多种元素组成数千万种物质。氢、碳、钠、钙、钡各举三个生活例子。物质这么多，不分类没法研究。【2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试着给这些物质分类。分类没有唯一答案，关键看你选什么标准。高中会把分类标准从宏观拓展到微观。【2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第一种方法，树状分类法：像大树分叉，每一级只用一个标准。同层并列，上下层包含。【2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用树状分类法按组成给刚才的物质分类，结果就是这棵树。注意：NaCl 溶液和 BaSO₄ 浊液是混合物，先被分出去。【2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第二种方法，交叉分类法：同一物质从多个角度同时分类。比如 Na₂SO₄，既是钠盐，又是硫酸盐。【2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思考 1：给单质分类。按元素种类分：金属、非金属、稀有气体。注意同一个元素可能形成好几种单质。【1.5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同素异形体：同种元素的不同单质。物理性质差异大，相互转化是化学变化。思考题答案：不一定，氧气和臭氧混在一起就是混合物。【2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思考 2：给氧化物分类。按能否成盐、成什么盐来分：酸性、碱性、两性、不成盐四类。【2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酸性氧化物和碱性氧化物的定义里都强调「只生成」。NO₂ 与水反应除酸还生成 NO，Na₂O₂ 与水反应除碱还放氧气，都不符合定义。【2.5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组成决定性质的大方向：金属氧化物多为碱性，非金属氧化物多为酸性。但只是「大多数」，例外不少。【2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四个「一定」辨析，前三个都有反例，只有「碱性氧化物一定是金属氧化物」成立。这是常考易错点。【2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思考 3：酸的分类。先给酸下定义——阳离子全部是氢离子。然后四个标准各分一次。【2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思考 4：碱的分类，模仿酸的标准自己来。定义：阴离子全部是氢氧根。【2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思考 5：盐的分类。正盐、酸式盐、碱式盐；也可以按阳离子、阴离子分——那就用上了交叉分类法。【2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反应也能分类。四种基本类型是按物质种类分的；高中还会按电子转移分出氧化还原，按离子分出离子反应——标准不同，分法不同。【2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小结：两种分类方法，一个像树一个像网。核心就一句话：分类先定标准。【1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典例 1，按类排队。注意液态氧是纯净的单质，碘酒是溶液即混合物。答案 C。【2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典例 2。易错点：纯碱不是碱是盐，NaHSO₄ 不是酸。答案 B。【2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典例 3，概念间的逻辑关系。注意 D：硫酸和硝酸既是不同酸（并列），又都是含氧酸（交叉）。答案 C。【2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典例 4，交叉分类的应用——阴影处要同时满足两个类别。答案 B。【2.5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典例 5，找不同——角度不同答案可以不同，言之有理即可。第四组有两种合理答案。【2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检测 1 答案 C，NaOH 不是钠盐；检测 2 答案 D，碳燃烧可能生成一氧化碳或二氧化碳。【3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检测 3 答案 D，CO 等不是酸性氧化物；检测 4 答案 D，A 冰水混合物是纯净物，B NaHSO₄ 是盐，C CO 不是酸性氧化物。【3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检测 5 答案 C，D 的 Na₂O₂ 是过氧化物，呼应课上的辨析。【2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检测 6：①NaOH 是碱其余是氧化物 ②Al 是金属 ③蒸馏水是纯净物 ④氢气是纯净物 ⑤铜丝是单质。【2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今天我们学会了给物质分类，下节课看物质之间怎么转化。下课。【0.5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14400"/>
            <a:ext cx="1219200" cy="301526"/>
          </a:xfrm>
          <a:prstGeom prst="roundRect">
            <a:avLst>
              <a:gd name="adj" fmla="val 12636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6550" y="965150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必修第一册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495276"/>
            <a:ext cx="55701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buNone/>
            </a:pPr>
            <a:r>
              <a:rPr lang="en-US" sz="1300" dirty="0">
                <a:solidFill>
                  <a:srgbClr val="9DB8A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第一章 物质及其变化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815852"/>
            <a:ext cx="55701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E3EDE6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第一节 物质的分类及转化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269778"/>
            <a:ext cx="557016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40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第1课时 物质的分类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7950" y="3139678"/>
            <a:ext cx="7111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3520529"/>
            <a:ext cx="55701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600"/>
              </a:spcBef>
              <a:buNone/>
            </a:pPr>
            <a:r>
              <a:rPr lang="en-US" sz="1200" dirty="0">
                <a:solidFill>
                  <a:srgbClr val="9DB8A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本节重点　简单的分类方法及其物质的分类</a:t>
            </a:r>
            <a:endParaRPr lang="en-US" sz="1200" dirty="0"/>
          </a:p>
        </p:txBody>
      </p:sp>
      <p:pic>
        <p:nvPicPr>
          <p:cNvPr id="10" name="Image 0" descr="C:/Obsidion/妙妙屋/09-AI工作区/pptx-化学模板/icons/cell-C-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101" y="2819400"/>
            <a:ext cx="1752600" cy="1752600"/>
          </a:xfrm>
          <a:prstGeom prst="rect">
            <a:avLst/>
          </a:prstGeom>
        </p:spPr>
      </p:pic>
      <p:pic>
        <p:nvPicPr>
          <p:cNvPr id="11" name="Image 1" descr="C:/Obsidion/妙妙屋/09-AI工作区/pptx-化学模板/icons/cell-Na-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102" y="2920901"/>
            <a:ext cx="1676400" cy="1676400"/>
          </a:xfrm>
          <a:prstGeom prst="rect">
            <a:avLst/>
          </a:prstGeom>
        </p:spPr>
      </p:pic>
      <p:pic>
        <p:nvPicPr>
          <p:cNvPr id="12" name="Image 2" descr="C:/Obsidion/妙妙屋/09-AI工作区/pptx-化学模板/icons/cell-H-1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301" y="1181100"/>
            <a:ext cx="1981200" cy="1981200"/>
          </a:xfrm>
          <a:prstGeom prst="rect">
            <a:avLst/>
          </a:prstGeom>
        </p:spPr>
      </p:pic>
      <p:pic>
        <p:nvPicPr>
          <p:cNvPr id="13" name="Image 3" descr="C:/Obsidion/妙妙屋/09-AI工作区/pptx-化学模板/icons/cell-O-9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301" y="368201"/>
            <a:ext cx="1828800" cy="1828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7599831" y="48513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7F0">
                    <a:alpha val="60000"/>
                  </a:srgbClr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 / 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838700"/>
            <a:ext cx="101501" cy="3048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ghtbulb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为什么要分类？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物质的分类/images/card-libr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869603"/>
            <a:ext cx="3810000" cy="2247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9850" y="3206353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国家图书馆（亚洲规模最大的图书馆）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622750" y="869603"/>
            <a:ext cx="4093413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图书馆里有那么多的书籍，为什么你能很快就找到你需要的书？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622750" y="1507927"/>
            <a:ext cx="4093413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超市里有那么多的商品，为什么你能很快就找到你要买的零食呢？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07950" y="3565029"/>
            <a:ext cx="8127950" cy="762149"/>
          </a:xfrm>
          <a:prstGeom prst="roundRect">
            <a:avLst>
              <a:gd name="adj" fmla="val 4999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36525" y="3565029"/>
            <a:ext cx="0" cy="762149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42801" y="3565029"/>
            <a:ext cx="7869707" cy="762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图书馆中数不胜数的图书要分类陈列以便于人们查找，快递企业对数以千万计的物品要分类处理以提高工作效率。同样，为了认识和研究的方便，对于数以千万计的物质，人们常根据物质的</a:t>
            </a:r>
            <a:pPr algn="l" indent="0" marL="0">
              <a:lnSpc>
                <a:spcPts val="2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组成、结构、性质或用途</a:t>
            </a:r>
            <a:pPr algn="l" indent="0" marL="0">
              <a:lnSpc>
                <a:spcPts val="2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等进行分类。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 / 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686300"/>
            <a:ext cx="101501" cy="457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ayoutGrid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分类法在实际生产生活中的应用广泛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物质的分类/images/card-p3-libr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225302"/>
            <a:ext cx="1422350" cy="1066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5615" y="2380952"/>
            <a:ext cx="1528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图书馆中陈列书籍</a:t>
            </a:r>
            <a:endParaRPr lang="en-US" sz="1150" dirty="0"/>
          </a:p>
        </p:txBody>
      </p:sp>
      <p:pic>
        <p:nvPicPr>
          <p:cNvPr id="13" name="Image 3" descr="C:/Obsidion/妙妙屋/09-AI工作区/pptx-化学模板/物质的分类/images/card-p3-mar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651" y="1225302"/>
            <a:ext cx="1422350" cy="1066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56566" y="2380952"/>
            <a:ext cx="1528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超市里摆放货品</a:t>
            </a:r>
            <a:endParaRPr lang="en-US" sz="1150" dirty="0"/>
          </a:p>
        </p:txBody>
      </p:sp>
      <p:pic>
        <p:nvPicPr>
          <p:cNvPr id="15" name="Image 4" descr="C:/Obsidion/妙妙屋/09-AI工作区/pptx-化学模板/物质的分类/images/card-p3-la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750" y="1225302"/>
            <a:ext cx="1422350" cy="1066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07665" y="2380952"/>
            <a:ext cx="1528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实验室里码放药品</a:t>
            </a:r>
            <a:endParaRPr lang="en-US" sz="1150" dirty="0"/>
          </a:p>
        </p:txBody>
      </p:sp>
      <p:pic>
        <p:nvPicPr>
          <p:cNvPr id="17" name="Image 5" descr="C:/Obsidion/妙妙屋/09-AI工作区/pptx-化学模板/物质的分类/images/card-p3-parce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701" y="1225302"/>
            <a:ext cx="1422350" cy="10668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58615" y="2380952"/>
            <a:ext cx="1528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物流公司分拣快递</a:t>
            </a:r>
            <a:endParaRPr lang="en-US" sz="1150" dirty="0"/>
          </a:p>
        </p:txBody>
      </p:sp>
      <p:pic>
        <p:nvPicPr>
          <p:cNvPr id="19" name="Image 6" descr="C:/Obsidion/妙妙屋/09-AI工作区/pptx-化学模板/物质的分类/images/card-p3-recy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2651" y="1225302"/>
            <a:ext cx="1422350" cy="10668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109566" y="2380952"/>
            <a:ext cx="1528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垃圾分类</a:t>
            </a:r>
            <a:endParaRPr lang="en-US" sz="1150" dirty="0"/>
          </a:p>
        </p:txBody>
      </p:sp>
      <p:sp>
        <p:nvSpPr>
          <p:cNvPr id="21" name="Text 12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3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 / 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521101"/>
            <a:ext cx="101501" cy="6222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啥叫分类？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61851" y="1352252"/>
            <a:ext cx="85496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分类：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1851" y="1977628"/>
            <a:ext cx="7620149" cy="820043"/>
          </a:xfrm>
          <a:prstGeom prst="roundRect">
            <a:avLst>
              <a:gd name="adj" fmla="val 6195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0426" y="1977628"/>
            <a:ext cx="0" cy="820043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23801" y="1977628"/>
            <a:ext cx="7092467" cy="82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根据研究对象的</a:t>
            </a:r>
            <a:pPr algn="l" indent="0" marL="0">
              <a:lnSpc>
                <a:spcPts val="323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共同点</a:t>
            </a:r>
            <a:pPr algn="l" indent="0" marL="0">
              <a:lnSpc>
                <a:spcPts val="323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pPr algn="l" indent="0" marL="0">
              <a:lnSpc>
                <a:spcPts val="323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差异点</a:t>
            </a:r>
            <a:pPr algn="l" indent="0" marL="0">
              <a:lnSpc>
                <a:spcPts val="323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，将它们区分为不同种类和层次的科学方法。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 / 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368701"/>
            <a:ext cx="101501" cy="7746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FlaskConical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70421"/>
            <a:ext cx="608827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【阅读材料】有限的元素组成了种类繁多的物质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45803"/>
            <a:ext cx="8031379" cy="17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ts val="227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氢是元素周期表中原子序数为1的元素，含氢元素的物质有 H₂、H₂O、H₂SO₄ 等。碳是组成生物体的主要元素之一，金刚石、石墨、C₆₀、温室气体之一的CO₂中都有碳元素的身影。Na是一种活泼的金属，生理盐水中的 NaCl溶液、碱面里的 Na₂CO₃、管道疏通剂的有效成分 NaOH 中都含有钠元素。钙是生长发育所必需的元素，自热米饭发热包中的 CaO、用来杀菌除虫的波尔多液[由 Ca(OH)₂ 和 CuSO₄ 配制而成]、大理石的主要成分 CaCO₃ 都含有钙元素。钡是生产绿色烟花必须添加的一种元素，用X射线检查肠胃病时病人服用的 BaSO₄浊液（俗称钡餐）当中也含有钡元素。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5 / 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216301"/>
            <a:ext cx="101501" cy="9270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Search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如何对短文中划线的物质进行分类？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8127950" cy="881211"/>
          </a:xfrm>
          <a:prstGeom prst="roundRect">
            <a:avLst>
              <a:gd name="adj" fmla="val 1153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95176" y="1031528"/>
            <a:ext cx="7908569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H₂、H₂O、H₂SO₄、金刚石、石墨、C₆₀、CO₂、Na、NaCl溶液、Na₂CO₃、NaOH、CaO、Ca(OH)₂、CuSO₄、CaCO₃、BaSO₄浊液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7950" y="2004864"/>
            <a:ext cx="8031379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ts val="2295"/>
              </a:lnSpc>
              <a:spcBef>
                <a:spcPts val="18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分类有一定的</a:t>
            </a:r>
            <a:pPr algn="just" indent="0" marL="0">
              <a:lnSpc>
                <a:spcPts val="2295"/>
              </a:lnSpc>
              <a:spcBef>
                <a:spcPts val="1800"/>
              </a:spcBef>
              <a:buNone/>
            </a:pPr>
            <a:r>
              <a:rPr lang="en-US" sz="135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pPr algn="just" indent="0" marL="0">
              <a:lnSpc>
                <a:spcPts val="2295"/>
              </a:lnSpc>
              <a:spcBef>
                <a:spcPts val="18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，根据不同的标准，人们对研究对象进行不同的分类。在高中化学的学习中，对物质及其变化的分类标准将从物质的</a:t>
            </a:r>
            <a:pPr algn="just" indent="0" marL="0">
              <a:lnSpc>
                <a:spcPts val="2295"/>
              </a:lnSpc>
              <a:spcBef>
                <a:spcPts val="18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组成和性质</a:t>
            </a:r>
            <a:pPr algn="just" indent="0" marL="0">
              <a:lnSpc>
                <a:spcPts val="2295"/>
              </a:lnSpc>
              <a:spcBef>
                <a:spcPts val="18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等宏观视角，拓展到物质的</a:t>
            </a:r>
            <a:pPr algn="just" indent="0" marL="0">
              <a:lnSpc>
                <a:spcPts val="2295"/>
              </a:lnSpc>
              <a:spcBef>
                <a:spcPts val="18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构成、结构和参加化学反应的粒子</a:t>
            </a:r>
            <a:pPr algn="just" indent="0" marL="0">
              <a:lnSpc>
                <a:spcPts val="2295"/>
              </a:lnSpc>
              <a:spcBef>
                <a:spcPts val="18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等微观视角。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6 / 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063901"/>
            <a:ext cx="101501" cy="10794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Network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分类法一　树状分类法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45803"/>
            <a:ext cx="8127950" cy="246013"/>
          </a:xfrm>
          <a:prstGeom prst="roundRect">
            <a:avLst>
              <a:gd name="adj" fmla="val 20649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36525" y="945803"/>
            <a:ext cx="0" cy="246013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2801" y="945803"/>
            <a:ext cx="7869707" cy="24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7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pPr algn="l" indent="0" marL="0">
              <a:lnSpc>
                <a:spcPts val="1937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对同一类事物按照属性进一步进行细化分类的方法，分级，递进，每一级一个分类标准</a:t>
            </a:r>
            <a:endParaRPr lang="en-US" sz="1250" dirty="0"/>
          </a:p>
        </p:txBody>
      </p:sp>
      <p:pic>
        <p:nvPicPr>
          <p:cNvPr id="14" name="Image 2" descr="C:/Obsidion/妙妙屋/09-AI工作区/pptx-化学模板/物质的分类/images-src/p07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1" y="1293316"/>
            <a:ext cx="7873901" cy="2133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7950" y="3553867"/>
            <a:ext cx="8127950" cy="209550"/>
          </a:xfrm>
          <a:prstGeom prst="roundRect">
            <a:avLst>
              <a:gd name="adj" fmla="val 30303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85651" y="3553867"/>
            <a:ext cx="792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同一层级的物质为并列关系 ｜ 上下层级的物质为包含关系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7 / 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911501"/>
            <a:ext cx="101501" cy="12318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Network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树状分类法举例：按物质的组成分类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物质的分类/images-src/p08-im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1" y="869603"/>
            <a:ext cx="7873901" cy="29971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950" y="3968204"/>
            <a:ext cx="8127950" cy="452438"/>
          </a:xfrm>
          <a:prstGeom prst="roundRect">
            <a:avLst>
              <a:gd name="adj" fmla="val 14035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85651" y="3968204"/>
            <a:ext cx="792800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混合物</a:t>
            </a:r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：NaCl溶液、BaSO₄浊液 </a:t>
            </a:r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氧化物</a:t>
            </a:r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：H₂O、CO₂、CaO </a:t>
            </a:r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酸</a:t>
            </a:r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：H₂SO₄ </a:t>
            </a:r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碱</a:t>
            </a:r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：NaOH、Ca(OH)₂ </a:t>
            </a:r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盐</a:t>
            </a:r>
            <a:pPr algn="l" indent="0" marL="0">
              <a:lnSpc>
                <a:spcPts val="178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：Na₂CO₃、CuSO₄、CaCO₃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8 / 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759101"/>
            <a:ext cx="101501" cy="13842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ayoutGrid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分类法二　交叉分类法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20502"/>
            <a:ext cx="427482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根据不同的分类标准，对同一事物进行多种分类的一种分类方法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07950" y="1621482"/>
            <a:ext cx="427482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2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pPr algn="l" indent="0" marL="0">
              <a:lnSpc>
                <a:spcPts val="2160"/>
              </a:lnSpc>
              <a:spcBef>
                <a:spcPts val="12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对一种事物用两种及以上标准分类，物质类别间有相交叉的部分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7950" y="2322463"/>
            <a:ext cx="4274820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基于物质的组成、结构、性质、用途等多角度分类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7950" y="2660154"/>
            <a:ext cx="4274820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根据组成的阳离子分类　｜　根据组成的阴离子分类</a:t>
            </a:r>
            <a:endParaRPr lang="en-US" sz="1200" dirty="0"/>
          </a:p>
        </p:txBody>
      </p:sp>
      <p:pic>
        <p:nvPicPr>
          <p:cNvPr id="15" name="Image 2" descr="C:/Obsidion/妙妙屋/09-AI工作区/pptx-化学模板/物质的分类/images-src/p09-im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920502"/>
            <a:ext cx="3124200" cy="2705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26051" y="3676352"/>
            <a:ext cx="13601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示例：交叉分类法举例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9 / 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594050"/>
            <a:ext cx="101501" cy="15493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Atom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49151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3813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69838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03150"/>
            <a:ext cx="608827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【思考1】利用树状分类法对单质进行分类，可以怎样分类？并举例说明。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7950" y="75872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74920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136452"/>
            <a:ext cx="8127950" cy="684609"/>
          </a:xfrm>
          <a:prstGeom prst="roundRect">
            <a:avLst>
              <a:gd name="adj" fmla="val 7420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36525" y="1136452"/>
            <a:ext cx="0" cy="684609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8251" y="1136452"/>
            <a:ext cx="78177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单质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8251" y="1536502"/>
            <a:ext cx="781779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（1）定义：由同种元素组成的纯净物（同种元素可能会组成不同的单质）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7950" y="2024211"/>
            <a:ext cx="8127950" cy="912465"/>
          </a:xfrm>
          <a:prstGeom prst="roundRect">
            <a:avLst>
              <a:gd name="adj" fmla="val 11135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20626" y="2186136"/>
            <a:ext cx="78566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（2）同素异形体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20626" y="2500461"/>
            <a:ext cx="78566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形成方式　①原子个数不同　②原子排列方式不同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10 / 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441650"/>
            <a:ext cx="101501" cy="17017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Gem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（2）同素异形体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96553"/>
            <a:ext cx="557016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同种元素组成不同的单质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07950" y="1372344"/>
            <a:ext cx="557016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形成方式</a:t>
            </a:r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①原子个数不同 ②原子排列方式不同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7950" y="1748135"/>
            <a:ext cx="557016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性质差异</a:t>
            </a:r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主要体现在物理性质上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7950" y="2123926"/>
            <a:ext cx="557016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相互转化</a:t>
            </a:r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属于化学变化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07950" y="2499717"/>
            <a:ext cx="557016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常见同素异形体</a:t>
            </a:r>
            <a:pPr algn="l" indent="0" marL="0">
              <a:lnSpc>
                <a:spcPts val="2160"/>
              </a:lnSpc>
              <a:spcBef>
                <a:spcPts val="8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①金刚石、石墨和C₆₀ ②O₂和O₃ ③P（红磷）和P₄（白磷）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275634" y="996553"/>
            <a:ext cx="23834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由同种元素组成的物质，一定是纯净物吗？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950" y="3200698"/>
            <a:ext cx="8127950" cy="257175"/>
          </a:xfrm>
          <a:prstGeom prst="roundRect">
            <a:avLst>
              <a:gd name="adj" fmla="val 14815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536525" y="3200698"/>
            <a:ext cx="0" cy="257175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2801" y="3200698"/>
            <a:ext cx="78697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由同种元素组成的物质，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不一定是纯净物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。如氧气（O₂）和臭氧（O₃）的混合物。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11 / 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289250"/>
            <a:ext cx="101501" cy="18541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FlaskRound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49151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3813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69838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03150"/>
            <a:ext cx="608827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【思考2】利用树状分类法对氧化物进行分类，可以怎样分类？并举例说明。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7950" y="75872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74920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物质的分类/images-src/p12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1" y="984052"/>
            <a:ext cx="7873901" cy="33400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12 / 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136850"/>
            <a:ext cx="101501" cy="20065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FlaskConical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【阅读材料】几种氧化物的重要化学性质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69603"/>
            <a:ext cx="3981450" cy="1685181"/>
          </a:xfrm>
          <a:prstGeom prst="roundRect">
            <a:avLst>
              <a:gd name="adj" fmla="val 6029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17475" y="879128"/>
            <a:ext cx="3962400" cy="345877"/>
          </a:xfrm>
          <a:prstGeom prst="roundRect">
            <a:avLst>
              <a:gd name="adj" fmla="val 25703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085975" y="942529"/>
            <a:ext cx="8419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酸性氧化物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9875" y="1326505"/>
            <a:ext cx="3730752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Bef>
                <a:spcPts val="8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与水反应只生成相应价态的酸，如：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69875" y="1596182"/>
            <a:ext cx="37307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SO₂ + H₂O = H₂SO₃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69875" y="1910507"/>
            <a:ext cx="3730752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或与碱反应只生成一种盐和水，如：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69875" y="2180183"/>
            <a:ext cx="37307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SO₂ + 2NaOH = Na₂SO₃ + H₂O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654451" y="869603"/>
            <a:ext cx="3981450" cy="1685181"/>
          </a:xfrm>
          <a:prstGeom prst="roundRect">
            <a:avLst>
              <a:gd name="adj" fmla="val 6029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663976" y="879128"/>
            <a:ext cx="3962400" cy="345877"/>
          </a:xfrm>
          <a:prstGeom prst="roundRect">
            <a:avLst>
              <a:gd name="adj" fmla="val 25703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32475" y="942529"/>
            <a:ext cx="8419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碱性氧化物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816376" y="1326505"/>
            <a:ext cx="3730752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Bef>
                <a:spcPts val="8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与水反应只生成相应价态的碱，如：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16376" y="1596182"/>
            <a:ext cx="37307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Na₂O + H₂O = 2NaOH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816376" y="1910507"/>
            <a:ext cx="3730752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或与酸反应只生成一种盐和水，如：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816376" y="2180183"/>
            <a:ext cx="37307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Na₂O + 2HCl = 2NaCl + H₂O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07950" y="2707184"/>
            <a:ext cx="8127950" cy="704404"/>
          </a:xfrm>
          <a:prstGeom prst="roundRect">
            <a:avLst>
              <a:gd name="adj" fmla="val 5409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531763" y="2707184"/>
            <a:ext cx="0" cy="704404"/>
          </a:xfrm>
          <a:prstGeom prst="line">
            <a:avLst/>
          </a:prstGeom>
          <a:noFill/>
          <a:ln w="47625">
            <a:solidFill>
              <a:srgbClr val="E8A3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07975" y="2796034"/>
            <a:ext cx="7931036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已知 3NO₂ + H₂O = 2HNO₃ + NO，</a:t>
            </a:r>
            <a:pPr algn="l" indent="0" marL="0">
              <a:lnSpc>
                <a:spcPts val="172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NO₂ 是酸性氧化物吗？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707975" y="3103811"/>
            <a:ext cx="7931036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已知 2Na₂O₂ + 2H₂O = 4NaOH + O₂↑，</a:t>
            </a:r>
            <a:pPr algn="l" indent="0" marL="0">
              <a:lnSpc>
                <a:spcPts val="1725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Na₂O₂ 是碱性氧化物吗？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13 / 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984450"/>
            <a:ext cx="101501" cy="21589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RefreshCw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497681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48666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518368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03150"/>
            <a:ext cx="6088279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［思考］物质组成和性质之间是否存在某种关联？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1055787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1046262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物质的分类/images-src/p14-f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51" y="1255663"/>
            <a:ext cx="6858000" cy="2717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950" y="4100364"/>
            <a:ext cx="8127950" cy="228600"/>
          </a:xfrm>
          <a:prstGeom prst="roundRect">
            <a:avLst>
              <a:gd name="adj" fmla="val 27778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07926" y="4100364"/>
            <a:ext cx="792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大多数金属氧化物是碱性氧化物　｜　大多数非金属氧化物是酸性氧化物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14 / 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832050"/>
            <a:ext cx="101501" cy="23113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riangleAlert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辨析：这些「一定」对吗？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45803"/>
            <a:ext cx="8127950" cy="113794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95176" y="1082278"/>
            <a:ext cx="7908569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① 非金属氧化物一定是酸性氧化物吗？酸性氧化物一定是非金属氧化物吗？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5176" y="1474887"/>
            <a:ext cx="790856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pPr algn="l" indent="0" marL="0">
              <a:lnSpc>
                <a:spcPts val="186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非金属氧化物大多是酸性氧化物，但不一定全是，如NO、CO不是酸性氧化物；酸性氧化物也不一定是非金属氧化物，如Mn₂O₇是酸性氧化物，但却是金属氧化物。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7950" y="2236143"/>
            <a:ext cx="8127950" cy="113794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95176" y="2372618"/>
            <a:ext cx="7908569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② 金属氧化物一定是碱性氧化物吗？碱性氧化物一定是金属氧化物吗？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95176" y="2765227"/>
            <a:ext cx="790856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pPr algn="l" indent="0" marL="0">
              <a:lnSpc>
                <a:spcPts val="186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金属氧化物大多是碱性氧化物，但不一定全是，如Al₂O₃是金属氧化物，却是两性氧化物；碱性氧化物一定是金属氧化物。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15 / 30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679650"/>
            <a:ext cx="101501" cy="24637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abl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49151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3813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69838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03150"/>
            <a:ext cx="608827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【思考3】利用树状分类法对酸进行分类，可以怎样分类？并举例说明。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7950" y="75872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74920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物质的分类/images-src/p16-f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50" y="984052"/>
            <a:ext cx="7746950" cy="3746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16 / 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514600"/>
            <a:ext cx="101501" cy="26289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abl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49151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3813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69838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03150"/>
            <a:ext cx="608827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【思考4】利用树状分类法对碱进行分类，可以怎样分类？并举例说明。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7950" y="75872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74920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物质的分类/images-src/p17-im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1" y="1009352"/>
            <a:ext cx="7873901" cy="3390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17 / 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362200"/>
            <a:ext cx="101501" cy="27813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abl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49151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3813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69838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03150"/>
            <a:ext cx="608827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【思考5】利用树状分类法对盐进行分类，可以怎样分类？并举例说明。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7950" y="75872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74920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物质的分类/images-src/p18-im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50" y="1009352"/>
            <a:ext cx="5079950" cy="34924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/ 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209800"/>
            <a:ext cx="101501" cy="2933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st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5680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4181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1 · 分类标准与方法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33055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【思考交流】化学反应的分类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031379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在初中我们学习过四种基本化学反应类型，它们是按照什么标准进行分类的？将化学反应又可以按照哪些不同的标准进行分类呢？</a:t>
            </a:r>
            <a:endParaRPr lang="en-US" sz="1300" dirty="0"/>
          </a:p>
        </p:txBody>
      </p:sp>
      <p:pic>
        <p:nvPicPr>
          <p:cNvPr id="12" name="Image 2" descr="C:/Obsidion/妙妙屋/09-AI工作区/pptx-化学模板/物质的分类/images-src/p19-f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50" y="1415504"/>
            <a:ext cx="7746950" cy="33019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19 / 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01501" cy="30861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KeyRound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174700" y="971252"/>
            <a:ext cx="2539901" cy="400050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968401" y="1047452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树状分类法</a:t>
            </a:r>
            <a:endParaRPr lang="en-US" sz="1500" dirty="0"/>
          </a:p>
        </p:txBody>
      </p:sp>
      <p:pic>
        <p:nvPicPr>
          <p:cNvPr id="13" name="Image 2" descr="C:/Obsidion/妙妙屋/09-AI工作区/pptx-化学模板/物质的分类/images-src/p20-im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00" y="1498253"/>
            <a:ext cx="2158901" cy="23241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371" y="3923854"/>
            <a:ext cx="37565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特点：同层次中各类别间相互独立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429250" y="971252"/>
            <a:ext cx="2539901" cy="400050"/>
          </a:xfrm>
          <a:prstGeom prst="roundRect">
            <a:avLst>
              <a:gd name="adj" fmla="val 19048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222950" y="1047452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交叉分类法</a:t>
            </a:r>
            <a:endParaRPr lang="en-US" sz="1500" dirty="0"/>
          </a:p>
        </p:txBody>
      </p:sp>
      <p:pic>
        <p:nvPicPr>
          <p:cNvPr id="17" name="Image 3" descr="C:/Obsidion/妙妙屋/09-AI工作区/pptx-化学模板/物质的分类/images-src/p20-img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0" y="1549003"/>
            <a:ext cx="2920901" cy="21081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20921" y="3809554"/>
            <a:ext cx="37565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特点：物质类别间有相交叉的部分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20 / 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0"/>
            <a:ext cx="101501" cy="32385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PenLin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31415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159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2 · 典例与练习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79154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典例 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1279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07950" y="849064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31138" y="844302"/>
            <a:ext cx="0" cy="495151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7950" y="1334691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6525" y="844302"/>
            <a:ext cx="0" cy="495151"/>
          </a:xfrm>
          <a:prstGeom prst="line">
            <a:avLst/>
          </a:prstGeom>
          <a:noFill/>
          <a:ln w="57150">
            <a:solidFill>
              <a:srgbClr val="1B43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2801" y="968127"/>
            <a:ext cx="785999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【典例1】下列各组物质，按化合物、单质、混合物的顺序排列的是（　　）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950" y="1440954"/>
            <a:ext cx="8031379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A．干冰、铁、氯化氢　　B．生石灰、白磷、熟石灰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7950" y="1721495"/>
            <a:ext cx="8031379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C．烧碱、液态氧、碘酒　　D．空气、氮气、胆矾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7950" y="2103537"/>
            <a:ext cx="1676400" cy="390525"/>
          </a:xfrm>
          <a:prstGeom prst="roundRect">
            <a:avLst>
              <a:gd name="adj" fmla="val 1951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94869" y="2179737"/>
            <a:ext cx="15025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答案：C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7950" y="2595563"/>
            <a:ext cx="8127950" cy="628650"/>
          </a:xfrm>
          <a:prstGeom prst="roundRect">
            <a:avLst>
              <a:gd name="adj" fmla="val 10101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85651" y="2595563"/>
            <a:ext cx="792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解析】A．氯化氢是纯净物，不是混合物，A项错误；B．熟石灰是纯净物，不是混合物，B项错误；C．烧碱的化学式为NaOH，属于化合物；液态氧的化学式为O₂，属于单质；碘酒是碘的酒精溶液，属于混合物。C项正确；D．空气是由N₂、O₂等气体组成的混合物，不是化合物，胆矾是纯净物不是混合物，D项错误。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21 / 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752600"/>
            <a:ext cx="101501" cy="33909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PenLin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31415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159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2 · 典例与练习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79154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典例 2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1279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07950" y="849064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31138" y="844302"/>
            <a:ext cx="0" cy="495151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7950" y="1334691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6525" y="844302"/>
            <a:ext cx="0" cy="495151"/>
          </a:xfrm>
          <a:prstGeom prst="line">
            <a:avLst/>
          </a:prstGeom>
          <a:noFill/>
          <a:ln w="57150">
            <a:solidFill>
              <a:srgbClr val="1B43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2801" y="968127"/>
            <a:ext cx="785999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【典例2】将下列各组物质分类正确的是（　　）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950" y="1440954"/>
            <a:ext cx="8031379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A．酸：硫酸、醋酸、NaHSO₄、硝酸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7950" y="1721495"/>
            <a:ext cx="8031379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B．同素异形体：金刚石、石墨、C₆₀、无定形碳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7950" y="2002036"/>
            <a:ext cx="8031379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C．盐：生石灰、硝酸钾、CaCO₃、苛性钠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7950" y="2282577"/>
            <a:ext cx="8031379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D．碱：纯碱、烧碱、乙醇、熟石灰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07950" y="2664619"/>
            <a:ext cx="1676400" cy="390525"/>
          </a:xfrm>
          <a:prstGeom prst="roundRect">
            <a:avLst>
              <a:gd name="adj" fmla="val 1951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94869" y="2740819"/>
            <a:ext cx="15025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答案：B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07950" y="3156645"/>
            <a:ext cx="8127950" cy="628650"/>
          </a:xfrm>
          <a:prstGeom prst="roundRect">
            <a:avLst>
              <a:gd name="adj" fmla="val 10101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85651" y="3156645"/>
            <a:ext cx="7928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解析】A．酸是电离出的阳离子都是氢离子的物质，NaHSO₄不是酸，故A错误；B．同素异形体是同种元素形成的不同单质，金刚石、石墨、C₆₀、无定形碳都是碳元素形成的不同单质，故B正确；C．生石灰是氧化物，不是盐，故C错误；D．纯碱为盐，乙醇是有机物不是碱，故D错误；故选B。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22 / 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600200"/>
            <a:ext cx="101501" cy="35433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PenLin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31415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159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2 · 典例与练习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79154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典例 3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1279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07950" y="849064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31138" y="844302"/>
            <a:ext cx="0" cy="495151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7950" y="1334691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6525" y="844302"/>
            <a:ext cx="0" cy="495151"/>
          </a:xfrm>
          <a:prstGeom prst="line">
            <a:avLst/>
          </a:prstGeom>
          <a:noFill/>
          <a:ln w="57150">
            <a:solidFill>
              <a:srgbClr val="1B43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2801" y="968127"/>
            <a:ext cx="785999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【典例3】化学概念在逻辑上存在如下关系：</a:t>
            </a:r>
            <a:endParaRPr lang="en-US" sz="1300" dirty="0"/>
          </a:p>
        </p:txBody>
      </p:sp>
      <p:pic>
        <p:nvPicPr>
          <p:cNvPr id="17" name="Image 2" descr="C:/Obsidion/妙妙屋/09-AI工作区/pptx-化学模板/物质的分类/images-src/p23-img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701" y="1415653"/>
            <a:ext cx="5448300" cy="1447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7950" y="2964954"/>
            <a:ext cx="80313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对下列概念的说法正确的是（　　）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7950" y="3219004"/>
            <a:ext cx="80313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A．化合物与纯净物属于重叠关系　　B．化合物与碱性氧化物属于交叉关系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07950" y="3473053"/>
            <a:ext cx="803137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C．分解反应与复分解反应属于并列关系　　D．硫酸与硝酸只有交叉关系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7950" y="3803303"/>
            <a:ext cx="1676400" cy="390525"/>
          </a:xfrm>
          <a:prstGeom prst="roundRect">
            <a:avLst>
              <a:gd name="adj" fmla="val 1951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94869" y="3879503"/>
            <a:ext cx="15025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答案：C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07950" y="4295329"/>
            <a:ext cx="8127950" cy="419100"/>
          </a:xfrm>
          <a:prstGeom prst="roundRect">
            <a:avLst>
              <a:gd name="adj" fmla="val 15152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85651" y="4295329"/>
            <a:ext cx="792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【解析】纯净物与化合物、化合物与碱性氧化物属于包含关系；分解反应与复分解反应属于并列关系；硫酸与硝酸既有交叉关系（都是含氧酸），又有并列关系（一元酸、二元酸）。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23 / 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435001"/>
            <a:ext cx="101501" cy="37083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PenLin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31415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159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2 · 典例与练习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79154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典例 4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127950" cy="7239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07950" y="849064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31138" y="844302"/>
            <a:ext cx="0" cy="72390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7950" y="1563439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6525" y="844302"/>
            <a:ext cx="0" cy="723900"/>
          </a:xfrm>
          <a:prstGeom prst="line">
            <a:avLst/>
          </a:prstGeom>
          <a:noFill/>
          <a:ln w="57150">
            <a:solidFill>
              <a:srgbClr val="1B43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2801" y="968127"/>
            <a:ext cx="785999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【典例4】奥运五环代表着世界人民团结在一起。下列各项中的物质，能满足如图中阴影部分关系的是（　　）</a:t>
            </a:r>
            <a:endParaRPr lang="en-US" sz="1250" dirty="0"/>
          </a:p>
        </p:txBody>
      </p:sp>
      <p:pic>
        <p:nvPicPr>
          <p:cNvPr id="17" name="Image 2" descr="C:/Obsidion/妙妙屋/09-AI工作区/pptx-化学模板/物质的分类/images-src/p24-img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1771352"/>
            <a:ext cx="3810000" cy="12318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46550" y="1644402"/>
            <a:ext cx="577751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615159" y="1730127"/>
            <a:ext cx="440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选项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124301" y="1644402"/>
            <a:ext cx="755600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191131" y="1730127"/>
            <a:ext cx="6217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879902" y="1644402"/>
            <a:ext cx="755600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5946731" y="1730127"/>
            <a:ext cx="6217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635502" y="1644402"/>
            <a:ext cx="755600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702332" y="1730127"/>
            <a:ext cx="6217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391102" y="1644402"/>
            <a:ext cx="857250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7457066" y="1730127"/>
            <a:ext cx="725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46550" y="2006352"/>
            <a:ext cx="577751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615159" y="2092077"/>
            <a:ext cx="440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124301" y="200635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5204185" y="209847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NaCl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879902" y="200635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5959785" y="209847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K₂SO₄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635502" y="200635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6715385" y="209847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KCl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7391102" y="2006352"/>
            <a:ext cx="857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7469969" y="2098477"/>
            <a:ext cx="6995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(NH₄)₂SO₄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4546550" y="2368302"/>
            <a:ext cx="577751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4615159" y="2454027"/>
            <a:ext cx="440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124301" y="236830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5204185" y="246042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Na₂SO₄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5879902" y="236830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5959785" y="246042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K₂SO₄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6635502" y="236830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6715385" y="246042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KCl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7391102" y="2368302"/>
            <a:ext cx="857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7469969" y="2460427"/>
            <a:ext cx="6995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NH₄Cl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4546550" y="2730252"/>
            <a:ext cx="577751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4615159" y="2815977"/>
            <a:ext cx="440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5124301" y="273025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6"/>
          <p:cNvSpPr/>
          <p:nvPr/>
        </p:nvSpPr>
        <p:spPr>
          <a:xfrm>
            <a:off x="5204185" y="282237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NaCl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5879902" y="273025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5959785" y="282237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Na₂SO₄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6635502" y="273025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0"/>
          <p:cNvSpPr/>
          <p:nvPr/>
        </p:nvSpPr>
        <p:spPr>
          <a:xfrm>
            <a:off x="6715385" y="282237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KNO₃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7391102" y="2730252"/>
            <a:ext cx="857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2"/>
          <p:cNvSpPr/>
          <p:nvPr/>
        </p:nvSpPr>
        <p:spPr>
          <a:xfrm>
            <a:off x="7469969" y="2822377"/>
            <a:ext cx="6995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NH₄Cl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4546550" y="3092202"/>
            <a:ext cx="577751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4"/>
          <p:cNvSpPr/>
          <p:nvPr/>
        </p:nvSpPr>
        <p:spPr>
          <a:xfrm>
            <a:off x="4615159" y="3177927"/>
            <a:ext cx="440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60" name="Text 55"/>
          <p:cNvSpPr/>
          <p:nvPr/>
        </p:nvSpPr>
        <p:spPr>
          <a:xfrm>
            <a:off x="5124301" y="309220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5204185" y="318432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Na₂SO₄</a:t>
            </a:r>
            <a:endParaRPr lang="en-US" sz="1000" dirty="0"/>
          </a:p>
        </p:txBody>
      </p:sp>
      <p:sp>
        <p:nvSpPr>
          <p:cNvPr id="62" name="Text 57"/>
          <p:cNvSpPr/>
          <p:nvPr/>
        </p:nvSpPr>
        <p:spPr>
          <a:xfrm>
            <a:off x="5879902" y="309220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5959785" y="318432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K₂SO₄</a:t>
            </a:r>
            <a:endParaRPr lang="en-US" sz="1000" dirty="0"/>
          </a:p>
        </p:txBody>
      </p:sp>
      <p:sp>
        <p:nvSpPr>
          <p:cNvPr id="64" name="Text 59"/>
          <p:cNvSpPr/>
          <p:nvPr/>
        </p:nvSpPr>
        <p:spPr>
          <a:xfrm>
            <a:off x="6635502" y="3092202"/>
            <a:ext cx="755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6715385" y="3184327"/>
            <a:ext cx="5958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KNO₃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7391102" y="3092202"/>
            <a:ext cx="857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2"/>
          <p:cNvSpPr/>
          <p:nvPr/>
        </p:nvSpPr>
        <p:spPr>
          <a:xfrm>
            <a:off x="7469969" y="3184327"/>
            <a:ext cx="6995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(NH₄)₂SO₄</a:t>
            </a:r>
            <a:endParaRPr lang="en-US" sz="1000" dirty="0"/>
          </a:p>
        </p:txBody>
      </p:sp>
      <p:sp>
        <p:nvSpPr>
          <p:cNvPr id="68" name="Text 63"/>
          <p:cNvSpPr/>
          <p:nvPr/>
        </p:nvSpPr>
        <p:spPr>
          <a:xfrm>
            <a:off x="507950" y="3530352"/>
            <a:ext cx="1676400" cy="390525"/>
          </a:xfrm>
          <a:prstGeom prst="roundRect">
            <a:avLst>
              <a:gd name="adj" fmla="val 1951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4"/>
          <p:cNvSpPr/>
          <p:nvPr/>
        </p:nvSpPr>
        <p:spPr>
          <a:xfrm>
            <a:off x="594869" y="3606552"/>
            <a:ext cx="15025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答案：B</a:t>
            </a:r>
            <a:endParaRPr lang="en-US" sz="1400" dirty="0"/>
          </a:p>
        </p:txBody>
      </p:sp>
      <p:sp>
        <p:nvSpPr>
          <p:cNvPr id="70" name="Text 65"/>
          <p:cNvSpPr/>
          <p:nvPr/>
        </p:nvSpPr>
        <p:spPr>
          <a:xfrm>
            <a:off x="507950" y="4022378"/>
            <a:ext cx="8127950" cy="800100"/>
          </a:xfrm>
          <a:prstGeom prst="roundRect">
            <a:avLst>
              <a:gd name="adj" fmla="val 7937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6"/>
          <p:cNvSpPr/>
          <p:nvPr/>
        </p:nvSpPr>
        <p:spPr>
          <a:xfrm>
            <a:off x="685651" y="4022378"/>
            <a:ext cx="792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解析】A．NaCl是钠盐、盐酸盐，不是硫酸盐，(NH₄)₂SO₄是铵盐、硫酸盐，不是盐酸盐，A错误；B．Na₂SO₄是钠盐、硫酸盐，K₂SO₄是钾盐、硫酸盐，KCl是钾盐、盐酸盐，NH₄Cl是铵盐、盐酸盐，B正确；C．NaCl是钠盐、盐酸盐，不是硫酸盐，KNO₃是钾盐、硝酸盐，不是盐酸盐，C错误；D．KNO₃是钾盐、硝酸盐，不是盐酸盐，(NH₄)₂SO₄是铵盐、硫酸盐，不是盐酸盐，D错误；答案选B。</a:t>
            </a:r>
            <a:endParaRPr lang="en-US" sz="1050" dirty="0"/>
          </a:p>
        </p:txBody>
      </p:sp>
      <p:sp>
        <p:nvSpPr>
          <p:cNvPr id="72" name="Text 67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8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24 / 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282601"/>
            <a:ext cx="101501" cy="386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Search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31415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159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2 · 典例与练习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79154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典例 5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127950" cy="48577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07950" y="849064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31138" y="844302"/>
            <a:ext cx="0" cy="485775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7950" y="1325314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6525" y="844302"/>
            <a:ext cx="0" cy="485775"/>
          </a:xfrm>
          <a:prstGeom prst="line">
            <a:avLst/>
          </a:prstGeom>
          <a:noFill/>
          <a:ln w="57150">
            <a:solidFill>
              <a:srgbClr val="1B43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2801" y="968127"/>
            <a:ext cx="78599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【典例5】下列五组物质，每组中有一种物质从某种角度分析与其他三种不同，请找出该物质，并说明理由。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07950" y="1431578"/>
            <a:ext cx="8127950" cy="1326952"/>
          </a:xfrm>
          <a:prstGeom prst="roundRect">
            <a:avLst>
              <a:gd name="adj" fmla="val 5742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95176" y="1555403"/>
            <a:ext cx="7908569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spcBef>
                <a:spcPts val="900"/>
              </a:spcBef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（1）Fe、S、C、P　＿＿＿＿＿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95176" y="1825228"/>
            <a:ext cx="7908569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（2）H₂、O₂、N₂、S　＿＿＿＿＿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95176" y="2095054"/>
            <a:ext cx="7908569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（3）Fe₂O₃、Na₂CO₃、CuO、H₂O　＿＿＿＿＿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95176" y="2364879"/>
            <a:ext cx="7908569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（4）AgCl、BaSO₄、KNO₃、CaCO₃　＿＿＿＿＿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07950" y="2885480"/>
            <a:ext cx="8127950" cy="487561"/>
          </a:xfrm>
          <a:prstGeom prst="roundRect">
            <a:avLst>
              <a:gd name="adj" fmla="val 1562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85651" y="2885480"/>
            <a:ext cx="79280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Fe；Fe为金属　｜　S；常温下S为固体　｜　Na₂CO₃；Na₂CO₃为盐　｜　KNO₃；KNO₃易溶于水（或AgCl；AgCl酸根离子中不含氧）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25 / 30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130201"/>
            <a:ext cx="101501" cy="40131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stChecks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31415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159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2 · 典例与练习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79154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课堂检测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127950" cy="961727"/>
          </a:xfrm>
          <a:prstGeom prst="roundRect">
            <a:avLst>
              <a:gd name="adj" fmla="val 10564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95176" y="968127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1．Na₂CO₃、NaCl、NaOH、Na₂SO₄可按某种标准划分为一类物质，下列分类标准不正确的是（　　）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95176" y="1187053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A．钠的化合物　B．纯净物　C．钠盐　D．无机物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95176" y="1482179"/>
            <a:ext cx="7908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答案：C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7950" y="1932980"/>
            <a:ext cx="8127950" cy="1837432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95176" y="2056805"/>
            <a:ext cx="7908569" cy="437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2．已知由碳元素组成的单质有金刚石、石墨和足球烯（C₆₀）等，由氧元素组成的单质有O₂和O₃，下列说法不正确的是（　　）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95176" y="2494657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A．一种元素可能形成两种或两种以上不同的单质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95176" y="2713583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B．单质的种类一定多于元素的种类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95176" y="2932509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C．由同一种元素形成的几种单质互为同素异形体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95176" y="3151436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D．金刚石、石墨和足球烯（C₆₀）在氧气中燃烧都只能生成一种物质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95176" y="3446562"/>
            <a:ext cx="7908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答案：D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26 / 30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977801"/>
            <a:ext cx="101501" cy="41655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stChecks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31415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159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2 · 典例与练习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79154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课堂检测（续）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127950" cy="2215902"/>
          </a:xfrm>
          <a:prstGeom prst="roundRect">
            <a:avLst>
              <a:gd name="adj" fmla="val 4585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95176" y="968127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3．物质的分类如图所示：</a:t>
            </a:r>
            <a:endParaRPr lang="en-US" sz="1150" dirty="0"/>
          </a:p>
        </p:txBody>
      </p:sp>
      <p:pic>
        <p:nvPicPr>
          <p:cNvPr id="13" name="Image 2" descr="C:/Obsidion/妙妙屋/09-AI工作区/pptx-化学模板/物质的分类/images-src/p27-im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76" y="1237804"/>
            <a:ext cx="3390900" cy="1447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63777" y="1414314"/>
            <a:ext cx="414517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由图判断下列说法中不正确的是（　　）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263777" y="1633240"/>
            <a:ext cx="414517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A．图甲所示的分类方法属于树状分类法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263777" y="1852166"/>
            <a:ext cx="414517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B．图乙所示的分类方法属于交叉分类法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263777" y="2071092"/>
            <a:ext cx="414517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C．碱性氧化物一定是金属氧化物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263777" y="2290018"/>
            <a:ext cx="414517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D．非金属氧化物一定是酸性氧化物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95176" y="2736354"/>
            <a:ext cx="7908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答案：D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7950" y="3187154"/>
            <a:ext cx="8127950" cy="1618506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95176" y="3310979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4．下列物质的分类正确的一组是（　　）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95176" y="3529905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A．冰水混合物、水银、澄清石灰水、淀粉属于混合物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95176" y="3748832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B．NaHSO₄、HCl、HNO₃在水中能电离出氢离子，按分类属于酸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95176" y="3967758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C．非金属氧化物CO₂、CO、SO₃均为酸性氧化物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95176" y="4186684"/>
            <a:ext cx="7908569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D．冰醋酸、酒精属于有机物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95176" y="4481810"/>
            <a:ext cx="7908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答案：D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27 / 30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825401"/>
            <a:ext cx="101501" cy="43179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stChecks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31415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159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2 · 典例与练习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79154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课堂检测（续）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1279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07950" y="849064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31138" y="844302"/>
            <a:ext cx="0" cy="495151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7950" y="1334691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6525" y="844302"/>
            <a:ext cx="0" cy="495151"/>
          </a:xfrm>
          <a:prstGeom prst="line">
            <a:avLst/>
          </a:prstGeom>
          <a:noFill/>
          <a:ln w="57150">
            <a:solidFill>
              <a:srgbClr val="1B43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2801" y="968127"/>
            <a:ext cx="785999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5．下列物质的分类正确的是（　　）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950" y="1466404"/>
            <a:ext cx="519857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027807" y="1466404"/>
            <a:ext cx="1521619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1076197" y="1552129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碱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549426" y="1466404"/>
            <a:ext cx="1521619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597816" y="1552129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酸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071045" y="1466404"/>
            <a:ext cx="1521619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119435" y="1552129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盐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592663" y="1466404"/>
            <a:ext cx="1521619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641053" y="1552129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碱性氧化物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114282" y="1466404"/>
            <a:ext cx="1521619" cy="36195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162672" y="1552129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酸性氧化物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7950" y="1828354"/>
            <a:ext cx="501551" cy="36701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64416" y="1916609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1009501" y="182835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1081510" y="191407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Na₂CO₃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2552551" y="182835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2624560" y="191407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H₂SO₄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095601" y="182835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167610" y="191407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NaOH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638651" y="182835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710660" y="191407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SO₂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7181701" y="182835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7253710" y="191407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CO₂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07950" y="2195364"/>
            <a:ext cx="501551" cy="36701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564416" y="2283619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1009501" y="219536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1081510" y="228108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NaOH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2552551" y="219536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2624560" y="228108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HCl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4095601" y="219536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4167610" y="228108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NaCl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5638651" y="219536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5710660" y="228108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Na₂O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7181701" y="219536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7253710" y="228108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NO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507950" y="2562374"/>
            <a:ext cx="501551" cy="36701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564416" y="2650629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1009501" y="256237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1081510" y="264809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KOH</a:t>
            </a:r>
            <a:endParaRPr lang="en-US" sz="1100" dirty="0"/>
          </a:p>
        </p:txBody>
      </p:sp>
      <p:sp>
        <p:nvSpPr>
          <p:cNvPr id="56" name="Text 52"/>
          <p:cNvSpPr/>
          <p:nvPr/>
        </p:nvSpPr>
        <p:spPr>
          <a:xfrm>
            <a:off x="2552551" y="256237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2624560" y="264809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HNO₃</a:t>
            </a:r>
            <a:endParaRPr lang="en-US" sz="1100" dirty="0"/>
          </a:p>
        </p:txBody>
      </p:sp>
      <p:sp>
        <p:nvSpPr>
          <p:cNvPr id="58" name="Text 54"/>
          <p:cNvSpPr/>
          <p:nvPr/>
        </p:nvSpPr>
        <p:spPr>
          <a:xfrm>
            <a:off x="4095601" y="256237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4167610" y="264809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CaCO₃</a:t>
            </a:r>
            <a:endParaRPr lang="en-US" sz="1100" dirty="0"/>
          </a:p>
        </p:txBody>
      </p:sp>
      <p:sp>
        <p:nvSpPr>
          <p:cNvPr id="60" name="Text 56"/>
          <p:cNvSpPr/>
          <p:nvPr/>
        </p:nvSpPr>
        <p:spPr>
          <a:xfrm>
            <a:off x="5638651" y="256237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5710660" y="264809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CaO</a:t>
            </a:r>
            <a:endParaRPr lang="en-US" sz="1100" dirty="0"/>
          </a:p>
        </p:txBody>
      </p:sp>
      <p:sp>
        <p:nvSpPr>
          <p:cNvPr id="62" name="Text 58"/>
          <p:cNvSpPr/>
          <p:nvPr/>
        </p:nvSpPr>
        <p:spPr>
          <a:xfrm>
            <a:off x="7181701" y="256237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7253710" y="264809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Mn₂O₇</a:t>
            </a:r>
            <a:endParaRPr lang="en-US" sz="1100" dirty="0"/>
          </a:p>
        </p:txBody>
      </p:sp>
      <p:sp>
        <p:nvSpPr>
          <p:cNvPr id="64" name="Text 60"/>
          <p:cNvSpPr/>
          <p:nvPr/>
        </p:nvSpPr>
        <p:spPr>
          <a:xfrm>
            <a:off x="507950" y="2929384"/>
            <a:ext cx="501551" cy="367010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564416" y="3017639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66" name="Text 62"/>
          <p:cNvSpPr/>
          <p:nvPr/>
        </p:nvSpPr>
        <p:spPr>
          <a:xfrm>
            <a:off x="1009501" y="292938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1081510" y="301510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NaOH</a:t>
            </a:r>
            <a:endParaRPr lang="en-US" sz="1100" dirty="0"/>
          </a:p>
        </p:txBody>
      </p:sp>
      <p:sp>
        <p:nvSpPr>
          <p:cNvPr id="68" name="Text 64"/>
          <p:cNvSpPr/>
          <p:nvPr/>
        </p:nvSpPr>
        <p:spPr>
          <a:xfrm>
            <a:off x="2552551" y="292938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2624560" y="301510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HCl</a:t>
            </a:r>
            <a:endParaRPr lang="en-US" sz="1100" dirty="0"/>
          </a:p>
        </p:txBody>
      </p:sp>
      <p:sp>
        <p:nvSpPr>
          <p:cNvPr id="70" name="Text 66"/>
          <p:cNvSpPr/>
          <p:nvPr/>
        </p:nvSpPr>
        <p:spPr>
          <a:xfrm>
            <a:off x="4095601" y="292938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4167610" y="301510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CaF₂</a:t>
            </a:r>
            <a:endParaRPr lang="en-US" sz="1100" dirty="0"/>
          </a:p>
        </p:txBody>
      </p:sp>
      <p:sp>
        <p:nvSpPr>
          <p:cNvPr id="72" name="Text 68"/>
          <p:cNvSpPr/>
          <p:nvPr/>
        </p:nvSpPr>
        <p:spPr>
          <a:xfrm>
            <a:off x="5638651" y="292938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9"/>
          <p:cNvSpPr/>
          <p:nvPr/>
        </p:nvSpPr>
        <p:spPr>
          <a:xfrm>
            <a:off x="5710660" y="301510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Na₂O₂</a:t>
            </a:r>
            <a:endParaRPr lang="en-US" sz="1100" dirty="0"/>
          </a:p>
        </p:txBody>
      </p:sp>
      <p:sp>
        <p:nvSpPr>
          <p:cNvPr id="74" name="Text 70"/>
          <p:cNvSpPr/>
          <p:nvPr/>
        </p:nvSpPr>
        <p:spPr>
          <a:xfrm>
            <a:off x="7181701" y="2929384"/>
            <a:ext cx="1543050" cy="36701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7253710" y="3015109"/>
            <a:ext cx="139903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SO₂</a:t>
            </a:r>
            <a:endParaRPr lang="en-US" sz="1100" dirty="0"/>
          </a:p>
        </p:txBody>
      </p:sp>
      <p:sp>
        <p:nvSpPr>
          <p:cNvPr id="76" name="Text 72"/>
          <p:cNvSpPr/>
          <p:nvPr/>
        </p:nvSpPr>
        <p:spPr>
          <a:xfrm>
            <a:off x="507950" y="3448794"/>
            <a:ext cx="1676400" cy="390525"/>
          </a:xfrm>
          <a:prstGeom prst="roundRect">
            <a:avLst>
              <a:gd name="adj" fmla="val 1951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3"/>
          <p:cNvSpPr/>
          <p:nvPr/>
        </p:nvSpPr>
        <p:spPr>
          <a:xfrm>
            <a:off x="594869" y="3524994"/>
            <a:ext cx="15025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答案：C</a:t>
            </a:r>
            <a:endParaRPr lang="en-US" sz="1400" dirty="0"/>
          </a:p>
        </p:txBody>
      </p:sp>
      <p:sp>
        <p:nvSpPr>
          <p:cNvPr id="78" name="Text 74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5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28 / 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673001"/>
            <a:ext cx="101501" cy="44703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stChecks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131415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11591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主题 2 · 典例与练习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79154" y="220861"/>
            <a:ext cx="608827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课堂检测（续）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44302"/>
            <a:ext cx="8127950" cy="7239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07950" y="849064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31138" y="844302"/>
            <a:ext cx="0" cy="72390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7950" y="1563439"/>
            <a:ext cx="8127950" cy="0"/>
          </a:xfrm>
          <a:prstGeom prst="line">
            <a:avLst/>
          </a:prstGeom>
          <a:noFill/>
          <a:ln w="9525">
            <a:solidFill>
              <a:srgbClr val="DDD6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6525" y="844302"/>
            <a:ext cx="0" cy="723900"/>
          </a:xfrm>
          <a:prstGeom prst="line">
            <a:avLst/>
          </a:prstGeom>
          <a:noFill/>
          <a:ln w="57150">
            <a:solidFill>
              <a:srgbClr val="1B43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2801" y="968127"/>
            <a:ext cx="785999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6．下列各组均有四种物质，其中有一种物质与其他三种物质的类别不同，请将该物质的化学式或名称填在横线上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07950" y="1695152"/>
            <a:ext cx="8127950" cy="971401"/>
          </a:xfrm>
          <a:prstGeom prst="roundRect">
            <a:avLst>
              <a:gd name="adj" fmla="val 7844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20626" y="1831628"/>
            <a:ext cx="78566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（１）CuO、NO₂、NaOH、Fe₂O₃　　（２）O₂、N₂、Al、C　　（３）空气，食盐水，蒸馏水，豆浆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20626" y="2244328"/>
            <a:ext cx="78566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（４）空气，氢气，碘酒，盐酸　　（５）冰，干冰，氧化铜，铜丝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07950" y="2818954"/>
            <a:ext cx="8127950" cy="264021"/>
          </a:xfrm>
          <a:prstGeom prst="roundRect">
            <a:avLst>
              <a:gd name="adj" fmla="val 2886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11101" y="2818954"/>
            <a:ext cx="787608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（NaOH）　（Al）　（蒸馏水）　（氢气）　（铜丝）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29 / 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40111" y="2260699"/>
            <a:ext cx="557290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buNone/>
            </a:pPr>
            <a:r>
              <a:rPr lang="en-US" sz="36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Thank you for watching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16450" y="3149650"/>
            <a:ext cx="7111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99831" y="48513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7F0">
                    <a:alpha val="60000"/>
                  </a:srgbClr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30 / 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物质的分类</dc:title>
  <dc:subject>PptxGenJS Presentation</dc:subject>
  <dc:creator/>
  <cp:lastModifiedBy/>
  <cp:revision>1</cp:revision>
  <dcterms:created xsi:type="dcterms:W3CDTF">2026-08-26T06:05:26Z</dcterms:created>
  <dcterms:modified xsi:type="dcterms:W3CDTF">2026-08-26T06:05:26Z</dcterms:modified>
</cp:coreProperties>
</file>