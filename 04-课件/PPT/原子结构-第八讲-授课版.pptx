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20040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4200" b="1" i="0" ns0:eastAsia="SimHei">
                <a:solidFill>
                  <a:srgbClr val="FFFFFF"/>
                </a:solidFill>
                <a:latin typeface="Times New Roman"/>
              </a:rPr>
              <a:t>原子结构（三）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000" b="0" i="0" ns1:eastAsia="SimSun">
                <a:solidFill>
                  <a:srgbClr val="BFDBFE"/>
                </a:solidFill>
                <a:latin typeface="Times New Roman"/>
              </a:rPr>
              <a:t>从量子力学描述到核外电子排布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300" b="0" i="0" ns2:eastAsia="SimSun">
                <a:solidFill>
                  <a:srgbClr val="F59E0B"/>
                </a:solidFill>
                <a:latin typeface="Times New Roman"/>
              </a:rPr>
              <a:t>📖 第八讲  ·  🧪 初二竞赛班  ·  ⏱ 第9课收官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参考：第八讲原子结构（三）· 原子结构超级充实版 · 教学洞察-原子结构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4="http://schemas.openxmlformats.org/wordprocessingml/2006/main" sz="900" b="0" i="0" ns4:eastAsia="SimSun">
                <a:solidFill>
                  <a:srgbClr val="6B7280"/>
                </a:solidFill>
                <a:latin typeface="Times New Roman"/>
              </a:rPr>
              <a:t>1/45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第八讲原子结构（三）· 共6章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188720"/>
            <a:ext cx="731520" cy="6400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600" b="1" i="0" ns2:eastAsia="SimHei">
                <a:solidFill>
                  <a:srgbClr val="FFFFFF"/>
                </a:solidFill>
                <a:latin typeface="Times New Roman"/>
              </a:rPr>
              <a:t>§一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704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600" b="1" i="0" ns3:eastAsia="SimHei">
                <a:solidFill>
                  <a:srgbClr val="374151"/>
                </a:solidFill>
                <a:latin typeface="Times New Roman"/>
              </a:rPr>
              <a:t>原子结构发现史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100" b="0" i="0" ns4:eastAsia="SimSun">
                <a:solidFill>
                  <a:srgbClr val="6B7280"/>
                </a:solidFill>
                <a:latin typeface="Times New Roman"/>
              </a:rPr>
              <a:t>从 Dalton 实心球到薛定谔波动方程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2057400"/>
            <a:ext cx="73152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600" b="1" i="0" ns5:eastAsia="SimHei">
                <a:solidFill>
                  <a:srgbClr val="FFFFFF"/>
                </a:solidFill>
                <a:latin typeface="Times New Roman"/>
              </a:rPr>
              <a:t>§二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391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600" b="1" i="0" ns6:eastAsia="SimHei">
                <a:solidFill>
                  <a:srgbClr val="374151"/>
                </a:solidFill>
                <a:latin typeface="Times New Roman"/>
              </a:rPr>
              <a:t>微观粒子运动的基本特征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100" b="0" i="0" ns7:eastAsia="SimSun">
                <a:solidFill>
                  <a:srgbClr val="6B7280"/>
                </a:solidFill>
                <a:latin typeface="Times New Roman"/>
              </a:rPr>
              <a:t>波粒二象性 · 德布罗意 · 测不准原理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2926080"/>
            <a:ext cx="731520" cy="64008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600" b="1" i="0" ns8:eastAsia="SimHei">
                <a:solidFill>
                  <a:srgbClr val="FFFFFF"/>
                </a:solidFill>
                <a:latin typeface="Times New Roman"/>
              </a:rPr>
              <a:t>§三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077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600" b="1" i="0" ns9:eastAsia="SimHei">
                <a:solidFill>
                  <a:srgbClr val="374151"/>
                </a:solidFill>
                <a:latin typeface="Times New Roman"/>
              </a:rPr>
              <a:t>原子结构的量子力学描述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100" b="0" i="0" ns10:eastAsia="SimSun">
                <a:solidFill>
                  <a:srgbClr val="6B7280"/>
                </a:solidFill>
                <a:latin typeface="Times New Roman"/>
              </a:rPr>
              <a:t>薛定谔方程 · 四量子数 · 概率密度与电子云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3794760"/>
            <a:ext cx="7315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1="http://schemas.openxmlformats.org/wordprocessingml/2006/main" sz="1600" b="1" i="0" ns11:eastAsia="SimHei">
                <a:solidFill>
                  <a:srgbClr val="FFFFFF"/>
                </a:solidFill>
                <a:latin typeface="Times New Roman"/>
              </a:rPr>
              <a:t>§四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76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600" b="1" i="0" ns12:eastAsia="SimHei">
                <a:solidFill>
                  <a:srgbClr val="374151"/>
                </a:solidFill>
                <a:latin typeface="Times New Roman"/>
              </a:rPr>
              <a:t>原子核外电子排布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100" b="0" i="0" ns13:eastAsia="SimSun">
                <a:solidFill>
                  <a:srgbClr val="6B7280"/>
                </a:solidFill>
                <a:latin typeface="Times New Roman"/>
              </a:rPr>
              <a:t>构造原理 · 屏蔽与钻穿 · Slater规则 · 三原则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4663440"/>
            <a:ext cx="731520" cy="640080"/>
          </a:xfrm>
          <a:prstGeom prst="roundRect">
            <a:avLst/>
          </a:prstGeom>
          <a:solidFill>
            <a:srgbClr val="05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4="http://schemas.openxmlformats.org/wordprocessingml/2006/main" sz="1600" b="1" i="0" ns14:eastAsia="SimHei">
                <a:solidFill>
                  <a:srgbClr val="FFFFFF"/>
                </a:solidFill>
                <a:latin typeface="Times New Roman"/>
              </a:rPr>
              <a:t>§五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45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600" b="1" i="0" ns15:eastAsia="SimHei">
                <a:solidFill>
                  <a:srgbClr val="374151"/>
                </a:solidFill>
                <a:latin typeface="Times New Roman"/>
              </a:rPr>
              <a:t>核外电子排布（续）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83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100" b="0" i="0" ns16:eastAsia="SimSun">
                <a:solidFill>
                  <a:srgbClr val="6B7280"/>
                </a:solidFill>
                <a:latin typeface="Times New Roman"/>
              </a:rPr>
              <a:t>离子排布 · 周期律趋势 · 电离能反常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" y="5532120"/>
            <a:ext cx="7315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7="http://schemas.openxmlformats.org/wordprocessingml/2006/main" sz="1600" b="1" i="0" ns17:eastAsia="SimHei">
                <a:solidFill>
                  <a:srgbClr val="FFFFFF"/>
                </a:solidFill>
                <a:latin typeface="Times New Roman"/>
              </a:rPr>
              <a:t>§六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138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1600" b="1" i="0" ns18:eastAsia="SimHei">
                <a:solidFill>
                  <a:srgbClr val="374151"/>
                </a:solidFill>
                <a:latin typeface="Times New Roman"/>
              </a:rPr>
              <a:t>原子核衰变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1100" b="0" i="0" ns19:eastAsia="SimSun">
                <a:solidFill>
                  <a:srgbClr val="6B7280"/>
                </a:solidFill>
                <a:latin typeface="Times New Roman"/>
              </a:rPr>
              <a:t>α/β/γ衰变 · 核反应方程式 · 半衰期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0="http://schemas.openxmlformats.org/wordprocessingml/2006/main" sz="900" b="0" i="0" ns20:eastAsia="SimSun">
                <a:solidFill>
                  <a:srgbClr val="6B7280"/>
                </a:solidFill>
                <a:latin typeface="Times New Roman"/>
              </a:rPr>
              <a:t>2/45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原子结构发现史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Dalton → Thomson → Rutherford → Bohr → Schrödinger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3/45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原子模型演变的五大里程碑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每一次突破都来自实验异常 → 旧模型失效 → 新假设提出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100" b="1" i="0" ns2:eastAsia="SimHei">
                <a:solidFill>
                  <a:srgbClr val="1E40AF"/>
                </a:solidFill>
                <a:latin typeface="Times New Roman"/>
              </a:rPr>
              <a:t>年份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100" b="1" i="0" ns3:eastAsia="SimHei">
                <a:solidFill>
                  <a:srgbClr val="1E40AF"/>
                </a:solidFill>
                <a:latin typeface="Times New Roman"/>
              </a:rPr>
              <a:t>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100" b="1" i="0" ns4:eastAsia="SimHei">
                <a:solidFill>
                  <a:srgbClr val="1E40AF"/>
                </a:solidFill>
                <a:latin typeface="Times New Roman"/>
              </a:rPr>
              <a:t>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100" b="1" i="0" ns5:eastAsia="SimHei">
                <a:solidFill>
                  <a:srgbClr val="1E40AF"/>
                </a:solidFill>
                <a:latin typeface="Times New Roman"/>
              </a:rPr>
              <a:t>实验依据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100" b="1" i="0" ns6:eastAsia="SimSun">
                <a:solidFill>
                  <a:srgbClr val="1E40AF"/>
                </a:solidFill>
                <a:latin typeface="Times New Roman"/>
              </a:rPr>
              <a:t>1803 Dalton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200" b="1" i="0" ns7:eastAsia="SimHei">
                <a:solidFill>
                  <a:srgbClr val="374151"/>
                </a:solidFill>
                <a:latin typeface="Times New Roman"/>
              </a:rPr>
              <a:t>实心球模型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08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100" b="0" i="0" ns8:eastAsia="SimSun">
                <a:solidFill>
                  <a:srgbClr val="374151"/>
                </a:solidFill>
                <a:latin typeface="Times New Roman"/>
              </a:rPr>
              <a:t>原子不可再分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508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000" b="0" i="0" ns9:eastAsia="SimSun">
                <a:solidFill>
                  <a:srgbClr val="6B7280"/>
                </a:solidFill>
                <a:latin typeface="Times New Roman"/>
              </a:rPr>
              <a:t>倍比定律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1109441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100" b="1" i="0" ns10:eastAsia="SimSun">
                <a:solidFill>
                  <a:srgbClr val="1E40AF"/>
                </a:solidFill>
                <a:latin typeface="Times New Roman"/>
              </a:rPr>
              <a:t>1903 Thomson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200" b="1" i="0" ns11:eastAsia="SimHei">
                <a:solidFill>
                  <a:srgbClr val="374151"/>
                </a:solidFill>
                <a:latin typeface="Times New Roman"/>
              </a:rPr>
              <a:t>葡萄干布丁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116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正电荷均匀分布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000" b="0" i="0" ns13:eastAsia="SimSun">
                <a:solidFill>
                  <a:srgbClr val="6B7280"/>
                </a:solidFill>
                <a:latin typeface="Times New Roman"/>
              </a:rPr>
              <a:t>发现电子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11094415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100" b="1" i="0" ns14:eastAsia="SimSun">
                <a:solidFill>
                  <a:srgbClr val="1E40AF"/>
                </a:solidFill>
                <a:latin typeface="Times New Roman"/>
              </a:rPr>
              <a:t>1911 Rutherford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200" b="1" i="0" ns15:eastAsia="SimHei">
                <a:solidFill>
                  <a:srgbClr val="374151"/>
                </a:solidFill>
                <a:latin typeface="Times New Roman"/>
              </a:rPr>
              <a:t>核式模型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5146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100" b="0" i="0" ns16:eastAsia="SimSun">
                <a:solidFill>
                  <a:srgbClr val="374151"/>
                </a:solidFill>
                <a:latin typeface="Times New Roman"/>
              </a:rPr>
              <a:t>核（正+质量）+ 核外电子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1000" b="0" i="0" ns17:eastAsia="SimSun">
                <a:solidFill>
                  <a:srgbClr val="6B7280"/>
                </a:solidFill>
                <a:latin typeface="Times New Roman"/>
              </a:rPr>
              <a:t>α粒子散射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71800"/>
            <a:ext cx="1109441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1100" b="1" i="0" ns18:eastAsia="SimSun">
                <a:solidFill>
                  <a:srgbClr val="1E40AF"/>
                </a:solidFill>
                <a:latin typeface="Times New Roman"/>
              </a:rPr>
              <a:t>1913 Bohr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1200" b="1" i="0" ns19:eastAsia="SimHei">
                <a:solidFill>
                  <a:srgbClr val="374151"/>
                </a:solidFill>
                <a:latin typeface="Times New Roman"/>
              </a:rPr>
              <a:t>行星模型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0175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0="http://schemas.openxmlformats.org/wordprocessingml/2006/main" sz="1100" b="0" i="0" ns20:eastAsia="SimSun">
                <a:solidFill>
                  <a:srgbClr val="374151"/>
                </a:solidFill>
                <a:latin typeface="Times New Roman"/>
              </a:rPr>
              <a:t>定态 + 角动量量子化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1="http://schemas.openxmlformats.org/wordprocessingml/2006/main" sz="1000" b="0" i="0" ns21:eastAsia="SimSun">
                <a:solidFill>
                  <a:srgbClr val="6B7280"/>
                </a:solidFill>
                <a:latin typeface="Times New Roman"/>
              </a:rPr>
              <a:t>氢原子线状光谱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74720"/>
            <a:ext cx="11094415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204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2="http://schemas.openxmlformats.org/wordprocessingml/2006/main" sz="1100" b="1" i="0" ns22:eastAsia="SimSun">
                <a:solidFill>
                  <a:srgbClr val="1E40AF"/>
                </a:solidFill>
                <a:latin typeface="Times New Roman"/>
              </a:rPr>
              <a:t>1926 Schrödinger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5204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3="http://schemas.openxmlformats.org/wordprocessingml/2006/main" sz="1200" b="1" i="0" ns23:eastAsia="SimHei">
                <a:solidFill>
                  <a:srgbClr val="374151"/>
                </a:solidFill>
                <a:latin typeface="Times New Roman"/>
              </a:rPr>
              <a:t>量子力学模型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52043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4="http://schemas.openxmlformats.org/wordprocessingml/2006/main" sz="1100" b="0" i="0" ns24:eastAsia="SimSun">
                <a:solidFill>
                  <a:srgbClr val="374151"/>
                </a:solidFill>
                <a:latin typeface="Times New Roman"/>
              </a:rPr>
              <a:t>ψ波函数描述，|ψ|²概率密度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520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5="http://schemas.openxmlformats.org/wordprocessingml/2006/main" sz="1000" b="0" i="0" ns25:eastAsia="SimSun">
                <a:solidFill>
                  <a:srgbClr val="6B7280"/>
                </a:solidFill>
                <a:latin typeface="Times New Roman"/>
              </a:rPr>
              <a:t>德布罗意 + 电子衍射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6="http://schemas.openxmlformats.org/wordprocessingml/2006/main" sz="900" b="0" i="0" ns26:eastAsia="SimSun">
                <a:solidFill>
                  <a:srgbClr val="6B7280"/>
                </a:solidFill>
                <a:latin typeface="Times New Roman"/>
              </a:rPr>
              <a:t>4/45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卢瑟福α粒子散射实验（1911）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1/8000 的粒子偏转 &gt; 90°，汤姆孙模型无法解释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🔬 实验装置与方法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200" b="0" i="0" ns3:eastAsia="SimSun">
                <a:solidFill>
                  <a:srgbClr val="374151"/>
                </a:solidFill>
                <a:latin typeface="Times New Roman"/>
              </a:rPr>
              <a:t>• 用准直的α射线轰击厚度为微米的金箔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200" b="0" i="0" ns4:eastAsia="SimSun">
                <a:solidFill>
                  <a:srgbClr val="374151"/>
                </a:solidFill>
                <a:latin typeface="Times New Roman"/>
              </a:rPr>
              <a:t>• 绝大多数α粒子照直穿过（偏转很小）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200" b="0" i="0" ns5:eastAsia="SimSun">
                <a:solidFill>
                  <a:srgbClr val="374151"/>
                </a:solidFill>
                <a:latin typeface="Times New Roman"/>
              </a:rPr>
              <a:t>• 少数发生较大偏转，约 1/8000 偏转 &gt; 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200" b="0" i="0" ns6:eastAsia="SimSun">
                <a:solidFill>
                  <a:srgbClr val="374151"/>
                </a:solidFill>
                <a:latin typeface="Times New Roman"/>
              </a:rPr>
              <a:t>• 观察到偏转角等于 150° 的散射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• 结论：原子大部分是空的，正电荷集中在极小核区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300" b="1" i="0" ns8:eastAsia="SimHei">
                <a:solidFill>
                  <a:srgbClr val="1E40AF"/>
                </a:solidFill>
                <a:latin typeface="Times New Roman"/>
              </a:rPr>
              <a:t>⭐ 卢瑟福核式模型要点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  ✓ 每个原子中心有一个带正电荷的原子核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10="http://schemas.openxmlformats.org/wordprocessingml/2006/main" sz="1100" b="0" i="0" ns10:eastAsia="SimSun">
                <a:solidFill>
                  <a:srgbClr val="374151"/>
                </a:solidFill>
                <a:latin typeface="Times New Roman"/>
              </a:rPr>
              <a:t>  ✓ 核外电子绕核高速运动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  ✓ 原子核体积很小但集中了几乎全部质量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  ✓ 核正电荷 = 核外负电荷 → 原子呈电中性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3="http://schemas.openxmlformats.org/wordprocessingml/2006/main" sz="900" b="0" i="0" ns13:eastAsia="SimSun">
                <a:solidFill>
                  <a:srgbClr val="6B7280"/>
                </a:solidFill>
                <a:latin typeface="Times New Roman"/>
              </a:rPr>
              <a:t>5/45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玻尔模型的三项假设（1913）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旧量子论的巅峰——用 Planck 量子论解释氢原子光谱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① 定态假设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3="http://schemas.openxmlformats.org/wordprocessingml/2006/main" sz="1200" b="0" i="0" ns3:eastAsia="SimSun">
                <a:solidFill>
                  <a:srgbClr val="374151"/>
                </a:solidFill>
                <a:latin typeface="Times New Roman"/>
              </a:rPr>
              <a:t>电子只能在特定半径的轨道上运动
且不辐射能量 → 称"定态"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4="http://schemas.openxmlformats.org/wordprocessingml/2006/main" sz="1400" b="1" i="0" ns4:eastAsia="SimHei">
                <a:solidFill>
                  <a:srgbClr val="3B82F6"/>
                </a:solidFill>
                <a:latin typeface="Times New Roman"/>
              </a:rPr>
              <a:t>② 角动量量子化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5="http://schemas.openxmlformats.org/wordprocessingml/2006/main" sz="1200" b="0" i="0" ns5:eastAsia="SimSun">
                <a:solidFill>
                  <a:srgbClr val="374151"/>
                </a:solidFill>
                <a:latin typeface="Times New Roman"/>
              </a:rPr>
              <a:t>L = n·h/2π, n=1,2,3,...
只有角动量为 h/2π 整数倍的轨道才允许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887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6="http://schemas.openxmlformats.org/wordprocessingml/2006/main" sz="1400" b="1" i="0" ns6:eastAsia="SimHei">
                <a:solidFill>
                  <a:srgbClr val="F59E0B"/>
                </a:solidFill>
                <a:latin typeface="Times New Roman"/>
              </a:rPr>
              <a:t>③ 跃迁假设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电子从高能态 E₂ 跃迁到低能态 E₁ 时
放出光子：ΔE = E₂ - E₁ = hν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300" b="0" i="0" ns8:eastAsia="SimSun">
                <a:solidFill>
                  <a:srgbClr val="374151"/>
                </a:solidFill>
                <a:latin typeface="Times New Roman"/>
              </a:rPr>
              <a:t>轨道半径：rₙ = a₀·n² （a₀ = 52.9 pm）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300" b="1" i="0" ns9:eastAsia="SimSun">
                <a:solidFill>
                  <a:srgbClr val="1E40AF"/>
                </a:solidFill>
                <a:latin typeface="Times New Roman"/>
              </a:rPr>
              <a:t>电子能量：Eₙ = -13.6/n² 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xmlns:ns10="http://schemas.openxmlformats.org/wordprocessingml/2006/main" sz="1300" b="1" i="0" ns10:eastAsia="SimHei">
                <a:solidFill>
                  <a:srgbClr val="374151"/>
                </a:solidFill>
                <a:latin typeface="Times New Roman"/>
              </a:rPr>
              <a:t>🧠 教学洞察：经典物理的第一个耳光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11="http://schemas.openxmlformats.org/wordprocessingml/2006/main" sz="1200" b="0" i="0" ns11:eastAsia="SimSun">
                <a:solidFill>
                  <a:srgbClr val="374151"/>
                </a:solidFill>
                <a:latin typeface="Times New Roman"/>
              </a:rPr>
              <a:t>"如果电子绕核做圆周运动，根据经典电磁理论——加速运动的电荷会辐射电磁波，能量损失导致电子坠入原子核。但原子明明是稳定的！" — 质心L2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2="http://schemas.openxmlformats.org/wordprocessingml/2006/main" sz="900" b="0" i="0" ns12:eastAsia="SimSun">
                <a:solidFill>
                  <a:srgbClr val="6B7280"/>
                </a:solidFill>
                <a:latin typeface="Times New Roman"/>
              </a:rPr>
              <a:t>6/45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氢原子光谱——量子化的实验证据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线状光谱 → 能量量子化 → 能级分立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氢原子五组线系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0292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6184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100" b="1" i="0" ns3:eastAsia="SimHei">
                <a:solidFill>
                  <a:srgbClr val="1E40AF"/>
                </a:solidFill>
                <a:latin typeface="Times New Roman"/>
              </a:rPr>
              <a:t>Lyman系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18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100" b="0" i="0" ns4:eastAsia="SimSun">
                <a:solidFill>
                  <a:srgbClr val="374151"/>
                </a:solidFill>
                <a:latin typeface="Times New Roman"/>
              </a:rPr>
              <a:t>n=1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18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000" b="0" i="0" ns5:eastAsia="SimSun">
                <a:solidFill>
                  <a:srgbClr val="6B7280"/>
                </a:solidFill>
                <a:latin typeface="Times New Roman"/>
              </a:rPr>
              <a:t>紫外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900" b="0" i="0" ns6:eastAsia="SimSun">
                <a:solidFill>
                  <a:srgbClr val="6B7280"/>
                </a:solidFill>
                <a:latin typeface="Times New Roman"/>
              </a:rPr>
              <a:t>ν̃ = R_H(1/1² - 1/n²)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100" b="1" i="0" ns7:eastAsia="SimHei">
                <a:solidFill>
                  <a:srgbClr val="1E40AF"/>
                </a:solidFill>
                <a:latin typeface="Times New Roman"/>
              </a:rPr>
              <a:t>Balmer系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38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100" b="0" i="0" ns8:eastAsia="SimSun">
                <a:solidFill>
                  <a:srgbClr val="374151"/>
                </a:solidFill>
                <a:latin typeface="Times New Roman"/>
              </a:rPr>
              <a:t>n=2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938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000" b="0" i="0" ns9:eastAsia="SimSun">
                <a:solidFill>
                  <a:srgbClr val="6B7280"/>
                </a:solidFill>
                <a:latin typeface="Times New Roman"/>
              </a:rPr>
              <a:t>可见光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900" b="0" i="0" ns10:eastAsia="SimSun">
                <a:solidFill>
                  <a:srgbClr val="6B7280"/>
                </a:solidFill>
                <a:latin typeface="Times New Roman"/>
              </a:rPr>
              <a:t>ν̃ = R_H(1/2² - 1/n²)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40280"/>
            <a:ext cx="50292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2258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100" b="1" i="0" ns11:eastAsia="SimHei">
                <a:solidFill>
                  <a:srgbClr val="1E40AF"/>
                </a:solidFill>
                <a:latin typeface="Times New Roman"/>
              </a:rPr>
              <a:t>Paschen系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258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n=3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258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000" b="0" i="0" ns13:eastAsia="SimSun">
                <a:solidFill>
                  <a:srgbClr val="6B7280"/>
                </a:solidFill>
                <a:latin typeface="Times New Roman"/>
              </a:rPr>
              <a:t>红外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58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900" b="0" i="0" ns14:eastAsia="SimSun">
                <a:solidFill>
                  <a:srgbClr val="6B7280"/>
                </a:solidFill>
                <a:latin typeface="Times New Roman"/>
              </a:rPr>
              <a:t>ν̃ = R_H(1/3² - 1/n²)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25786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100" b="1" i="0" ns15:eastAsia="SimHei">
                <a:solidFill>
                  <a:srgbClr val="1E40AF"/>
                </a:solidFill>
                <a:latin typeface="Times New Roman"/>
              </a:rPr>
              <a:t>Brackett系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100" b="0" i="0" ns16:eastAsia="SimSun">
                <a:solidFill>
                  <a:srgbClr val="374151"/>
                </a:solidFill>
                <a:latin typeface="Times New Roman"/>
              </a:rPr>
              <a:t>n=4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1000" b="0" i="0" ns17:eastAsia="SimSun">
                <a:solidFill>
                  <a:srgbClr val="6B7280"/>
                </a:solidFill>
                <a:latin typeface="Times New Roman"/>
              </a:rPr>
              <a:t>红外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900" b="0" i="0" ns18:eastAsia="SimSun">
                <a:solidFill>
                  <a:srgbClr val="6B7280"/>
                </a:solidFill>
                <a:latin typeface="Times New Roman"/>
              </a:rPr>
              <a:t>ν̃ = R_H(1/4² - 1/n²)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2898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1100" b="1" i="0" ns19:eastAsia="SimHei">
                <a:solidFill>
                  <a:srgbClr val="1E40AF"/>
                </a:solidFill>
                <a:latin typeface="Times New Roman"/>
              </a:rPr>
              <a:t>Pfund系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98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0="http://schemas.openxmlformats.org/wordprocessingml/2006/main" sz="1100" b="0" i="0" ns20:eastAsia="SimSun">
                <a:solidFill>
                  <a:srgbClr val="374151"/>
                </a:solidFill>
                <a:latin typeface="Times New Roman"/>
              </a:rPr>
              <a:t>n=5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898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1="http://schemas.openxmlformats.org/wordprocessingml/2006/main" sz="1000" b="0" i="0" ns21:eastAsia="SimSun">
                <a:solidFill>
                  <a:srgbClr val="6B7280"/>
                </a:solidFill>
                <a:latin typeface="Times New Roman"/>
              </a:rPr>
              <a:t>远红外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898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2="http://schemas.openxmlformats.org/wordprocessingml/2006/main" sz="900" b="0" i="0" ns22:eastAsia="SimSun">
                <a:solidFill>
                  <a:srgbClr val="6B7280"/>
                </a:solidFill>
                <a:latin typeface="Times New Roman"/>
              </a:rPr>
              <a:t>ν̃ = R_H(1/5² - 1/n²)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18872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3="http://schemas.openxmlformats.org/wordprocessingml/2006/main" sz="1300" b="1" i="0" ns23:eastAsia="SimHei">
                <a:solidFill>
                  <a:srgbClr val="1E40AF"/>
                </a:solidFill>
                <a:latin typeface="Times New Roman"/>
              </a:rPr>
              <a:t>📐 核心公式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24="http://schemas.openxmlformats.org/wordprocessingml/2006/main" sz="1200" b="0" i="0" ns24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25="http://schemas.openxmlformats.org/wordprocessingml/2006/main" sz="1200" b="1" i="0" ns25:eastAsia="SimSun">
                <a:solidFill>
                  <a:srgbClr val="374151"/>
                </a:solidFill>
                <a:latin typeface="Times New Roman"/>
              </a:rPr>
              <a:t>Rydberg 公式：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26="http://schemas.openxmlformats.org/wordprocessingml/2006/main" sz="1200" b="0" i="0" ns26:eastAsia="SimSun">
                <a:solidFill>
                  <a:srgbClr val="374151"/>
                </a:solidFill>
                <a:latin typeface="Times New Roman"/>
              </a:rPr>
              <a:t>  ν̃ = R_H (1/n₁² - 1/n₂²)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27="http://schemas.openxmlformats.org/wordprocessingml/2006/main" sz="1200" b="0" i="0" ns27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28="http://schemas.openxmlformats.org/wordprocessingml/2006/main" sz="1200" b="1" i="0" ns28:eastAsia="SimSun">
                <a:solidFill>
                  <a:srgbClr val="374151"/>
                </a:solidFill>
                <a:latin typeface="Times New Roman"/>
              </a:rPr>
              <a:t>Rydberg 常数：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29="http://schemas.openxmlformats.org/wordprocessingml/2006/main" sz="1200" b="0" i="0" ns29:eastAsia="SimSun">
                <a:solidFill>
                  <a:srgbClr val="374151"/>
                </a:solidFill>
                <a:latin typeface="Times New Roman"/>
              </a:rPr>
              <a:t>  R_H = 1.097 × 10⁵ cm⁻¹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30="http://schemas.openxmlformats.org/wordprocessingml/2006/main" sz="1200" b="0" i="0" ns30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31="http://schemas.openxmlformats.org/wordprocessingml/2006/main" sz="1200" b="1" i="0" ns31:eastAsia="SimSun">
                <a:solidFill>
                  <a:srgbClr val="374151"/>
                </a:solidFill>
                <a:latin typeface="Times New Roman"/>
              </a:rPr>
              <a:t>Balmer 系 Hα 线（n₁=2, n₂=3）：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32="http://schemas.openxmlformats.org/wordprocessingml/2006/main" sz="1200" b="0" i="0" ns32:eastAsia="SimSun">
                <a:solidFill>
                  <a:srgbClr val="374151"/>
                </a:solidFill>
                <a:latin typeface="Times New Roman"/>
              </a:rPr>
              <a:t>  λ = 656.3 nm（可见光红色）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7200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xmlns:ns33="http://schemas.openxmlformats.org/wordprocessingml/2006/main" sz="1300" b="1" i="0" ns33:eastAsia="SimHei">
                <a:solidFill>
                  <a:srgbClr val="374151"/>
                </a:solidFill>
                <a:latin typeface="Times New Roman"/>
              </a:rPr>
              <a:t>🧠 教学洞察：从连续到离散的认知跳跃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34="http://schemas.openxmlformats.org/wordprocessingml/2006/main" sz="1200" b="0" i="0" ns34:eastAsia="SimSun">
                <a:solidFill>
                  <a:srgbClr val="374151"/>
                </a:solidFill>
                <a:latin typeface="Times New Roman"/>
              </a:rPr>
              <a:t>经典电磁学预言原子光谱是连续谱——像白炽灯。但实际是线状的！只有特定波长出现。这说明能级是量子化的。光谱是"通往量子化的钥匙"。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5="http://schemas.openxmlformats.org/wordprocessingml/2006/main" sz="900" b="0" i="0" ns35:eastAsia="SimSun">
                <a:solidFill>
                  <a:srgbClr val="6B7280"/>
                </a:solidFill>
                <a:latin typeface="Times New Roman"/>
              </a:rPr>
              <a:t>7/45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📝 嵌入式计算：Balmer系 Hα 线波长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电子从 n=3 → n=2 跃迁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374151"/>
                </a:solidFill>
                <a:latin typeface="Times New Roman"/>
              </a:rPr>
              <a:t>已知 R_H = 1.097 × 10⁵ cm⁻¹，计算 Hα 线的波长（nm）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300" b="0" i="0" ns3:eastAsia="SimSun">
                <a:solidFill>
                  <a:srgbClr val="374151"/>
                </a:solidFill>
                <a:latin typeface="Times New Roman"/>
              </a:rPr>
              <a:t>→ ν̃ = R_H (1/2² - 1/3²) = 1.097×10⁵ × (1/4 - 1/9) = 1.097×10⁵ × 5/36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300" b="1" i="0" ns4:eastAsia="SimSun">
                <a:solidFill>
                  <a:srgbClr val="1E40AF"/>
                </a:solidFill>
                <a:latin typeface="Times New Roman"/>
              </a:rPr>
              <a:t>→ ν̃ = 15236 cm⁻¹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300" b="1" i="0" ns5:eastAsia="SimSun">
                <a:solidFill>
                  <a:srgbClr val="1E40AF"/>
                </a:solidFill>
                <a:latin typeface="Times New Roman"/>
              </a:rPr>
              <a:t>→ λ = 1/ν̃ = 6.563×10⁻⁵ cm = 656.3 nm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300" b="0" i="0" ns6:eastAsia="SimSun">
                <a:solidFill>
                  <a:srgbClr val="05922B"/>
                </a:solidFill>
                <a:latin typeface="Times New Roman"/>
              </a:rPr>
              <a:t>验证：656.3 nm 对应可见光红色，与实验观测完全一致！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10911535" cy="2286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300" b="1" i="0" ns7:eastAsia="SimHei">
                <a:solidFill>
                  <a:srgbClr val="DC2626"/>
                </a:solidFill>
                <a:latin typeface="Times New Roman"/>
              </a:rPr>
              <a:t>⚠️ 玻尔模型的局限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8="http://schemas.openxmlformats.org/wordprocessingml/2006/main" sz="1100" b="0" i="0" ns8:eastAsia="SimSun">
                <a:solidFill>
                  <a:srgbClr val="374151"/>
                </a:solidFill>
                <a:latin typeface="Times New Roman"/>
              </a:rPr>
              <a:t>  ✗  不能解释氢原子光谱精细结构（每一条谱线实际分裂为两条）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  ✗  不能解释多电子原子（He 即出现显著偏差）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10="http://schemas.openxmlformats.org/wordprocessingml/2006/main" sz="1100" b="0" i="0" ns10:eastAsia="SimSun">
                <a:solidFill>
                  <a:srgbClr val="374151"/>
                </a:solidFill>
                <a:latin typeface="Times New Roman"/>
              </a:rPr>
              <a:t>  ✗  定态假设本身与经典电磁理论相悖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  ✗  无法解释 Zeeman 效应（磁场中谱线分裂）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12="http://schemas.openxmlformats.org/wordprocessingml/2006/main" sz="1100" b="1" i="0" ns12:eastAsia="SimSun">
                <a:solidFill>
                  <a:srgbClr val="374151"/>
                </a:solidFill>
                <a:latin typeface="Times New Roman"/>
              </a:rPr>
              <a:t>  → → "波尔模型是一座桥——走过它到达量子力学，但桥本身不是目的地"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3="http://schemas.openxmlformats.org/wordprocessingml/2006/main" sz="900" b="0" i="0" ns13:eastAsia="SimSun">
                <a:solidFill>
                  <a:srgbClr val="6B7280"/>
                </a:solidFill>
                <a:latin typeface="Times New Roman"/>
              </a:rPr>
              <a:t>8/45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微观粒子运动的基本特征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波粒二象性 · 德布罗意关系式 · 海森堡测不准原理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9/45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波粒二象性——微观粒子的双重身份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光：干涉衍射=波动性，光电效应=微粒性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💡 光的波粒二象性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200" b="1" i="0" ns3:eastAsia="SimHei">
                <a:solidFill>
                  <a:srgbClr val="3B82F6"/>
                </a:solidFill>
                <a:latin typeface="Times New Roman"/>
              </a:rPr>
              <a:t>波动性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4="http://schemas.openxmlformats.org/wordprocessingml/2006/main" sz="1100" b="0" i="0" ns4:eastAsia="SimSun">
                <a:solidFill>
                  <a:srgbClr val="374151"/>
                </a:solidFill>
                <a:latin typeface="Times New Roman"/>
              </a:rPr>
              <a:t>  干涉、衍射；有波长 λ、频率 ν；传播方向波峰波谷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5="http://schemas.openxmlformats.org/wordprocessingml/2006/main" sz="600" b="0" i="0" ns5:eastAsia="SimSun">
                <a:solidFill>
                  <a:srgbClr val="374151"/>
                </a:solidFill>
                <a:latin typeface="Times New Roman"/>
              </a:rPr>
              <a:t/>
            </a:r>
            <a:r>
              <a:rPr xmlns:ns6="http://schemas.openxmlformats.org/wordprocessingml/2006/main" sz="1200" b="1" i="0" ns6:eastAsia="SimHei">
                <a:solidFill>
                  <a:srgbClr val="F59E0B"/>
                </a:solidFill>
                <a:latin typeface="Times New Roman"/>
              </a:rPr>
              <a:t>微粒性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  发射、吸收、光电效应；E = hν，光量子能量不连续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1" i="0" ns8:eastAsia="SimHei">
                <a:solidFill>
                  <a:srgbClr val="1E40AF"/>
                </a:solidFill>
                <a:latin typeface="Times New Roman"/>
              </a:rPr>
              <a:t>⚛ 电子的波粒二象性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200" b="1" i="0" ns9:eastAsia="SimHei">
                <a:solidFill>
                  <a:srgbClr val="1E40AF"/>
                </a:solidFill>
                <a:latin typeface="Times New Roman"/>
              </a:rPr>
              <a:t>1924 德布罗意天才猜想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10="http://schemas.openxmlformats.org/wordprocessingml/2006/main" sz="1400" b="1" i="0" ns10:eastAsia="SimSun">
                <a:solidFill>
                  <a:srgbClr val="374151"/>
                </a:solidFill>
                <a:latin typeface="Times New Roman"/>
              </a:rPr>
              <a:t>  λ = h/p = h/(mv)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  m 越大、v 越快 → λ 越短 → 波动性越不明显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  电子质量极小(9.1×10⁻³¹ kg)，在原子尺度下波长与原子大小相当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300" b="1" i="0" ns13:eastAsia="SimHei">
                <a:solidFill>
                  <a:srgbClr val="1E40AF"/>
                </a:solidFill>
                <a:latin typeface="Times New Roman"/>
              </a:rPr>
              <a:t>🧪 实验验证：1927 Davisson &amp; Germer 电子衍射实验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200" b="0" i="0" ns14:eastAsia="SimSun">
                <a:solidFill>
                  <a:srgbClr val="374151"/>
                </a:solidFill>
                <a:latin typeface="Times New Roman"/>
              </a:rPr>
              <a:t>电子在 Ni 晶体表面产生清晰衍射条纹——与 X 射线衍射类似，直接证明电子具有波动性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5="http://schemas.openxmlformats.org/wordprocessingml/2006/main" sz="900" b="0" i="0" ns15:eastAsia="SimSun">
                <a:solidFill>
                  <a:srgbClr val="6B7280"/>
                </a:solidFill>
                <a:latin typeface="Times New Roman"/>
              </a:rPr>
              <a:t>10/45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海森堡测不准原理（1927）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不能同时准确测定微观粒子的位置和动量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📐 数学表达式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3="http://schemas.openxmlformats.org/wordprocessingml/2006/main" sz="400" b="0" i="0" ns3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4="http://schemas.openxmlformats.org/wordprocessingml/2006/main" sz="2000" b="1" i="0" ns4:eastAsia="SimSun">
                <a:solidFill>
                  <a:srgbClr val="1E40AF"/>
                </a:solidFill>
                <a:latin typeface="Times New Roman"/>
              </a:rPr>
              <a:t>    Δx · Δp ≥ h / (4π)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5="http://schemas.openxmlformats.org/wordprocessingml/2006/main" sz="400" b="0" i="0" ns5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6="http://schemas.openxmlformats.org/wordprocessingml/2006/main" sz="1100" b="0" i="0" ns6:eastAsia="SimSun">
                <a:solidFill>
                  <a:srgbClr val="6B7280"/>
                </a:solidFill>
                <a:latin typeface="Times New Roman"/>
              </a:rPr>
              <a:t>    Δx: 位置不确定度    Δp: 动量不确定度    h: Planck 常数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200" b="0" i="1" ns7:eastAsia="SimSun">
                <a:solidFill>
                  <a:srgbClr val="374151"/>
                </a:solidFill>
                <a:latin typeface="Times New Roman"/>
              </a:rPr>
              <a:t>"你想看电子在哪儿——用光子照它。但光子有动量——一照就把电子踢走了。测得越精确（Δx 小）→ 光子波长越短 → 动量越大 → Δp 越大。你永远不能同时精确知道位置和动量。"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911535" cy="16459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300" b="1" i="0" ns8:eastAsia="SimHei">
                <a:solidFill>
                  <a:srgbClr val="DC2626"/>
                </a:solidFill>
                <a:latin typeface="Times New Roman"/>
              </a:rPr>
              <a:t>⚠️ 重要推论：轨道概念在原子尺度失去意义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9="http://schemas.openxmlformats.org/wordprocessingml/2006/main" sz="1200" b="0" i="0" ns9:eastAsia="SimSun">
                <a:solidFill>
                  <a:srgbClr val="374151"/>
                </a:solidFill>
                <a:latin typeface="Times New Roman"/>
              </a:rPr>
              <a:t>  • 不可能同时知道电子的精确位置和精确速度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10="http://schemas.openxmlformats.org/wordprocessingml/2006/main" sz="1200" b="0" i="0" ns10:eastAsia="SimSun">
                <a:solidFill>
                  <a:srgbClr val="374151"/>
                </a:solidFill>
                <a:latin typeface="Times New Roman"/>
              </a:rPr>
              <a:t>  • 不存在 Rutherford 和 Bohr 模型中行星绕太阳那样的电子轨道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11="http://schemas.openxmlformats.org/wordprocessingml/2006/main" sz="1200" b="0" i="0" ns11:eastAsia="SimSun">
                <a:solidFill>
                  <a:srgbClr val="374151"/>
                </a:solidFill>
                <a:latin typeface="Times New Roman"/>
              </a:rPr>
              <a:t>  • 只能确定电子在某空间附近出现的概率（统计规律）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2="http://schemas.openxmlformats.org/wordprocessingml/2006/main" sz="900" b="0" i="0" ns12:eastAsia="SimSun">
                <a:solidFill>
                  <a:srgbClr val="6B7280"/>
                </a:solidFill>
                <a:latin typeface="Times New Roman"/>
              </a:rPr>
              <a:t>11/45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📝 嵌入式计算：原子中不存在电子"轨道"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定量证明轨道概念的失效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i="0" ns2:eastAsia="SimSun">
                <a:solidFill>
                  <a:srgbClr val="374151"/>
                </a:solidFill>
                <a:latin typeface="Times New Roman"/>
              </a:rPr>
              <a:t>电子在原子中的运动范围约 r ≈ 10⁻¹⁰ m。若位置误差 Δx = 10⁻¹⁰ m，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1" i="0" ns3:eastAsia="SimSun">
                <a:solidFill>
                  <a:srgbClr val="374151"/>
                </a:solidFill>
                <a:latin typeface="Times New Roman"/>
              </a:rPr>
              <a:t>计算电子速度的不确定度 Δv =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4="http://schemas.openxmlformats.org/wordprocessingml/2006/main" sz="1400" b="0" i="0" ns4:eastAsia="SimSun">
                <a:solidFill>
                  <a:srgbClr val="374151"/>
                </a:solidFill>
                <a:latin typeface="Times New Roman"/>
              </a:rPr>
              <a:t>  Step 1: Δp ≥ h / (4π·Δx)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39"/>
            <a:ext cx="10911535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400" b="0" i="0" ns5:eastAsia="SimSun">
                <a:solidFill>
                  <a:srgbClr val="374151"/>
                </a:solidFill>
                <a:latin typeface="Times New Roman"/>
              </a:rPr>
              <a:t>  Step 2: Δp ≥ 6.626×10⁻³⁴ / (4π × 10⁻¹⁰) ≈ 5.27×10⁻²⁵ kg·m/s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59"/>
            <a:ext cx="10911535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6="http://schemas.openxmlformats.org/wordprocessingml/2006/main" sz="1400" b="0" i="0" ns6:eastAsia="SimSun">
                <a:solidFill>
                  <a:srgbClr val="374151"/>
                </a:solidFill>
                <a:latin typeface="Times New Roman"/>
              </a:rPr>
              <a:t>  Step 3: Δv ≥ Δp / mₑ = 5.27×10⁻²⁵ / 9.109×10⁻³¹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79"/>
            <a:ext cx="10911535" cy="457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400" b="1" i="0" ns7:eastAsia="SimSun">
                <a:solidFill>
                  <a:srgbClr val="1E40AF"/>
                </a:solidFill>
                <a:latin typeface="Times New Roman"/>
              </a:rPr>
              <a:t>  &gt;&gt; Δv ≥ 5.8×10⁵ m/s 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79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300" b="1" i="0" ns8:eastAsia="SimHei">
                <a:solidFill>
                  <a:srgbClr val="1E40AF"/>
                </a:solidFill>
                <a:latin typeface="Times New Roman"/>
              </a:rPr>
              <a:t>🧠 结论：Δv ≈ 5.8×10⁵ m/s，与电子在原子中的运动速度（~10⁶ m/s）同一量级！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9="http://schemas.openxmlformats.org/wordprocessingml/2006/main" sz="1200" b="0" i="0" ns9:eastAsia="SimSun">
                <a:solidFill>
                  <a:srgbClr val="374151"/>
                </a:solidFill>
                <a:latin typeface="Times New Roman"/>
              </a:rPr>
              <a:t>这意味着我们完全无法确定电子"在轨道上某点的速度"——"轨道"概念在原子尺度失去了意义。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900" b="0" i="0" ns10:eastAsia="SimSun">
                <a:solidFill>
                  <a:srgbClr val="6B7280"/>
                </a:solidFill>
                <a:latin typeface="Times New Roman"/>
              </a:rPr>
              <a:t>12/45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从"轨道"到"概率"——思维升级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放弃'轨道'，接受'概率云'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11535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1926 薛定谔方程提出的新描述方式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3="http://schemas.openxmlformats.org/wordprocessingml/2006/main" sz="400" b="0" i="0" ns3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4="http://schemas.openxmlformats.org/wordprocessingml/2006/main" sz="1300" b="0" i="0" ns4:eastAsia="SimSun">
                <a:solidFill>
                  <a:srgbClr val="374151"/>
                </a:solidFill>
                <a:latin typeface="Times New Roman"/>
              </a:rPr>
              <a:t>  • 波函数 ψ 描述电子的运动状态（概率振幅）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5="http://schemas.openxmlformats.org/wordprocessingml/2006/main" sz="1300" b="1" i="0" ns5:eastAsia="SimSun">
                <a:solidFill>
                  <a:srgbClr val="1E40AF"/>
                </a:solidFill>
                <a:latin typeface="Times New Roman"/>
              </a:rPr>
              <a:t>  • |ψ|² 表示电子在空间某点出现的概率密度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6="http://schemas.openxmlformats.org/wordprocessingml/2006/main" sz="1300" b="0" i="0" ns6:eastAsia="SimSun">
                <a:solidFill>
                  <a:srgbClr val="374151"/>
                </a:solidFill>
                <a:latin typeface="Times New Roman"/>
              </a:rPr>
              <a:t>  • 电子云 = |ψ|² 的可视化——黑点密集处概率大，稀疏处概率小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300" b="0" i="1" ns7:eastAsia="SimSun">
                <a:solidFill>
                  <a:srgbClr val="374151"/>
                </a:solidFill>
                <a:latin typeface="Times New Roman"/>
              </a:rPr>
              <a:t>🗣️ 课堂原话："电子云不是云，是概率的散布图。这是从经典到量子的认知升级。"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300" b="1" i="0" ns8:eastAsia="SimHei">
                <a:solidFill>
                  <a:srgbClr val="1E40AF"/>
                </a:solidFill>
                <a:latin typeface="Times New Roman"/>
              </a:rPr>
              <a:t>🎯 位置测不准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无法同时知道位置和动量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49039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0="http://schemas.openxmlformats.org/wordprocessingml/2006/main" sz="1300" b="1" i="0" ns10:eastAsia="SimHei">
                <a:solidFill>
                  <a:srgbClr val="1E40AF"/>
                </a:solidFill>
                <a:latin typeface="Times New Roman"/>
              </a:rPr>
              <a:t>📊 概率可确定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但概率分布是确定的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749039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2="http://schemas.openxmlformats.org/wordprocessingml/2006/main" sz="1300" b="1" i="0" ns12:eastAsia="SimHei">
                <a:solidFill>
                  <a:srgbClr val="1E40AF"/>
                </a:solidFill>
                <a:latin typeface="Times New Roman"/>
              </a:rPr>
              <a:t>🧠 统计规律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13="http://schemas.openxmlformats.org/wordprocessingml/2006/main" sz="1100" b="0" i="0" ns13:eastAsia="SimSun">
                <a:solidFill>
                  <a:srgbClr val="374151"/>
                </a:solidFill>
                <a:latin typeface="Times New Roman"/>
              </a:rPr>
              <a:t>用统计方法考察微观粒子行为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4="http://schemas.openxmlformats.org/wordprocessingml/2006/main" sz="900" b="0" i="0" ns14:eastAsia="SimSun">
                <a:solidFill>
                  <a:srgbClr val="6B7280"/>
                </a:solidFill>
                <a:latin typeface="Times New Roman"/>
              </a:rPr>
              <a:t>13/45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原子结构的量子力学描述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薛定谔方程 · 四个量子数 · 概率密度与电子云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14/45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薛定谔方程——量子力学的核心方程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1926 · 以波函数 ψ 描述电子运动状态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058400" cy="18288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📐 薛定谔方程（直角坐标形式）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3="http://schemas.openxmlformats.org/wordprocessingml/2006/main" sz="600" b="0" i="0" ns3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4="http://schemas.openxmlformats.org/wordprocessingml/2006/main" sz="1600" b="1" i="0" ns4:eastAsia="SimSun">
                <a:solidFill>
                  <a:srgbClr val="374151"/>
                </a:solidFill>
                <a:latin typeface="Times New Roman"/>
              </a:rPr>
              <a:t>  ∂²ψ/∂x² + ∂²ψ/∂y² + ∂²ψ/∂z² + (8π²m/h²)(E-V)ψ 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5="http://schemas.openxmlformats.org/wordprocessingml/2006/main" sz="600" b="0" i="0" ns5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6="http://schemas.openxmlformats.org/wordprocessingml/2006/main" sz="1100" b="0" i="0" ns6:eastAsia="SimSun">
                <a:solidFill>
                  <a:srgbClr val="6B7280"/>
                </a:solidFill>
                <a:latin typeface="Times New Roman"/>
              </a:rPr>
              <a:t>  h: Planck常数   m: 电子质量   E: 总能量   V: 势能   ψ: 波函数（概率振幅）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300" b="0" i="0" ns7:eastAsia="SimSun">
                <a:solidFill>
                  <a:srgbClr val="374151"/>
                </a:solidFill>
                <a:latin typeface="Times New Roman"/>
              </a:rPr>
              <a:t>💡 波函数的物理意义：对一个质量为 m、在势能为 V 的势场中运动的电子，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300" b="0" i="0" ns8:eastAsia="SimSun">
                <a:solidFill>
                  <a:srgbClr val="374151"/>
                </a:solidFill>
                <a:latin typeface="Times New Roman"/>
              </a:rPr>
              <a:t>方程合理的解 ψ 表示电子运动的某一稳定状态，对应的 E 为该状态的电子能量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200" b="1" i="0" ns9:eastAsia="SimSun">
                <a:solidFill>
                  <a:srgbClr val="374151"/>
                </a:solidFill>
                <a:latin typeface="Times New Roman"/>
              </a:rPr>
              <a:t>由于原子具有球对称性 → 从直角坐标(x,y,z)变换到球极坐标(r,θ,φ)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10="http://schemas.openxmlformats.org/wordprocessingml/2006/main" sz="1200" b="0" i="0" ns10:eastAsia="SimSun">
                <a:solidFill>
                  <a:srgbClr val="1E40AF"/>
                </a:solidFill>
                <a:latin typeface="Times New Roman"/>
              </a:rPr>
              <a:t>  x = r·sinθ·cosφ    y = r·sinθ·sinφ    z = r·cosθ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1="http://schemas.openxmlformats.org/wordprocessingml/2006/main" sz="900" b="0" i="0" ns11:eastAsia="SimSun">
                <a:solidFill>
                  <a:srgbClr val="6B7280"/>
                </a:solidFill>
                <a:latin typeface="Times New Roman"/>
              </a:rPr>
              <a:t>15/45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变量分离与三个量子数的自然出现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量子数不是人为假定的——是边界条件的自然推论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i="0" ns2:eastAsia="SimSun">
                <a:solidFill>
                  <a:srgbClr val="374151"/>
                </a:solidFill>
                <a:latin typeface="Times New Roman"/>
              </a:rPr>
              <a:t>通过变量分离法，将 ψ 分解为径向部分和角度部分：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058400" cy="6400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800" b="1" i="1" ns3:eastAsia="SimSun">
                <a:solidFill>
                  <a:srgbClr val="1E40AF"/>
                </a:solidFill>
                <a:latin typeface="Times New Roman"/>
              </a:rPr>
              <a:t>    ψ_{n,l,m}(r,θ,φ) = R_{n,l}(r) · Y_{l,m}(θ,φ)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10911535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300" b="1" i="0" ns4:eastAsia="SimHei">
                <a:solidFill>
                  <a:srgbClr val="1E40AF"/>
                </a:solidFill>
                <a:latin typeface="Times New Roman"/>
              </a:rPr>
              <a:t>主量子数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100" b="0" i="0" ns5:eastAsia="SimSun">
                <a:solidFill>
                  <a:srgbClr val="6B7280"/>
                </a:solidFill>
                <a:latin typeface="Times New Roman"/>
              </a:rPr>
              <a:t>径向方程边界条件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000" b="1" i="0" ns6:eastAsia="SimSun">
                <a:solidFill>
                  <a:srgbClr val="374151"/>
                </a:solidFill>
                <a:latin typeface="Times New Roman"/>
              </a:rPr>
              <a:t>1, 2, 3, ...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电子层、主要能量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91153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291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300" b="1" i="0" ns8:eastAsia="SimHei">
                <a:solidFill>
                  <a:srgbClr val="1E40AF"/>
                </a:solidFill>
                <a:latin typeface="Times New Roman"/>
              </a:rPr>
              <a:t>角量子数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100" b="0" i="0" ns9:eastAsia="SimSun">
                <a:solidFill>
                  <a:srgbClr val="6B7280"/>
                </a:solidFill>
                <a:latin typeface="Times New Roman"/>
              </a:rPr>
              <a:t>角度方程边界条件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91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000" b="1" i="0" ns10:eastAsia="SimSun">
                <a:solidFill>
                  <a:srgbClr val="374151"/>
                </a:solidFill>
                <a:latin typeface="Times New Roman"/>
              </a:rPr>
              <a:t>0, 1, ..., n-1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轨道形状、能级分裂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49039"/>
            <a:ext cx="10911535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300" b="1" i="0" ns12:eastAsia="SimHei">
                <a:solidFill>
                  <a:srgbClr val="1E40AF"/>
                </a:solidFill>
                <a:latin typeface="Times New Roman"/>
              </a:rPr>
              <a:t>磁量子数 m_l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100" b="0" i="0" ns13:eastAsia="SimSun">
                <a:solidFill>
                  <a:srgbClr val="6B7280"/>
                </a:solidFill>
                <a:latin typeface="Times New Roman"/>
              </a:rPr>
              <a:t>角度方程边界条件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794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000" b="1" i="0" ns14:eastAsia="SimSun">
                <a:solidFill>
                  <a:srgbClr val="374151"/>
                </a:solidFill>
                <a:latin typeface="Times New Roman"/>
              </a:rPr>
              <a:t>-l, ..., 0, ..., +l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100" b="0" i="0" ns15:eastAsia="SimSun">
                <a:solidFill>
                  <a:srgbClr val="374151"/>
                </a:solidFill>
                <a:latin typeface="Times New Roman"/>
              </a:rPr>
              <a:t>轨道空间取向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200" b="0" i="0" ns16:eastAsia="SimSun">
                <a:solidFill>
                  <a:srgbClr val="374151"/>
                </a:solidFill>
                <a:latin typeface="Times New Roman"/>
              </a:rPr>
              <a:t>🧠 关键认识：对应一组合理的 n,l,m 取值只有一个确定的波函数，每一个波函数称为一个原子轨道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7="http://schemas.openxmlformats.org/wordprocessingml/2006/main" sz="900" b="0" i="0" ns17:eastAsia="SimSun">
                <a:solidFill>
                  <a:srgbClr val="6B7280"/>
                </a:solidFill>
                <a:latin typeface="Times New Roman"/>
              </a:rPr>
              <a:t>16/45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主量子数 n——电子层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决定电子层和主要能量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n 取值与能层符号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200" b="1" i="0" ns3:eastAsia="SimHei">
                <a:solidFill>
                  <a:srgbClr val="1E40AF"/>
                </a:solidFill>
                <a:latin typeface="Times New Roman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200" b="1" i="0" ns4:eastAsia="SimHei">
                <a:solidFill>
                  <a:srgbClr val="1E40A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200" b="1" i="0" ns5:eastAsia="SimHei">
                <a:solidFill>
                  <a:srgbClr val="1E40AF"/>
                </a:solidFill>
                <a:latin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200" b="1" i="0" ns6:eastAsia="SimHei">
                <a:solidFill>
                  <a:srgbClr val="1E40A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200" b="1" i="0" ns7:eastAsia="SimHei">
                <a:solidFill>
                  <a:srgbClr val="1E40AF"/>
                </a:solidFill>
                <a:latin typeface="Times New Roman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200" b="1" i="0" ns8:eastAsia="SimHei">
                <a:solidFill>
                  <a:srgbClr val="1E40AF"/>
                </a:solidFill>
                <a:latin typeface="Times New Roman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200" b="1" i="0" ns9:eastAsia="SimHei">
                <a:solidFill>
                  <a:srgbClr val="1E40AF"/>
                </a:solidFill>
                <a:latin typeface="Times New Roman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200" b="1" i="0" ns10:eastAsia="SimHei">
                <a:solidFill>
                  <a:srgbClr val="1E40AF"/>
                </a:solidFill>
                <a:latin typeface="Times New Roman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1965960"/>
            <a:ext cx="7772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1" i="0" ns11:eastAsia="SimSun">
                <a:solidFill>
                  <a:srgbClr val="374151"/>
                </a:solidFill>
                <a:latin typeface="Times New Roman"/>
              </a:rPr>
              <a:t>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1965960"/>
            <a:ext cx="777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1" i="0" ns12:eastAsia="SimSun">
                <a:solidFill>
                  <a:srgbClr val="374151"/>
                </a:solidFill>
                <a:latin typeface="Times New Roman"/>
              </a:rPr>
              <a:t>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965960"/>
            <a:ext cx="7772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100" b="1" i="0" ns13:eastAsia="SimSun">
                <a:solidFill>
                  <a:srgbClr val="374151"/>
                </a:solidFill>
                <a:latin typeface="Times New Roman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965960"/>
            <a:ext cx="777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100" b="1" i="0" ns14:eastAsia="SimSun">
                <a:solidFill>
                  <a:srgbClr val="374151"/>
                </a:solidFill>
                <a:latin typeface="Times New Roman"/>
              </a:rPr>
              <a:t>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965960"/>
            <a:ext cx="7772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1" i="0" ns15:eastAsia="SimSun">
                <a:solidFill>
                  <a:srgbClr val="374151"/>
                </a:solidFill>
                <a:latin typeface="Times New Roman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1965960"/>
            <a:ext cx="777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100" b="1" i="0" ns16:eastAsia="SimSun">
                <a:solidFill>
                  <a:srgbClr val="374151"/>
                </a:solidFill>
                <a:latin typeface="Times New Roman"/>
              </a:rPr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965960"/>
            <a:ext cx="7772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984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100" b="1" i="0" ns17:eastAsia="SimSun">
                <a:solidFill>
                  <a:srgbClr val="374151"/>
                </a:solidFill>
                <a:latin typeface="Times New Roman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1400" b="1" i="0" ns18:eastAsia="SimHei">
                <a:solidFill>
                  <a:srgbClr val="1E40AF"/>
                </a:solidFill>
                <a:latin typeface="Times New Roman"/>
              </a:rPr>
              <a:t>📌 关键性质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1200" b="0" i="0" ns19:eastAsia="SimSun">
                <a:solidFill>
                  <a:srgbClr val="374151"/>
                </a:solidFill>
                <a:latin typeface="Times New Roman"/>
              </a:rPr>
              <a:t>  • n 越大，电子离核越远，能量越高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0="http://schemas.openxmlformats.org/wordprocessingml/2006/main" sz="1200" b="0" i="0" ns20:eastAsia="SimSun">
                <a:solidFill>
                  <a:srgbClr val="374151"/>
                </a:solidFill>
                <a:latin typeface="Times New Roman"/>
              </a:rPr>
              <a:t>  • 单电子体系：Eₙ = -13.6Z²/n² 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1="http://schemas.openxmlformats.org/wordprocessingml/2006/main" sz="1200" b="0" i="0" ns21:eastAsia="SimSun">
                <a:solidFill>
                  <a:srgbClr val="374151"/>
                </a:solidFill>
                <a:latin typeface="Times New Roman"/>
              </a:rPr>
              <a:t>  • n 越大，原子半径越大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2="http://schemas.openxmlformats.org/wordprocessingml/2006/main" sz="1200" b="0" i="0" ns22:eastAsia="SimSun">
                <a:solidFill>
                  <a:srgbClr val="374151"/>
                </a:solidFill>
                <a:latin typeface="Times New Roman"/>
              </a:rPr>
              <a:t>  • 轨道总数 = n²，最大电子数 = 2n²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3="http://schemas.openxmlformats.org/wordprocessingml/2006/main" sz="900" b="0" i="0" ns23:eastAsia="SimSun">
                <a:solidFill>
                  <a:srgbClr val="6B7280"/>
                </a:solidFill>
                <a:latin typeface="Times New Roman"/>
              </a:rPr>
              <a:t>17/45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角量子数 l——轨道形状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s球/p哑铃/d花瓣/f复杂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l 取值与轨道形状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100" b="1" i="0" ns3:eastAsia="SimHei">
                <a:solidFill>
                  <a:srgbClr val="1E40AF"/>
                </a:solidFill>
                <a:latin typeface="Times New Roman"/>
              </a:rPr>
              <a:t>l值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100" b="1" i="0" ns4:eastAsia="SimHei">
                <a:solidFill>
                  <a:srgbClr val="1E40AF"/>
                </a:solidFill>
                <a:latin typeface="Times New Roman"/>
              </a:rPr>
              <a:t>能级符号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100" b="1" i="0" ns5:eastAsia="SimHei">
                <a:solidFill>
                  <a:srgbClr val="1E40AF"/>
                </a:solidFill>
                <a:latin typeface="Times New Roman"/>
              </a:rPr>
              <a:t>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100" b="1" i="0" ns6:eastAsia="SimHei">
                <a:solidFill>
                  <a:srgbClr val="1E40AF"/>
                </a:solidFill>
                <a:latin typeface="Times New Roman"/>
              </a:rPr>
              <a:t>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30352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984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100" b="1" i="0" ns7:eastAsia="SimSun">
                <a:solidFill>
                  <a:srgbClr val="1E40AF"/>
                </a:solidFill>
                <a:latin typeface="Times New Roman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100" b="1" i="0" ns8:eastAsia="SimSun">
                <a:solidFill>
                  <a:srgbClr val="374151"/>
                </a:solidFill>
                <a:latin typeface="Times New Roman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球形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900" b="0" i="0" ns10:eastAsia="SimSun">
                <a:solidFill>
                  <a:srgbClr val="6B7280"/>
                </a:solidFill>
                <a:latin typeface="Times New Roman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86000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304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1" i="0" ns11:eastAsia="SimSun">
                <a:solidFill>
                  <a:srgbClr val="1E40AF"/>
                </a:solidFill>
                <a:latin typeface="Times New Roma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1" i="0" ns12:eastAsia="SimSun">
                <a:solidFill>
                  <a:srgbClr val="374151"/>
                </a:solidFill>
                <a:latin typeface="Times New Roman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100" b="0" i="0" ns13:eastAsia="SimSun">
                <a:solidFill>
                  <a:srgbClr val="374151"/>
                </a:solidFill>
                <a:latin typeface="Times New Roman"/>
              </a:rPr>
              <a:t>哑铃形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900" b="0" i="0" ns14:eastAsia="SimSun">
                <a:solidFill>
                  <a:srgbClr val="6B7280"/>
                </a:solidFill>
                <a:latin typeface="Times New Roman"/>
              </a:rPr>
              <a:t>3 种取向：px, py, pz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06040"/>
            <a:ext cx="530352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2624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1" i="0" ns15:eastAsia="SimSun">
                <a:solidFill>
                  <a:srgbClr val="1E40AF"/>
                </a:solidFill>
                <a:latin typeface="Times New Roma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100" b="1" i="0" ns16:eastAsia="SimSun">
                <a:solidFill>
                  <a:srgbClr val="374151"/>
                </a:solidFill>
                <a:latin typeface="Times New Roman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1100" b="0" i="0" ns17:eastAsia="SimSun">
                <a:solidFill>
                  <a:srgbClr val="374151"/>
                </a:solidFill>
                <a:latin typeface="Times New Roman"/>
              </a:rPr>
              <a:t>花瓣形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624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900" b="0" i="0" ns18:eastAsia="SimSun">
                <a:solidFill>
                  <a:srgbClr val="6B7280"/>
                </a:solidFill>
                <a:latin typeface="Times New Roman"/>
              </a:rPr>
              <a:t>5 种取向：dxy, dxz, dyz, dx²-y², dz²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926080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2944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9="http://schemas.openxmlformats.org/wordprocessingml/2006/main" sz="1100" b="1" i="0" ns19:eastAsia="SimSun">
                <a:solidFill>
                  <a:srgbClr val="1E40AF"/>
                </a:solidFill>
                <a:latin typeface="Times New Roma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0="http://schemas.openxmlformats.org/wordprocessingml/2006/main" sz="1100" b="1" i="0" ns20:eastAsia="SimSun">
                <a:solidFill>
                  <a:srgbClr val="374151"/>
                </a:solidFill>
                <a:latin typeface="Times New Roman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1="http://schemas.openxmlformats.org/wordprocessingml/2006/main" sz="1100" b="0" i="0" ns21:eastAsia="SimSun">
                <a:solidFill>
                  <a:srgbClr val="374151"/>
                </a:solidFill>
                <a:latin typeface="Times New Roman"/>
              </a:rPr>
              <a:t>复杂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2="http://schemas.openxmlformats.org/wordprocessingml/2006/main" sz="900" b="0" i="0" ns22:eastAsia="SimSun">
                <a:solidFill>
                  <a:srgbClr val="6B7280"/>
                </a:solidFill>
                <a:latin typeface="Times New Roman"/>
              </a:rPr>
              <a:t>7 种取向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3="http://schemas.openxmlformats.org/wordprocessingml/2006/main" sz="1400" b="1" i="0" ns23:eastAsia="SimHei">
                <a:solidFill>
                  <a:srgbClr val="1E40AF"/>
                </a:solidFill>
                <a:latin typeface="Times New Roman"/>
              </a:rPr>
              <a:t>📌 多电子原子能量顺序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4="http://schemas.openxmlformats.org/wordprocessingml/2006/main" sz="1200" b="0" i="0" ns24:eastAsia="SimSun">
                <a:solidFill>
                  <a:srgbClr val="374151"/>
                </a:solidFill>
                <a:latin typeface="Times New Roman"/>
              </a:rPr>
              <a:t>当 n 相同时，l 越大 → 轨道能量越高：
E(ns) &lt; E(np) &lt; E(nd) &lt; E(nf)
当 l 相同，n 越大 → 轨道能量越高：
E(1s) &lt; E(2s) &lt; E(3s) &lt; E(4s)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5="http://schemas.openxmlformats.org/wordprocessingml/2006/main" sz="900" b="0" i="0" ns25:eastAsia="SimSun">
                <a:solidFill>
                  <a:srgbClr val="6B7280"/>
                </a:solidFill>
                <a:latin typeface="Times New Roman"/>
              </a:rPr>
              <a:t>18/45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磁量子数 m + 自旋量子数 m_s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轨道空间取向 · 电子自旋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🧲 磁量子数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200" b="0" i="0" ns3:eastAsia="SimSun">
                <a:solidFill>
                  <a:srgbClr val="374151"/>
                </a:solidFill>
                <a:latin typeface="Times New Roman"/>
              </a:rPr>
              <a:t>• 决定原子轨道的空间取向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200" b="0" i="0" ns4:eastAsia="SimSun">
                <a:solidFill>
                  <a:srgbClr val="374151"/>
                </a:solidFill>
                <a:latin typeface="Times New Roman"/>
              </a:rPr>
              <a:t>• 取值范围：-l, ..., 0, ..., +l（共 2l+1 个取值）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200" b="0" i="0" ns5:eastAsia="SimSun">
                <a:solidFill>
                  <a:srgbClr val="374151"/>
                </a:solidFill>
                <a:latin typeface="Times New Roman"/>
              </a:rPr>
              <a:t>• 轨道能量与 m 无关 → n,l相同 → 等价轨道（简并）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100" b="1" i="0" ns6:eastAsia="SimSun">
                <a:solidFill>
                  <a:srgbClr val="1E40AF"/>
                </a:solidFill>
                <a:latin typeface="Times New Roman"/>
              </a:rPr>
              <a:t>例：l=1(p轨道) → m=-1,0,+1 → px, py, pz 三个轨道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100" b="1" i="0" ns7:eastAsia="SimSun">
                <a:solidFill>
                  <a:srgbClr val="1E40AF"/>
                </a:solidFill>
                <a:latin typeface="Times New Roman"/>
              </a:rPr>
              <a:t>例：l=2(d轨道) → m=-2,-1,0,+1,+2 → 5个d轨道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1" i="0" ns8:eastAsia="SimHei">
                <a:solidFill>
                  <a:srgbClr val="1E40AF"/>
                </a:solidFill>
                <a:latin typeface="Times New Roman"/>
              </a:rPr>
              <a:t>🔄 自旋量子数 m_s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200" b="0" i="0" ns9:eastAsia="SimSun">
                <a:solidFill>
                  <a:srgbClr val="374151"/>
                </a:solidFill>
                <a:latin typeface="Times New Roman"/>
              </a:rPr>
              <a:t>• 描述电子绕轴旋转的状态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200" b="0" i="0" ns10:eastAsia="SimSun">
                <a:solidFill>
                  <a:srgbClr val="374151"/>
                </a:solidFill>
                <a:latin typeface="Times New Roman"/>
              </a:rPr>
              <a:t>• 取值：+1/2（↑）和 -1/2（↓）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200" b="0" i="0" ns11:eastAsia="SimSun">
                <a:solidFill>
                  <a:srgbClr val="374151"/>
                </a:solidFill>
                <a:latin typeface="Times New Roman"/>
              </a:rPr>
              <a:t>• 自旋运动使电子具有类似微磁体的行为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100" b="1" i="0" ns12:eastAsia="SimSun">
                <a:solidFill>
                  <a:srgbClr val="1E40AF"/>
                </a:solidFill>
                <a:latin typeface="Times New Roman"/>
              </a:rPr>
              <a:t>💡 用四个量子数可以完整描述一个电子的运动状态：
n(layer) · l(shape) · m(orientation) · ms(spin)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3="http://schemas.openxmlformats.org/wordprocessingml/2006/main" sz="900" b="0" i="0" ns13:eastAsia="SimSun">
                <a:solidFill>
                  <a:srgbClr val="6B7280"/>
                </a:solidFill>
                <a:latin typeface="Times New Roman"/>
              </a:rPr>
              <a:t>19/45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量子数汇总表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四个量子数共同决定一个电子的运动状态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200" b="1" i="0" ns2:eastAsia="SimHei">
                <a:solidFill>
                  <a:srgbClr val="FFFFFF"/>
                </a:solidFill>
                <a:latin typeface="Times New Roman"/>
              </a:rPr>
              <a:t>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200" b="1" i="0" ns3:eastAsia="SimHei">
                <a:solidFill>
                  <a:srgbClr val="FFFFFF"/>
                </a:solidFill>
                <a:latin typeface="Times New Roman"/>
              </a:rPr>
              <a:t>符号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200" b="1" i="0" ns4:eastAsia="SimHei">
                <a:solidFill>
                  <a:srgbClr val="FFFFFF"/>
                </a:solidFill>
                <a:latin typeface="Times New Roman"/>
              </a:rPr>
              <a:t>取值范围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200" b="1" i="0" ns5:eastAsia="SimHei">
                <a:solidFill>
                  <a:srgbClr val="FFFFFF"/>
                </a:solidFill>
                <a:latin typeface="Times New Roman"/>
              </a:rPr>
              <a:t>物理意义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200" b="0" i="0" ns6:eastAsia="SimSun">
                <a:solidFill>
                  <a:srgbClr val="374151"/>
                </a:solidFill>
                <a:latin typeface="Times New Roman"/>
              </a:rPr>
              <a:t>主量子数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200" b="0" i="0" ns8:eastAsia="SimSun">
                <a:solidFill>
                  <a:srgbClr val="374151"/>
                </a:solidFill>
                <a:latin typeface="Times New Roman"/>
              </a:rPr>
              <a:t>1, 2, 3, ...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200" b="0" i="0" ns9:eastAsia="SimSun">
                <a:solidFill>
                  <a:srgbClr val="374151"/>
                </a:solidFill>
                <a:latin typeface="Times New Roman"/>
              </a:rPr>
              <a:t>电子层，主要能量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94560"/>
            <a:ext cx="1091153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4027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200" b="0" i="0" ns10:eastAsia="SimSun">
                <a:solidFill>
                  <a:srgbClr val="374151"/>
                </a:solidFill>
                <a:latin typeface="Times New Roman"/>
              </a:rPr>
              <a:t>角量子数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2402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200" b="0" i="0" ns11:eastAsia="SimSun">
                <a:solidFill>
                  <a:srgbClr val="374151"/>
                </a:solidFill>
                <a:latin typeface="Times New Roman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240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200" b="0" i="0" ns12:eastAsia="SimSun">
                <a:solidFill>
                  <a:srgbClr val="374151"/>
                </a:solidFill>
                <a:latin typeface="Times New Roman"/>
              </a:rPr>
              <a:t>0, 1, ..., n-1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402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200" b="0" i="0" ns13:eastAsia="SimSun">
                <a:solidFill>
                  <a:srgbClr val="374151"/>
                </a:solidFill>
                <a:latin typeface="Times New Roman"/>
              </a:rPr>
              <a:t>轨道形状，能级分裂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51760"/>
            <a:ext cx="10911535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7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200" b="0" i="0" ns14:eastAsia="SimSun">
                <a:solidFill>
                  <a:srgbClr val="374151"/>
                </a:solidFill>
                <a:latin typeface="Times New Roman"/>
              </a:rPr>
              <a:t>磁量子数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6974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200" b="0" i="0" ns15:eastAsia="SimSun">
                <a:solidFill>
                  <a:srgbClr val="374151"/>
                </a:solidFill>
                <a:latin typeface="Times New Roman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6974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200" b="0" i="0" ns16:eastAsia="SimSun">
                <a:solidFill>
                  <a:srgbClr val="374151"/>
                </a:solidFill>
                <a:latin typeface="Times New Roman"/>
              </a:rPr>
              <a:t>-l, ..., 0, ..., +l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97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200" b="0" i="0" ns17:eastAsia="SimSun">
                <a:solidFill>
                  <a:srgbClr val="374151"/>
                </a:solidFill>
                <a:latin typeface="Times New Roman"/>
              </a:rPr>
              <a:t>空间取向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08960"/>
            <a:ext cx="10911535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5467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8="http://schemas.openxmlformats.org/wordprocessingml/2006/main" sz="1200" b="0" i="0" ns18:eastAsia="SimSun">
                <a:solidFill>
                  <a:srgbClr val="374151"/>
                </a:solidFill>
                <a:latin typeface="Times New Roman"/>
              </a:rPr>
              <a:t>自旋量子数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1546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9="http://schemas.openxmlformats.org/wordprocessingml/2006/main" sz="1200" b="0" i="0" ns19:eastAsia="SimSun">
                <a:solidFill>
                  <a:srgbClr val="374151"/>
                </a:solidFill>
                <a:latin typeface="Times New Roman"/>
              </a:rPr>
              <a:t>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154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0="http://schemas.openxmlformats.org/wordprocessingml/2006/main" sz="1200" b="0" i="0" ns20:eastAsia="SimSun">
                <a:solidFill>
                  <a:srgbClr val="374151"/>
                </a:solidFill>
                <a:latin typeface="Times New Roman"/>
              </a:rPr>
              <a:t>+1/2, -1/2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154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1="http://schemas.openxmlformats.org/wordprocessingml/2006/main" sz="1200" b="0" i="0" ns21:eastAsia="SimSun">
                <a:solidFill>
                  <a:srgbClr val="374151"/>
                </a:solidFill>
                <a:latin typeface="Times New Roman"/>
              </a:rPr>
              <a:t>自旋状态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2="http://schemas.openxmlformats.org/wordprocessingml/2006/main" sz="900" b="0" i="0" ns22:eastAsia="SimSun">
                <a:solidFill>
                  <a:srgbClr val="6B7280"/>
                </a:solidFill>
                <a:latin typeface="Times New Roman"/>
              </a:rPr>
              <a:t>20/45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⚠️ 易错点：量子数组合判断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必须同时满足 n,l,m,ms 的取值范围！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374151"/>
                </a:solidFill>
                <a:latin typeface="Times New Roman"/>
              </a:rPr>
              <a:t>判断以下量子数组是否能存在？为什么？（选自原讲义习题1）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11535" cy="5029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200" b="1" i="0" ns3:eastAsia="SimSun">
                <a:solidFill>
                  <a:srgbClr val="374151"/>
                </a:solidFill>
                <a:latin typeface="Times New Roman"/>
              </a:rPr>
              <a:t>  (1) n=1, l=1, m=1, ms=-1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4="http://schemas.openxmlformats.org/wordprocessingml/2006/main" sz="1100" b="1" i="0" ns4:eastAsia="SimSun">
                <a:solidFill>
                  <a:srgbClr val="DC2626"/>
                </a:solidFill>
                <a:latin typeface="Times New Roman"/>
              </a:rPr>
              <a:t>  ❌ l 不能 ≥ n（l max = n-1 = 0）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911535" cy="5029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200" b="1" i="0" ns5:eastAsia="SimSun">
                <a:solidFill>
                  <a:srgbClr val="374151"/>
                </a:solidFill>
                <a:latin typeface="Times New Roman"/>
              </a:rPr>
              <a:t>  (2) n=3, l=1, m=2, ms=+1/2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6="http://schemas.openxmlformats.org/wordprocessingml/2006/main" sz="1100" b="1" i="0" ns6:eastAsia="SimSun">
                <a:solidFill>
                  <a:srgbClr val="DC2626"/>
                </a:solidFill>
                <a:latin typeface="Times New Roman"/>
              </a:rPr>
              <a:t>  ❌ m 超出范围（l=1 → m = -1,0,+1）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10911535" cy="5029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200" b="1" i="0" ns7:eastAsia="SimSun">
                <a:solidFill>
                  <a:srgbClr val="374151"/>
                </a:solidFill>
                <a:latin typeface="Times New Roman"/>
              </a:rPr>
              <a:t>  (3) n=3, l=2, m=1, ms=-1/2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8="http://schemas.openxmlformats.org/wordprocessingml/2006/main" sz="1100" b="1" i="0" ns8:eastAsia="SimSun">
                <a:solidFill>
                  <a:srgbClr val="05922B"/>
                </a:solidFill>
                <a:latin typeface="Times New Roman"/>
              </a:rPr>
              <a:t>  ✅ 合法：3d 轨道的一个电子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0911535" cy="5029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200" b="1" i="0" ns9:eastAsia="SimSun">
                <a:solidFill>
                  <a:srgbClr val="374151"/>
                </a:solidFill>
                <a:latin typeface="Times New Roman"/>
              </a:rPr>
              <a:t>  (4) n=2, l=0, m=0, ms=0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10="http://schemas.openxmlformats.org/wordprocessingml/2006/main" sz="1100" b="1" i="0" ns10:eastAsia="SimSun">
                <a:solidFill>
                  <a:srgbClr val="DC2626"/>
                </a:solidFill>
                <a:latin typeface="Times New Roman"/>
              </a:rPr>
              <a:t>  ❌ ms 不能为 0（只能 +1/2 或 -1/2）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1="http://schemas.openxmlformats.org/wordprocessingml/2006/main" sz="900" b="0" i="0" ns11:eastAsia="SimSun">
                <a:solidFill>
                  <a:srgbClr val="6B7280"/>
                </a:solidFill>
                <a:latin typeface="Times New Roman"/>
              </a:rPr>
              <a:t>21/45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概率密度与电子云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|ψ|² = 概率密度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1E40AF"/>
                </a:solidFill>
                <a:latin typeface="Times New Roman"/>
              </a:rPr>
              <a:t>|ψ|² 的物理意义：概率密度（单位体积内电子出现概率）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200" b="1" i="0" ns3:eastAsia="SimHei">
                <a:solidFill>
                  <a:srgbClr val="1E40AF"/>
                </a:solidFill>
                <a:latin typeface="Times New Roman"/>
              </a:rPr>
              <a:t>  径向密度分布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4="http://schemas.openxmlformats.org/wordprocessingml/2006/main" sz="1000" b="0" i="0" ns4:eastAsia="SimSun">
                <a:solidFill>
                  <a:srgbClr val="374151"/>
                </a:solidFill>
                <a:latin typeface="Times New Roman"/>
              </a:rPr>
              <a:t>  R²(r) 对 r 作图 — 核附近电子云密度最大，随 r 增大递减
s 态在核附近密度最大；p/d 态核附近密度接近零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200" b="1" i="0" ns5:eastAsia="SimHei">
                <a:solidFill>
                  <a:srgbClr val="1E40AF"/>
                </a:solidFill>
                <a:latin typeface="Times New Roman"/>
              </a:rPr>
              <a:t>  径向分布函数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6="http://schemas.openxmlformats.org/wordprocessingml/2006/main" sz="1000" b="0" i="0" ns6:eastAsia="SimSun">
                <a:solidFill>
                  <a:srgbClr val="374151"/>
                </a:solidFill>
                <a:latin typeface="Times New Roman"/>
              </a:rPr>
              <a:t>  D(r) = r²R²(r) — 单位厚度球壳内电子分布概率
1s 的 D 函数极大值在 Bohr 半径 a₀=52.9pm 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200" b="1" i="0" ns7:eastAsia="SimHei">
                <a:solidFill>
                  <a:srgbClr val="1E40AF"/>
                </a:solidFill>
                <a:latin typeface="Times New Roman"/>
              </a:rPr>
              <a:t>  峰的规律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8="http://schemas.openxmlformats.org/wordprocessingml/2006/main" sz="1000" b="0" i="0" ns8:eastAsia="SimSun">
                <a:solidFill>
                  <a:srgbClr val="374151"/>
                </a:solidFill>
                <a:latin typeface="Times New Roman"/>
              </a:rPr>
              <a:t>  • D 函数峰个数 = n - l
• 主峰随 n 增加离核越来越远
• l 越大，峰数目越少，主峰离核越近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9="http://schemas.openxmlformats.org/wordprocessingml/2006/main" sz="900" b="0" i="0" ns9:eastAsia="SimSun">
                <a:solidFill>
                  <a:srgbClr val="6B7280"/>
                </a:solidFill>
                <a:latin typeface="Times New Roman"/>
              </a:rPr>
              <a:t>22/45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原子轨道与电子云的空间图象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波函数角度分布 vs 电子云角度分布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波函数(ψ) 与 电子云(ψ²) 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11535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100" b="1" i="0" ns3:eastAsia="SimHei">
                <a:solidFill>
                  <a:srgbClr val="FFFFFF"/>
                </a:solidFill>
                <a:latin typeface="Times New Roman"/>
              </a:rPr>
              <a:t>对比项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91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100" b="1" i="0" ns4:eastAsia="SimHei">
                <a:solidFill>
                  <a:srgbClr val="FFFFFF"/>
                </a:solidFill>
                <a:latin typeface="Times New Roman"/>
              </a:rPr>
              <a:t>ψ 波函数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100" b="1" i="0" ns5:eastAsia="SimHei">
                <a:solidFill>
                  <a:srgbClr val="FFFFFF"/>
                </a:solidFill>
                <a:latin typeface="Times New Roman"/>
              </a:rPr>
              <a:t>ψ² 电子云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91153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100" b="0" i="0" ns6:eastAsia="SimSun">
                <a:solidFill>
                  <a:srgbClr val="374151"/>
                </a:solidFill>
                <a:latin typeface="Times New Roman"/>
              </a:rPr>
              <a:t>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03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描写电子运动状态的数学表达式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03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100" b="0" i="0" ns8:eastAsia="SimSun">
                <a:solidFill>
                  <a:srgbClr val="374151"/>
                </a:solidFill>
                <a:latin typeface="Times New Roman"/>
              </a:rPr>
              <a:t>核外空间某处电子分布概率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1091153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14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100" b="0" i="0" ns10:eastAsia="SimSun">
                <a:solidFill>
                  <a:srgbClr val="374151"/>
                </a:solidFill>
                <a:latin typeface="Times New Roman"/>
              </a:rPr>
              <a:t>角度分布图略"胖"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514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比波函数图略"瘦"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1091153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符号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26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100" b="0" i="0" ns13:eastAsia="SimSun">
                <a:solidFill>
                  <a:srgbClr val="374151"/>
                </a:solidFill>
                <a:latin typeface="Times New Roman"/>
              </a:rPr>
              <a:t>有正负(+/−)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926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100" b="0" i="0" ns14:eastAsia="SimSun">
                <a:solidFill>
                  <a:srgbClr val="374151"/>
                </a:solidFill>
                <a:latin typeface="Times New Roman"/>
              </a:rPr>
              <a:t>无符号（均为正）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91840"/>
            <a:ext cx="1091153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0" i="0" ns15:eastAsia="SimSun">
                <a:solidFill>
                  <a:srgbClr val="374151"/>
                </a:solidFill>
                <a:latin typeface="Times New Roman"/>
              </a:rPr>
              <a:t>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337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100" b="0" i="0" ns16:eastAsia="SimSun">
                <a:solidFill>
                  <a:srgbClr val="374151"/>
                </a:solidFill>
                <a:latin typeface="Times New Roman"/>
              </a:rPr>
              <a:t>分析化学键的形成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337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100" b="0" i="0" ns17:eastAsia="SimSun">
                <a:solidFill>
                  <a:srgbClr val="374151"/>
                </a:solidFill>
                <a:latin typeface="Times New Roman"/>
              </a:rPr>
              <a:t>讨论键的空间构型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8="http://schemas.openxmlformats.org/wordprocessingml/2006/main" sz="900" b="0" i="0" ns18:eastAsia="SimSun">
                <a:solidFill>
                  <a:srgbClr val="6B7280"/>
                </a:solidFill>
                <a:latin typeface="Times New Roman"/>
              </a:rPr>
              <a:t>23/45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原子核外电子排布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构造原理 · 屏蔽与钻穿 · Slater 规则 · 三原则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24/45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构造原理与近似能级图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鲍林光谱实验总结 → 能级组对应周期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374151"/>
                </a:solidFill>
                <a:latin typeface="Times New Roman"/>
              </a:rPr>
              <a:t>电子填充顺序按能量从低到高排列：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911535" cy="6400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400" b="1" i="1" ns3:eastAsia="SimSun">
                <a:solidFill>
                  <a:srgbClr val="1E40AF"/>
                </a:solidFill>
                <a:latin typeface="Times New Roman"/>
              </a:rPr>
              <a:t>  1s  2s 2p  3s 3p  4s 3d 4p  5s 4d 5p  6s 4f 5d 6p  7s 5f 6d 7p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300" b="1" i="0" ns4:eastAsia="SimHei">
                <a:solidFill>
                  <a:srgbClr val="1E40AF"/>
                </a:solidFill>
                <a:latin typeface="Times New Roman"/>
              </a:rPr>
              <a:t>徐光宪规则：按 n+0.7l 值排序（值越大能量越高）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100" b="0" i="0" ns5:eastAsia="SimSun">
                <a:solidFill>
                  <a:srgbClr val="374151"/>
                </a:solidFill>
                <a:latin typeface="Times New Roman"/>
              </a:rPr>
              <a:t>  • 例：第七能级组 — 7s(7.0) → 5f(6.4) → 6d(6.7) → 7p(7.7)，同属第7周期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100" b="0" i="0" ns6:eastAsia="SimSun">
                <a:solidFill>
                  <a:srgbClr val="374151"/>
                </a:solidFill>
                <a:latin typeface="Times New Roman"/>
              </a:rPr>
              <a:t>  • n+0.7l 整数部分相同 → 同属一个能级组 → 对应一个周期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10911535" cy="8229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xmlns:ns7="http://schemas.openxmlformats.org/wordprocessingml/2006/main" sz="1300" b="1" i="0" ns7:eastAsia="SimHei">
                <a:solidFill>
                  <a:srgbClr val="374151"/>
                </a:solidFill>
                <a:latin typeface="Times New Roman"/>
              </a:rPr>
              <a:t>🧠 教学洞察：能级交错——填充顺序不是 n 的自然顺序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8="http://schemas.openxmlformats.org/wordprocessingml/2006/main" sz="1200" b="0" i="0" ns8:eastAsia="SimSun">
                <a:solidFill>
                  <a:srgbClr val="374151"/>
                </a:solidFill>
                <a:latin typeface="Times New Roman"/>
              </a:rPr>
              <a:t>4s 先于 3d → 钻穿效应导致 4s 能量低于 3d
E(4s) &lt; E(3d) &lt; E(4p) — 详见 §钻穿效应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9="http://schemas.openxmlformats.org/wordprocessingml/2006/main" sz="900" b="0" i="0" ns9:eastAsia="SimSun">
                <a:solidFill>
                  <a:srgbClr val="6B7280"/>
                </a:solidFill>
                <a:latin typeface="Times New Roman"/>
              </a:rPr>
              <a:t>25/45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屏蔽效应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其他电子抵消部分核电荷 → 有效核电荷 Z* &lt; 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374151"/>
                </a:solidFill>
                <a:latin typeface="Times New Roman"/>
              </a:rPr>
              <a:t>概念：电子 i 受其他电子的排斥，抵消了部分核电荷的吸引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400" b="1" i="0" ns3:eastAsia="SimHei">
                <a:solidFill>
                  <a:srgbClr val="1E40AF"/>
                </a:solidFill>
                <a:latin typeface="Times New Roman"/>
              </a:rPr>
              <a:t>📐 有效核电荷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4="http://schemas.openxmlformats.org/wordprocessingml/2006/main" sz="600" b="0" i="0" ns4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5="http://schemas.openxmlformats.org/wordprocessingml/2006/main" sz="2200" b="1" i="0" ns5:eastAsia="SimSun">
                <a:solidFill>
                  <a:srgbClr val="374151"/>
                </a:solidFill>
                <a:latin typeface="Times New Roman"/>
              </a:rPr>
              <a:t>    Z* = Z - 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6="http://schemas.openxmlformats.org/wordprocessingml/2006/main" sz="400" b="0" i="0" ns6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7="http://schemas.openxmlformats.org/wordprocessingml/2006/main" sz="1100" b="0" i="0" ns7:eastAsia="SimSun">
                <a:solidFill>
                  <a:srgbClr val="6B7280"/>
                </a:solidFill>
                <a:latin typeface="Times New Roman"/>
              </a:rPr>
              <a:t>    Z: 核电荷数    σ: 屏蔽常数    Z*: 有效核电荷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8="http://schemas.openxmlformats.org/wordprocessingml/2006/main" sz="400" b="0" i="0" ns8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    屏蔽越大 → σ 越大 → Z* 越小 → 电子能量越高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400" b="1" i="0" ns10:eastAsia="SimHei">
                <a:solidFill>
                  <a:srgbClr val="1E40AF"/>
                </a:solidFill>
                <a:latin typeface="Times New Roman"/>
              </a:rPr>
              <a:t>🔑 屏蔽效应的影响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  • 同层电子间屏蔽作用较小（σ≈0.35）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  • 内层对外层屏蔽作用接近完全（σ≈0.85-1.00）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100" b="0" i="0" ns13:eastAsia="SimSun">
                <a:solidFill>
                  <a:srgbClr val="374151"/>
                </a:solidFill>
                <a:latin typeface="Times New Roman"/>
              </a:rPr>
              <a:t>  • 外层对内层无屏蔽作用（σ=0）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100" b="0" i="0" ns14:eastAsia="SimSun">
                <a:solidFill>
                  <a:srgbClr val="374151"/>
                </a:solidFill>
                <a:latin typeface="Times New Roman"/>
              </a:rPr>
              <a:t>  • 屏蔽效应是能级交错的重要原因之一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5="http://schemas.openxmlformats.org/wordprocessingml/2006/main" sz="900" b="0" i="0" ns15:eastAsia="SimSun">
                <a:solidFill>
                  <a:srgbClr val="6B7280"/>
                </a:solidFill>
                <a:latin typeface="Times New Roman"/>
              </a:rPr>
              <a:t>26/45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Slater 经验规则——屏蔽常数的定量计算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🌟了解性：会算 Na 和 Ti 即可，不要求复杂体系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i="0" ns2:eastAsia="SimSun">
                <a:solidFill>
                  <a:srgbClr val="374151"/>
                </a:solidFill>
                <a:latin typeface="Times New Roman"/>
              </a:rPr>
              <a:t>Slater 规则将原子轨道分为若干组：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200" b="1" i="1" ns3:eastAsia="SimSun">
                <a:solidFill>
                  <a:srgbClr val="1E40AF"/>
                </a:solidFill>
                <a:latin typeface="Times New Roman"/>
              </a:rPr>
              <a:t>(1s) (2s2p) (3s3p) (3d) (4s4p) (4d) (4f) (5s5p) (5d)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200" b="0" i="0" ns4:eastAsia="SimSun">
                <a:solidFill>
                  <a:srgbClr val="374151"/>
                </a:solidFill>
                <a:latin typeface="Times New Roman"/>
              </a:rPr>
              <a:t>  外层电子对内层无屏蔽（σ=0）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200" b="0" i="0" ns5:eastAsia="SimSun">
                <a:solidFill>
                  <a:srgbClr val="374151"/>
                </a:solidFill>
                <a:latin typeface="Times New Roman"/>
              </a:rPr>
              <a:t>  同组电子间 σ=0.35（1s 组内 σ=0.30）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200" b="0" i="0" ns6:eastAsia="SimSun">
                <a:solidFill>
                  <a:srgbClr val="374151"/>
                </a:solidFill>
                <a:latin typeface="Times New Roman"/>
              </a:rPr>
              <a:t>  对 ns/np 电子：(n-1)组 σ=0.85；(n-2)及更内 σ=1.00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  对 nd/nf 电子：左侧所有组 σ=1.00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200" b="1" i="0" ns8:eastAsia="SimSun">
                <a:solidFill>
                  <a:srgbClr val="374151"/>
                </a:solidFill>
                <a:latin typeface="Times New Roman"/>
              </a:rPr>
              <a:t>💡 第一轮要求：Na（1s²2s²2p⁶3s¹）和 Ti（1s²...3d²4s²）的完整计算示例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9="http://schemas.openxmlformats.org/wordprocessingml/2006/main" sz="1100" b="0" i="0" ns9:eastAsia="SimSun">
                <a:solidFill>
                  <a:srgbClr val="6B7280"/>
                </a:solidFill>
                <a:latin typeface="Times New Roman"/>
              </a:rPr>
              <a:t>  Slater 规则的目的是让学生定量感受"为什么 4s 能量低于 3d"——不是背规则本身。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900" b="0" i="0" ns10:eastAsia="SimSun">
                <a:solidFill>
                  <a:srgbClr val="6B7280"/>
                </a:solidFill>
                <a:latin typeface="Times New Roman"/>
              </a:rPr>
              <a:t>27/45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钻穿效应——4s 为什么先于 3d？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电子钻入内层空间 → 受核引力更强 → 能量降低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374151"/>
                </a:solidFill>
                <a:latin typeface="Times New Roman"/>
              </a:rPr>
              <a:t>概念：电子进入原子内部空间，受到核的较强吸引作用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300" b="1" i="0" ns3:eastAsia="SimHei">
                <a:solidFill>
                  <a:srgbClr val="1E40AF"/>
                </a:solidFill>
                <a:latin typeface="Times New Roman"/>
              </a:rPr>
              <a:t>🔬 物理图像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4="http://schemas.openxmlformats.org/wordprocessingml/2006/main" sz="400" b="0" i="0" ns4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5="http://schemas.openxmlformats.org/wordprocessingml/2006/main" sz="1200" b="0" i="0" ns5:eastAsia="SimSun">
                <a:solidFill>
                  <a:srgbClr val="374151"/>
                </a:solidFill>
                <a:latin typeface="Times New Roman"/>
              </a:rPr>
              <a:t>  • 4s 电子云有小峰钻到离核很近的地方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6="http://schemas.openxmlformats.org/wordprocessingml/2006/main" sz="1200" b="0" i="0" ns6:eastAsia="SimSun">
                <a:solidFill>
                  <a:srgbClr val="374151"/>
                </a:solidFill>
                <a:latin typeface="Times New Roman"/>
              </a:rPr>
              <a:t>  • 3d 电子云被 3s/3p 挡住，"感受不到核的引力"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  • 电子钻得越深 → 受核吸引力越强 → 能量越低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8="http://schemas.openxmlformats.org/wordprocessingml/2006/main" sz="1200" b="1" i="0" ns8:eastAsia="SimSun">
                <a:solidFill>
                  <a:srgbClr val="1E40AF"/>
                </a:solidFill>
                <a:latin typeface="Times New Roman"/>
              </a:rPr>
              <a:t>  • n 相同时：钻穿效应 ns &gt; np &gt; nd &gt; 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200" b="0" i="1" ns9:eastAsia="SimSun">
                <a:solidFill>
                  <a:srgbClr val="374151"/>
                </a:solidFill>
                <a:latin typeface="Times New Roman"/>
              </a:rPr>
              <a:t>🗣️ 类比："3d 电子被 3s/3p 电子云挡住——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200" b="0" i="1" ns10:eastAsia="SimSun">
                <a:solidFill>
                  <a:srgbClr val="374151"/>
                </a:solidFill>
                <a:latin typeface="Times New Roman"/>
              </a:rPr>
              <a:t>像躲在盾牌后面感受不到核的引力"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5603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1="http://schemas.openxmlformats.org/wordprocessingml/2006/main" sz="1300" b="1" i="0" ns11:eastAsia="SimHei">
                <a:solidFill>
                  <a:srgbClr val="1E40AF"/>
                </a:solidFill>
                <a:latin typeface="Times New Roman"/>
              </a:rPr>
              <a:t>🧠 结论：E(4s) &lt; E(3d) &lt; E(4p)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原因：4s 钻穿效应 &gt; 3d → 4s 能量降低更多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3="http://schemas.openxmlformats.org/wordprocessingml/2006/main" sz="900" b="0" i="0" ns13:eastAsia="SimSun">
                <a:solidFill>
                  <a:srgbClr val="6B7280"/>
                </a:solidFill>
                <a:latin typeface="Times New Roman"/>
              </a:rPr>
              <a:t>28/45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电子排布三原则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能量最低 · 泡利不相容 · 洪特规则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11535" cy="11887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⚡ 能量最低原则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3="http://schemas.openxmlformats.org/wordprocessingml/2006/main" sz="1100" b="0" i="0" ns3:eastAsia="SimSun">
                <a:solidFill>
                  <a:srgbClr val="374151"/>
                </a:solidFill>
                <a:latin typeface="Times New Roman"/>
              </a:rPr>
              <a:t>  电子在原子轨道中排布，要使整个原子系统能量最低
按构造原理顺序填充：1s→2s→2p→3s→3p→4s→3d→4p→...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911535" cy="11887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4="http://schemas.openxmlformats.org/wordprocessingml/2006/main" sz="1400" b="1" i="0" ns4:eastAsia="SimHei">
                <a:solidFill>
                  <a:srgbClr val="3B82F6"/>
                </a:solidFill>
                <a:latin typeface="Times New Roman"/>
              </a:rPr>
              <a:t>🚫 泡利不相容原理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5="http://schemas.openxmlformats.org/wordprocessingml/2006/main" sz="1100" b="0" i="0" ns5:eastAsia="SimSun">
                <a:solidFill>
                  <a:srgbClr val="374151"/>
                </a:solidFill>
                <a:latin typeface="Times New Roman"/>
              </a:rPr>
              <a:t>  每个原子轨道最多容纳 2 个自旋相反的电子
同一原子中不可能有 4 个量子数完全相同的两个电子
→ 一个轨道中不存在自旋相同的两个电子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10911535" cy="11887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6="http://schemas.openxmlformats.org/wordprocessingml/2006/main" sz="1400" b="1" i="0" ns6:eastAsia="SimHei">
                <a:solidFill>
                  <a:srgbClr val="F59E0B"/>
                </a:solidFill>
                <a:latin typeface="Times New Roman"/>
              </a:rPr>
              <a:t>🪑 洪特规则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  电子在简并轨道(能量相同)上排布时
尽可能以自旋平行的方向，单独分占不同轨道
特例：半满、全满、全空时特别稳定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20640"/>
            <a:ext cx="10911535" cy="64008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xmlns:ns8="http://schemas.openxmlformats.org/wordprocessingml/2006/main" sz="1300" b="1" i="0" ns8:eastAsia="SimHei">
                <a:solidFill>
                  <a:srgbClr val="374151"/>
                </a:solidFill>
                <a:latin typeface="Times New Roman"/>
              </a:rPr>
              <a:t>🗣️ 课堂原话："先占座后配对"——公交车上先坐空座，没空座了才挤（洪特规则）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9="http://schemas.openxmlformats.org/wordprocessingml/2006/main" sz="1200" b="0" i="0" ns9:eastAsia="SimSun">
                <a:solidFill>
                  <a:srgbClr val="374151"/>
                </a:solidFill>
                <a:latin typeface="Times New Roman"/>
              </a:rPr>
              <a:t>类比来源：质心L2 · 原话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900" b="0" i="0" ns10:eastAsia="SimSun">
                <a:solidFill>
                  <a:srgbClr val="6B7280"/>
                </a:solidFill>
                <a:latin typeface="Times New Roman"/>
              </a:rPr>
              <a:t>29/45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Cr/Cu 特例——半满全满稳定化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"反常"排布比"正常"排布更稳定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100" b="1" i="0" ns2:eastAsia="SimHei">
                <a:solidFill>
                  <a:srgbClr val="FFFFFF"/>
                </a:solidFill>
                <a:latin typeface="Times New Roman"/>
              </a:rPr>
              <a:t>
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100" b="1" i="0" ns3:eastAsia="SimHei">
                <a:solidFill>
                  <a:srgbClr val="FFFFFF"/>
                </a:solidFill>
                <a:latin typeface="Times New Roman"/>
              </a:rPr>
              <a:t>预期排布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100" b="1" i="0" ns4:eastAsia="SimHei">
                <a:solidFill>
                  <a:srgbClr val="FFFFFF"/>
                </a:solidFill>
                <a:latin typeface="Times New Roman"/>
              </a:rPr>
              <a:t>实际排布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100" b="1" i="0" ns5:eastAsia="SimHei">
                <a:solidFill>
                  <a:srgbClr val="FFFFFF"/>
                </a:solidFill>
                <a:latin typeface="Times New Roman"/>
              </a:rPr>
              <a:t>原因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7315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100" b="0" i="0" ns6:eastAsia="SimSun">
                <a:solidFill>
                  <a:srgbClr val="374151"/>
                </a:solidFill>
                <a:latin typeface="Times New Roman"/>
              </a:rPr>
              <a:t>Cr (Z=24)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[Ar]4s²3d⁴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100" b="0" i="0" ns8:eastAsia="SimSun">
                <a:solidFill>
                  <a:srgbClr val="374151"/>
                </a:solidFill>
                <a:latin typeface="Times New Roman"/>
              </a:rPr>
              <a:t>[Ar]4s¹3d⁵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100" b="0" i="0" ns9:eastAsia="SimSun">
                <a:solidFill>
                  <a:srgbClr val="374151"/>
                </a:solidFill>
                <a:latin typeface="Times New Roman"/>
              </a:rPr>
              <a:t>3d 半满稳定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488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100" b="0" i="0" ns10:eastAsia="SimSun">
                <a:solidFill>
                  <a:srgbClr val="374151"/>
                </a:solidFill>
                <a:latin typeface="Times New Roman"/>
              </a:rPr>
              <a:t>Cu (Z=29)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1488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[Ar]4s²3d⁹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1488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[Ar]4s¹3d¹⁰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100" b="0" i="0" ns13:eastAsia="SimSun">
                <a:solidFill>
                  <a:srgbClr val="374151"/>
                </a:solidFill>
                <a:latin typeface="Times New Roman"/>
              </a:rPr>
              <a:t>3d 全满稳定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060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100" b="0" i="0" ns14:eastAsia="SimSun">
                <a:solidFill>
                  <a:srgbClr val="374151"/>
                </a:solidFill>
                <a:latin typeface="Times New Roman"/>
              </a:rPr>
              <a:t>Mo (Z=42)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606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0" i="0" ns15:eastAsia="SimSun">
                <a:solidFill>
                  <a:srgbClr val="374151"/>
                </a:solidFill>
                <a:latin typeface="Times New Roman"/>
              </a:rPr>
              <a:t>[Kr]5s²4d⁴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606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100" b="0" i="0" ns16:eastAsia="SimSun">
                <a:solidFill>
                  <a:srgbClr val="374151"/>
                </a:solidFill>
                <a:latin typeface="Times New Roman"/>
              </a:rPr>
              <a:t>[Kr]5s¹4d⁵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100" b="0" i="0" ns17:eastAsia="SimSun">
                <a:solidFill>
                  <a:srgbClr val="374151"/>
                </a:solidFill>
                <a:latin typeface="Times New Roman"/>
              </a:rPr>
              <a:t>4d 半满（Cr 族）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632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8="http://schemas.openxmlformats.org/wordprocessingml/2006/main" sz="1100" b="0" i="0" ns18:eastAsia="SimSun">
                <a:solidFill>
                  <a:srgbClr val="374151"/>
                </a:solidFill>
                <a:latin typeface="Times New Roman"/>
              </a:rPr>
              <a:t>Ag (Z=47)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0632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9="http://schemas.openxmlformats.org/wordprocessingml/2006/main" sz="1100" b="0" i="0" ns19:eastAsia="SimSun">
                <a:solidFill>
                  <a:srgbClr val="374151"/>
                </a:solidFill>
                <a:latin typeface="Times New Roman"/>
              </a:rPr>
              <a:t>[Kr]5s²4d⁹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0632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0="http://schemas.openxmlformats.org/wordprocessingml/2006/main" sz="1100" b="0" i="0" ns20:eastAsia="SimSun">
                <a:solidFill>
                  <a:srgbClr val="374151"/>
                </a:solidFill>
                <a:latin typeface="Times New Roman"/>
              </a:rPr>
              <a:t>[Kr]5s¹4d¹⁰ 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63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1="http://schemas.openxmlformats.org/wordprocessingml/2006/main" sz="1100" b="0" i="0" ns21:eastAsia="SimSun">
                <a:solidFill>
                  <a:srgbClr val="374151"/>
                </a:solidFill>
                <a:latin typeface="Times New Roman"/>
              </a:rPr>
              <a:t>4d 全满（Cu 族）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2="http://schemas.openxmlformats.org/wordprocessingml/2006/main" sz="1400" b="1" i="0" ns22:eastAsia="SimHei">
                <a:solidFill>
                  <a:srgbClr val="1E40AF"/>
                </a:solidFill>
                <a:latin typeface="Times New Roman"/>
              </a:rPr>
              <a:t>📌 记忆口诀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6459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3="http://schemas.openxmlformats.org/wordprocessingml/2006/main" sz="1200" b="0" i="0" ns23:eastAsia="SimSun">
                <a:solidFill>
                  <a:srgbClr val="374151"/>
                </a:solidFill>
                <a:latin typeface="Times New Roman"/>
              </a:rPr>
              <a:t>"半满全满更稳定
Cr 和 Cu 要记住"
仅适用于 Cr 族和 Cu 族
其余过渡金属不适用！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4="http://schemas.openxmlformats.org/wordprocessingml/2006/main" sz="900" b="0" i="0" ns24:eastAsia="SimSun">
                <a:solidFill>
                  <a:srgbClr val="6B7280"/>
                </a:solidFill>
                <a:latin typeface="Times New Roman"/>
              </a:rPr>
              <a:t>30/45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🧠 关键认知冲突：填充顺序 ≠ 失电子顺序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"入住顺序 ≠ 退房顺序"——4s 是酒店大堂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11535" cy="20116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600" b="1" i="0" ns2:eastAsia="SimHei">
                <a:solidFill>
                  <a:srgbClr val="1E40AF"/>
                </a:solidFill>
                <a:latin typeface="Times New Roman"/>
              </a:rPr>
              <a:t>🏨 酒店大堂类比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3="http://schemas.openxmlformats.org/wordprocessingml/2006/main" sz="400" b="0" i="0" ns3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4="http://schemas.openxmlformats.org/wordprocessingml/2006/main" sz="1300" b="1" i="0" ns4:eastAsia="SimSun">
                <a:solidFill>
                  <a:srgbClr val="374151"/>
                </a:solidFill>
                <a:latin typeface="Times New Roman"/>
              </a:rPr>
              <a:t>  入住时：先到大堂（4s），再到房间（3d）  →  填充顺序：4s 先于 3d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5="http://schemas.openxmlformats.org/wordprocessingml/2006/main" sz="1300" b="1" i="0" ns5:eastAsia="SimSun">
                <a:solidFill>
                  <a:srgbClr val="374151"/>
                </a:solidFill>
                <a:latin typeface="Times New Roman"/>
              </a:rPr>
              <a:t>  退房时：从大堂走（4s），房间还在（3d） →  失电子顺序：4s 先于 3d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6="http://schemas.openxmlformats.org/wordprocessingml/2006/main" sz="400" b="0" i="0" ns6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  关键：4s 和 3d 的能量本来就接近，填充时 4s 略低→先填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8="http://schemas.openxmlformats.org/wordprocessingml/2006/main" sz="1200" b="1" i="0" ns8:eastAsia="SimSun">
                <a:solidFill>
                  <a:srgbClr val="1E40AF"/>
                </a:solidFill>
                <a:latin typeface="Times New Roman"/>
              </a:rPr>
              <a:t>  但写排布式时，按 n 顺序写：1s²2s²2p⁶3s²3p⁶3d...4s...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10911535" cy="731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200" b="1" i="0" ns9:eastAsia="SimSun">
                <a:solidFill>
                  <a:srgbClr val="DC2626"/>
                </a:solidFill>
                <a:latin typeface="Times New Roman"/>
              </a:rPr>
              <a:t>⚠️ 高频错误（发生率 ~25%）：认为离子失电子也按填充顺序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10="http://schemas.openxmlformats.org/wordprocessingml/2006/main" sz="1200" b="1" i="0" ns10:eastAsia="SimSun">
                <a:solidFill>
                  <a:srgbClr val="374151"/>
                </a:solidFill>
                <a:latin typeface="Times New Roman"/>
              </a:rPr>
              <a:t>  正解：Fe²⁺ = [Ar]3d⁶（先失 4s²，不是 3d⁶）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1="http://schemas.openxmlformats.org/wordprocessingml/2006/main" sz="900" b="0" i="0" ns11:eastAsia="SimSun">
                <a:solidFill>
                  <a:srgbClr val="6B7280"/>
                </a:solidFill>
                <a:latin typeface="Times New Roman"/>
              </a:rPr>
              <a:t>31/45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过渡金属电子排布（Sc-Zn）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第一过渡系 21-30 号元素的价电子排布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100" b="1" i="0" ns2:eastAsia="SimHei">
                <a:solidFill>
                  <a:srgbClr val="1E40AF"/>
                </a:solidFill>
                <a:latin typeface="Times New Roman"/>
              </a:rPr>
              <a:t>元素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100" b="1" i="0" ns3:eastAsia="SimHei">
                <a:solidFill>
                  <a:srgbClr val="374151"/>
                </a:solidFill>
                <a:latin typeface="Times New Roman"/>
              </a:rPr>
              <a:t>Sc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100" b="1" i="0" ns4:eastAsia="SimHei">
                <a:solidFill>
                  <a:srgbClr val="374151"/>
                </a:solidFill>
                <a:latin typeface="Times New Roman"/>
              </a:rPr>
              <a:t>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100" b="1" i="0" ns5:eastAsia="SimHei">
                <a:solidFill>
                  <a:srgbClr val="374151"/>
                </a:solidFill>
                <a:latin typeface="Times New Roman"/>
              </a:rPr>
              <a:t>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188720"/>
            <a:ext cx="91440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100" b="1" i="0" ns6:eastAsia="SimHei">
                <a:solidFill>
                  <a:srgbClr val="DC2626"/>
                </a:solidFill>
                <a:latin typeface="Times New Roman"/>
              </a:rPr>
              <a:t>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100" b="1" i="0" ns7:eastAsia="SimHei">
                <a:solidFill>
                  <a:srgbClr val="374151"/>
                </a:solidFill>
                <a:latin typeface="Times New Roman"/>
              </a:rPr>
              <a:t>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100" b="1" i="0" ns8:eastAsia="SimHei">
                <a:solidFill>
                  <a:srgbClr val="374151"/>
                </a:solidFill>
                <a:latin typeface="Times New Roman"/>
              </a:rPr>
              <a:t>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100" b="1" i="0" ns9:eastAsia="SimHei">
                <a:solidFill>
                  <a:srgbClr val="374151"/>
                </a:solidFill>
                <a:latin typeface="Times New Roman"/>
              </a:rPr>
              <a:t>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100" b="1" i="0" ns10:eastAsia="SimHei">
                <a:solidFill>
                  <a:srgbClr val="374151"/>
                </a:solidFill>
                <a:latin typeface="Times New Roman"/>
              </a:rPr>
              <a:t>Ni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188720"/>
            <a:ext cx="91440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1" i="0" ns11:eastAsia="SimHei">
                <a:solidFill>
                  <a:srgbClr val="DC2626"/>
                </a:solidFill>
                <a:latin typeface="Times New Roman"/>
              </a:rPr>
              <a:t>Cu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1188720"/>
            <a:ext cx="91440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207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1" i="0" ns12:eastAsia="SimHei">
                <a:solidFill>
                  <a:srgbClr val="374151"/>
                </a:solidFill>
                <a:latin typeface="Times New Roman"/>
              </a:rPr>
              <a:t>Zn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100" b="1" i="0" ns13:eastAsia="SimHei">
                <a:solidFill>
                  <a:srgbClr val="1E40AF"/>
                </a:solidFill>
                <a:latin typeface="Times New Roman"/>
              </a:rPr>
              <a:t>排布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700" b="1" i="0" ns14:eastAsia="SimSun">
                <a:solidFill>
                  <a:srgbClr val="374151"/>
                </a:solidFill>
                <a:latin typeface="Times New Roman"/>
              </a:rPr>
              <a:t>[Ar]4s²3d¹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700" b="1" i="0" ns15:eastAsia="SimSun">
                <a:solidFill>
                  <a:srgbClr val="374151"/>
                </a:solidFill>
                <a:latin typeface="Times New Roman"/>
              </a:rPr>
              <a:t>[Ar]4s²3d²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700" b="1" i="0" ns16:eastAsia="SimSun">
                <a:solidFill>
                  <a:srgbClr val="374151"/>
                </a:solidFill>
                <a:latin typeface="Times New Roman"/>
              </a:rPr>
              <a:t>[Ar]4s²3d³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700" b="1" i="0" ns17:eastAsia="SimSun">
                <a:solidFill>
                  <a:srgbClr val="374151"/>
                </a:solidFill>
                <a:latin typeface="Times New Roman"/>
              </a:rPr>
              <a:t>[Ar]4s¹3d⁵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8="http://schemas.openxmlformats.org/wordprocessingml/2006/main" sz="700" b="1" i="0" ns18:eastAsia="SimSun">
                <a:solidFill>
                  <a:srgbClr val="374151"/>
                </a:solidFill>
                <a:latin typeface="Times New Roman"/>
              </a:rPr>
              <a:t>[Ar]4s²3d⁵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9="http://schemas.openxmlformats.org/wordprocessingml/2006/main" sz="700" b="1" i="0" ns19:eastAsia="SimSun">
                <a:solidFill>
                  <a:srgbClr val="374151"/>
                </a:solidFill>
                <a:latin typeface="Times New Roman"/>
              </a:rPr>
              <a:t>[Ar]4s²3d⁶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0="http://schemas.openxmlformats.org/wordprocessingml/2006/main" sz="700" b="1" i="0" ns20:eastAsia="SimSun">
                <a:solidFill>
                  <a:srgbClr val="374151"/>
                </a:solidFill>
                <a:latin typeface="Times New Roman"/>
              </a:rPr>
              <a:t>[Ar]4s²3d⁷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1="http://schemas.openxmlformats.org/wordprocessingml/2006/main" sz="700" b="1" i="0" ns21:eastAsia="SimSun">
                <a:solidFill>
                  <a:srgbClr val="374151"/>
                </a:solidFill>
                <a:latin typeface="Times New Roman"/>
              </a:rPr>
              <a:t>[Ar]4s²3d⁸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2="http://schemas.openxmlformats.org/wordprocessingml/2006/main" sz="700" b="1" i="0" ns22:eastAsia="SimSun">
                <a:solidFill>
                  <a:srgbClr val="374151"/>
                </a:solidFill>
                <a:latin typeface="Times New Roman"/>
              </a:rPr>
              <a:t>[Ar]4s¹3d¹⁰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3="http://schemas.openxmlformats.org/wordprocessingml/2006/main" sz="700" b="1" i="0" ns23:eastAsia="SimSun">
                <a:solidFill>
                  <a:srgbClr val="374151"/>
                </a:solidFill>
                <a:latin typeface="Times New Roman"/>
              </a:rPr>
              <a:t>[Ar]4s²3d¹⁰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4="http://schemas.openxmlformats.org/wordprocessingml/2006/main" sz="1200" b="1" i="0" ns24:eastAsia="SimSun">
                <a:solidFill>
                  <a:srgbClr val="DC2626"/>
                </a:solidFill>
                <a:latin typeface="Times New Roman"/>
              </a:rPr>
              <a:t>⚠️ 红色标注的 Cr 和 Cu 为特例——半满/全满稳定化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5="http://schemas.openxmlformats.org/wordprocessingml/2006/main" sz="900" b="0" i="0" ns25:eastAsia="SimSun">
                <a:solidFill>
                  <a:srgbClr val="6B7280"/>
                </a:solidFill>
                <a:latin typeface="Times New Roman"/>
              </a:rPr>
              <a:t>32/45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核外电子排布（续）· 周期律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离子排布 · 原子半径 · 电离能 · 电负性 · 反常点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33/45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离子电子排布——先失最外层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失电子顺序：np → ns → (n-1)d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1E40AF"/>
                </a:solidFill>
                <a:latin typeface="Times New Roman"/>
              </a:rPr>
              <a:t>规则：正离子先失电子从最外层开始，按 np → ns → (n-1)d 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200" b="1" i="0" ns3:eastAsia="SimHei">
                <a:solidFill>
                  <a:srgbClr val="1E40AF"/>
                </a:solidFill>
                <a:latin typeface="Times New Roman"/>
              </a:rPr>
              <a:t>  Fe → Fe²⁺ → Fe³⁺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4="http://schemas.openxmlformats.org/wordprocessingml/2006/main" sz="1000" b="0" i="0" ns4:eastAsia="SimSun">
                <a:solidFill>
                  <a:srgbClr val="374151"/>
                </a:solidFill>
                <a:latin typeface="Times New Roman"/>
              </a:rPr>
              <a:t>  Fe [Ar]4s²3d⁶ → Fe²⁺ [Ar]3d⁶（先失4s²）→ Fe³⁺ [Ar]3d⁵（再失1个3d）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200" b="1" i="0" ns5:eastAsia="SimHei">
                <a:solidFill>
                  <a:srgbClr val="1E40AF"/>
                </a:solidFill>
                <a:latin typeface="Times New Roman"/>
              </a:rPr>
              <a:t>  Cu → Cu⁺ → Cu²⁺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6="http://schemas.openxmlformats.org/wordprocessingml/2006/main" sz="1000" b="0" i="0" ns6:eastAsia="SimSun">
                <a:solidFill>
                  <a:srgbClr val="374151"/>
                </a:solidFill>
                <a:latin typeface="Times New Roman"/>
              </a:rPr>
              <a:t>  Cu [Ar]4s¹3d¹⁰ → Cu⁺ [Ar]3d¹⁰（失4s¹）→ Cu²⁺ [Ar]3d⁹（再失1个3d）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79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200" b="1" i="0" ns7:eastAsia="SimHei">
                <a:solidFill>
                  <a:srgbClr val="1E40AF"/>
                </a:solidFill>
                <a:latin typeface="Times New Roman"/>
              </a:rPr>
              <a:t>  Mn²⁺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8="http://schemas.openxmlformats.org/wordprocessingml/2006/main" sz="1000" b="0" i="0" ns8:eastAsia="SimSun">
                <a:solidFill>
                  <a:srgbClr val="374151"/>
                </a:solidFill>
                <a:latin typeface="Times New Roman"/>
              </a:rPr>
              <a:t>  Mn [Ar]4s²3d⁵ → Mn²⁺ [Ar]3d⁵（3d 半满，特别稳定）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39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200" b="1" i="0" ns9:eastAsia="SimHei">
                <a:solidFill>
                  <a:srgbClr val="1E40AF"/>
                </a:solidFill>
                <a:latin typeface="Times New Roman"/>
              </a:rPr>
              <a:t>  Cr³⁺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xmlns:ns10="http://schemas.openxmlformats.org/wordprocessingml/2006/main" sz="1000" b="0" i="0" ns10:eastAsia="SimSun">
                <a:solidFill>
                  <a:srgbClr val="374151"/>
                </a:solidFill>
                <a:latin typeface="Times New Roman"/>
              </a:rPr>
              <a:t>  Cr [Ar]4s¹3d⁵ → Cr³⁺ [Ar]3d³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1="http://schemas.openxmlformats.org/wordprocessingml/2006/main" sz="900" b="0" i="0" ns11:eastAsia="SimSun">
                <a:solidFill>
                  <a:srgbClr val="6B7280"/>
                </a:solidFill>
                <a:latin typeface="Times New Roman"/>
              </a:rPr>
              <a:t>34/45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周期律三大参数趋势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原子半径 · 电离能 · 电负性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400" b="1" i="0" ns2:eastAsia="SimHei">
                <a:solidFill>
                  <a:srgbClr val="1E40AF"/>
                </a:solidFill>
                <a:latin typeface="Times New Roman"/>
              </a:rPr>
              <a:t>📏 原子半径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3="http://schemas.openxmlformats.org/wordprocessingml/2006/main" sz="1100" b="0" i="0" ns3:eastAsia="SimSun">
                <a:solidFill>
                  <a:srgbClr val="374151"/>
                </a:solidFill>
                <a:latin typeface="Times New Roman"/>
              </a:rPr>
              <a:t>  同周期左→右：递减（Z*↑，电子云收缩）
同主族上→下：递增（n↑为主）
镧系收缩：La→Lu 缓慢递减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4="http://schemas.openxmlformats.org/wordprocessingml/2006/main" sz="1400" b="1" i="0" ns4:eastAsia="SimHei">
                <a:solidFill>
                  <a:srgbClr val="1E40AF"/>
                </a:solidFill>
                <a:latin typeface="Times New Roman"/>
              </a:rPr>
              <a:t>⚡ 电离能 I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5="http://schemas.openxmlformats.org/wordprocessingml/2006/main" sz="1100" b="0" i="0" ns5:eastAsia="SimSun">
                <a:solidFill>
                  <a:srgbClr val="374151"/>
                </a:solidFill>
                <a:latin typeface="Times New Roman"/>
              </a:rPr>
              <a:t>  同周期左→右：递增（Z*↑，电子难失去）
同主族上→下：递减（n↑，半径↑）
⚠️ 反常点：ⅡA&gt;ⅢA，ⅤA&gt;ⅥA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18872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6="http://schemas.openxmlformats.org/wordprocessingml/2006/main" sz="1400" b="1" i="0" ns6:eastAsia="SimHei">
                <a:solidFill>
                  <a:srgbClr val="1E40AF"/>
                </a:solidFill>
                <a:latin typeface="Times New Roman"/>
              </a:rPr>
              <a:t>🔗 电负性 χ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  同周期左→右：递增
同主族上→下：递减
F 最大(4.0)，Cs 最小(0.7)
差值大→离子键；差值小→共价键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wordprocessingml/2006/main" sz="900" b="0" i="0" ns8:eastAsia="SimSun">
                <a:solidFill>
                  <a:srgbClr val="6B7280"/>
                </a:solidFill>
                <a:latin typeface="Times New Roman"/>
              </a:rPr>
              <a:t>35/45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⚠️ 电离能反常清单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只背趋势不看反常 → 做题必错（发生率~30%）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500" b="1" i="0" ns2:eastAsia="SimSun">
                <a:solidFill>
                  <a:srgbClr val="1E40AF"/>
                </a:solidFill>
                <a:latin typeface="Times New Roman"/>
              </a:rPr>
              <a:t>口诀："比较电离能，先看轨道类型，再看周期趋势"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000" b="1" i="0" ns3:eastAsia="SimHei">
                <a:solidFill>
                  <a:srgbClr val="FFFFFF"/>
                </a:solidFill>
                <a:latin typeface="Times New Roman"/>
              </a:rPr>
              <a:t>反常对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000" b="1" i="0" ns4:eastAsia="SimHei">
                <a:solidFill>
                  <a:srgbClr val="FFFFFF"/>
                </a:solidFill>
                <a:latin typeface="Times New Roman"/>
              </a:rPr>
              <a:t>更高I₁的原因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000" b="1" i="0" ns5:eastAsia="SimHei">
                <a:solidFill>
                  <a:srgbClr val="FFFFFF"/>
                </a:solidFill>
                <a:latin typeface="Times New Roman"/>
              </a:rPr>
              <a:t>更低I₁的原因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000" b="1" i="0" ns6:eastAsia="SimHei">
                <a:solidFill>
                  <a:srgbClr val="FFFFFF"/>
                </a:solidFill>
                <a:latin typeface="Times New Roman"/>
              </a:rPr>
              <a:t>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1091153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000" b="1" i="0" ns7:eastAsia="SimHei">
                <a:solidFill>
                  <a:srgbClr val="FFFFFF"/>
                </a:solidFill>
                <a:latin typeface="Times New Roman"/>
              </a:rPr>
              <a:t>反常对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55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000" b="1" i="0" ns8:eastAsia="SimHei">
                <a:solidFill>
                  <a:srgbClr val="FFFFFF"/>
                </a:solidFill>
                <a:latin typeface="Times New Roman"/>
              </a:rPr>
              <a:t>更高I₁的原因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755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000" b="1" i="0" ns9:eastAsia="SimHei">
                <a:solidFill>
                  <a:srgbClr val="FFFFFF"/>
                </a:solidFill>
                <a:latin typeface="Times New Roman"/>
              </a:rPr>
              <a:t>更低I₁的原因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000" b="1" i="0" ns10:eastAsia="SimHei">
                <a:solidFill>
                  <a:srgbClr val="FFFFFF"/>
                </a:solidFill>
                <a:latin typeface="Times New Roman"/>
              </a:rPr>
              <a:t>结论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057400"/>
            <a:ext cx="1091153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1" i="0" ns11:eastAsia="SimHei">
                <a:solidFill>
                  <a:srgbClr val="1E40AF"/>
                </a:solidFill>
                <a:latin typeface="Times New Roman"/>
              </a:rPr>
              <a:t>B vs 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900" b="0" i="0" ns12:eastAsia="SimSun">
                <a:solidFill>
                  <a:srgbClr val="374151"/>
                </a:solidFill>
                <a:latin typeface="Times New Roman"/>
              </a:rPr>
              <a:t>Be 1s²2s²（s 全满稳定）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900" b="0" i="0" ns13:eastAsia="SimSun">
                <a:solidFill>
                  <a:srgbClr val="374151"/>
                </a:solidFill>
                <a:latin typeface="Times New Roman"/>
              </a:rPr>
              <a:t>B 2s²2p¹（p 电子易于电离）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000" b="1" i="0" ns14:eastAsia="SimSun">
                <a:solidFill>
                  <a:srgbClr val="DC2626"/>
                </a:solidFill>
                <a:latin typeface="Times New Roman"/>
              </a:rPr>
              <a:t>Be I₁ &gt; B I₁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468880"/>
            <a:ext cx="1091153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1" i="0" ns15:eastAsia="SimHei">
                <a:solidFill>
                  <a:srgbClr val="1E40AF"/>
                </a:solidFill>
                <a:latin typeface="Times New Roman"/>
              </a:rPr>
              <a:t>O vs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900" b="0" i="0" ns16:eastAsia="SimSun">
                <a:solidFill>
                  <a:srgbClr val="374151"/>
                </a:solidFill>
                <a:latin typeface="Times New Roman"/>
              </a:rPr>
              <a:t>N 2s²2p³（p 半满稳定）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900" b="0" i="0" ns17:eastAsia="SimSun">
                <a:solidFill>
                  <a:srgbClr val="374151"/>
                </a:solidFill>
                <a:latin typeface="Times New Roman"/>
              </a:rPr>
              <a:t>O 2s²2p⁴（p⁴有两个电子同轨道排斥）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8="http://schemas.openxmlformats.org/wordprocessingml/2006/main" sz="1000" b="1" i="0" ns18:eastAsia="SimSun">
                <a:solidFill>
                  <a:srgbClr val="DC2626"/>
                </a:solidFill>
                <a:latin typeface="Times New Roman"/>
              </a:rPr>
              <a:t>N I₁ &gt; O I₁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880360"/>
            <a:ext cx="10911535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9="http://schemas.openxmlformats.org/wordprocessingml/2006/main" sz="1100" b="1" i="0" ns19:eastAsia="SimHei">
                <a:solidFill>
                  <a:srgbClr val="1E40AF"/>
                </a:solidFill>
                <a:latin typeface="Times New Roman"/>
              </a:rPr>
              <a:t>Mg vs 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0="http://schemas.openxmlformats.org/wordprocessingml/2006/main" sz="900" b="0" i="0" ns20:eastAsia="SimSun">
                <a:solidFill>
                  <a:srgbClr val="374151"/>
                </a:solidFill>
                <a:latin typeface="Times New Roman"/>
              </a:rPr>
              <a:t>Mg 3s²（s 全满稳定）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1="http://schemas.openxmlformats.org/wordprocessingml/2006/main" sz="900" b="0" i="0" ns21:eastAsia="SimSun">
                <a:solidFill>
                  <a:srgbClr val="374151"/>
                </a:solidFill>
                <a:latin typeface="Times New Roman"/>
              </a:rPr>
              <a:t>Al 3s²3p¹（p 电子易于电离）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2="http://schemas.openxmlformats.org/wordprocessingml/2006/main" sz="1000" b="1" i="0" ns22:eastAsia="SimSun">
                <a:solidFill>
                  <a:srgbClr val="DC2626"/>
                </a:solidFill>
                <a:latin typeface="Times New Roman"/>
              </a:rPr>
              <a:t>Mg I₁ &gt; Al I₁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91840"/>
            <a:ext cx="1091153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3="http://schemas.openxmlformats.org/wordprocessingml/2006/main" sz="1100" b="1" i="0" ns23:eastAsia="SimHei">
                <a:solidFill>
                  <a:srgbClr val="1E40AF"/>
                </a:solidFill>
                <a:latin typeface="Times New Roman"/>
              </a:rPr>
              <a:t>P vs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4="http://schemas.openxmlformats.org/wordprocessingml/2006/main" sz="900" b="0" i="0" ns24:eastAsia="SimSun">
                <a:solidFill>
                  <a:srgbClr val="374151"/>
                </a:solidFill>
                <a:latin typeface="Times New Roman"/>
              </a:rPr>
              <a:t>P 3s²3p³（p 半满稳定）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5="http://schemas.openxmlformats.org/wordprocessingml/2006/main" sz="900" b="0" i="0" ns25:eastAsia="SimSun">
                <a:solidFill>
                  <a:srgbClr val="374151"/>
                </a:solidFill>
                <a:latin typeface="Times New Roman"/>
              </a:rPr>
              <a:t>S 3s²3p⁴（p⁴有电子同轨道排斥）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6="http://schemas.openxmlformats.org/wordprocessingml/2006/main" sz="1000" b="1" i="0" ns26:eastAsia="SimSun">
                <a:solidFill>
                  <a:srgbClr val="DC2626"/>
                </a:solidFill>
                <a:latin typeface="Times New Roman"/>
              </a:rPr>
              <a:t>P I₁ &gt; S I₁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7="http://schemas.openxmlformats.org/wordprocessingml/2006/main" sz="900" b="0" i="0" ns27:eastAsia="SimSun">
                <a:solidFill>
                  <a:srgbClr val="6B7280"/>
                </a:solidFill>
                <a:latin typeface="Times New Roman"/>
              </a:rPr>
              <a:t>36/45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原子核衰变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α 衰变 · β 衰变 · γ 衰变 · 核反应方程式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37/45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三种核衰变类型对比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放射性核素自发释放射线 → 转变成另一种核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200" b="1" i="0" ns2:eastAsia="SimHei">
                <a:solidFill>
                  <a:srgbClr val="FFFFFF"/>
                </a:solidFill>
                <a:latin typeface="Times New Roman"/>
              </a:rPr>
              <a:t>衰变类型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200" b="1" i="0" ns3:eastAsia="SimHei">
                <a:solidFill>
                  <a:srgbClr val="FFFFFF"/>
                </a:solidFill>
                <a:latin typeface="Times New Roman"/>
              </a:rPr>
              <a:t>放出粒子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200" b="1" i="0" ns4:eastAsia="SimHei">
                <a:solidFill>
                  <a:srgbClr val="FFFFFF"/>
                </a:solidFill>
                <a:latin typeface="Times New Roman"/>
              </a:rPr>
              <a:t>核变化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200" b="1" i="0" ns5:eastAsia="SimHei">
                <a:solidFill>
                  <a:srgbClr val="FFFFFF"/>
                </a:solidFill>
                <a:latin typeface="Times New Roman"/>
              </a:rPr>
              <a:t>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0911535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400" b="1" i="0" ns6:eastAsia="SimHei">
                <a:solidFill>
                  <a:srgbClr val="F59E0B"/>
                </a:solidFill>
                <a:latin typeface="Times New Roman"/>
              </a:rPr>
              <a:t>α 衰变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100" b="0" i="0" ns7:eastAsia="SimSun">
                <a:solidFill>
                  <a:srgbClr val="374151"/>
                </a:solidFill>
                <a:latin typeface="Times New Roman"/>
              </a:rPr>
              <a:t>⁴₂He (α粒子)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100" b="0" i="0" ns8:eastAsia="SimSun">
                <a:solidFill>
                  <a:srgbClr val="374151"/>
                </a:solidFill>
                <a:latin typeface="Times New Roman"/>
              </a:rPr>
              <a:t>质量数 -4
核电荷 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000" b="0" i="1" ns9:eastAsia="SimSun">
                <a:solidFill>
                  <a:srgbClr val="6B7280"/>
                </a:solidFill>
                <a:latin typeface="Times New Roman"/>
              </a:rPr>
              <a:t>U → Th（核武器）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31720"/>
            <a:ext cx="10911535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400" b="1" i="0" ns10:eastAsia="SimHei">
                <a:solidFill>
                  <a:srgbClr val="3B82F6"/>
                </a:solidFill>
                <a:latin typeface="Times New Roman"/>
              </a:rPr>
              <a:t>β 衰变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0" i="0" ns11:eastAsia="SimSun">
                <a:solidFill>
                  <a:srgbClr val="374151"/>
                </a:solidFill>
                <a:latin typeface="Times New Roman"/>
              </a:rPr>
              <a:t>⁰₋₁e (β粒子/电子)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23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0" i="0" ns12:eastAsia="SimSun">
                <a:solidFill>
                  <a:srgbClr val="374151"/>
                </a:solidFill>
                <a:latin typeface="Times New Roman"/>
              </a:rPr>
              <a:t>质量数不变
核电荷 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000" b="0" i="1" ns13:eastAsia="SimSun">
                <a:solidFill>
                  <a:srgbClr val="6B7280"/>
                </a:solidFill>
                <a:latin typeface="Times New Roman"/>
              </a:rPr>
              <a:t>¹⁴C → ¹⁴N（碳定年）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108960"/>
            <a:ext cx="10911535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400" b="1" i="0" ns14:eastAsia="SimHei">
                <a:solidFill>
                  <a:srgbClr val="1E40AF"/>
                </a:solidFill>
                <a:latin typeface="Times New Roman"/>
              </a:rPr>
              <a:t>γ 衰变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0" i="0" ns15:eastAsia="SimSun">
                <a:solidFill>
                  <a:srgbClr val="374151"/>
                </a:solidFill>
                <a:latin typeface="Times New Roman"/>
              </a:rPr>
              <a:t>γ 光子（高能电磁波）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100" b="0" i="0" ns16:eastAsia="SimSun">
                <a:solidFill>
                  <a:srgbClr val="374151"/>
                </a:solidFill>
                <a:latin typeface="Times New Roman"/>
              </a:rPr>
              <a:t>质量数不变
核电荷不变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000" b="0" i="1" ns17:eastAsia="SimSun">
                <a:solidFill>
                  <a:srgbClr val="6B7280"/>
                </a:solidFill>
                <a:latin typeface="Times New Roman"/>
              </a:rPr>
              <a:t>激发态→基态退激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8="http://schemas.openxmlformats.org/wordprocessingml/2006/main" sz="900" b="0" i="0" ns18:eastAsia="SimSun">
                <a:solidFill>
                  <a:srgbClr val="6B7280"/>
                </a:solidFill>
                <a:latin typeface="Times New Roman"/>
              </a:rPr>
              <a:t>38/45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核化学方程式书写规则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原子核反应的两条守恒定律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300" b="1" i="0" ns2:eastAsia="SimHei">
                <a:solidFill>
                  <a:srgbClr val="1E40AF"/>
                </a:solidFill>
                <a:latin typeface="Times New Roman"/>
              </a:rPr>
              <a:t>  规则一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3="http://schemas.openxmlformats.org/wordprocessingml/2006/main" sz="1200" b="0" i="0" ns3:eastAsia="SimSun">
                <a:solidFill>
                  <a:srgbClr val="374151"/>
                </a:solidFill>
                <a:latin typeface="Times New Roman"/>
              </a:rPr>
              <a:t>  质量数守恒：方程式两端总质量数相等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4="http://schemas.openxmlformats.org/wordprocessingml/2006/main" sz="1300" b="1" i="0" ns4:eastAsia="SimHei">
                <a:solidFill>
                  <a:srgbClr val="1E40AF"/>
                </a:solidFill>
                <a:latin typeface="Times New Roman"/>
              </a:rPr>
              <a:t>  规则二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5="http://schemas.openxmlformats.org/wordprocessingml/2006/main" sz="1200" b="0" i="0" ns5:eastAsia="SimSun">
                <a:solidFill>
                  <a:srgbClr val="374151"/>
                </a:solidFill>
                <a:latin typeface="Times New Roman"/>
              </a:rPr>
              <a:t>  原子序数守恒：方程式两端总电荷数相等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548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6="http://schemas.openxmlformats.org/wordprocessingml/2006/main" sz="1300" b="1" i="0" ns6:eastAsia="SimHei">
                <a:solidFill>
                  <a:srgbClr val="1E40AF"/>
                </a:solidFill>
                <a:latin typeface="Times New Roman"/>
              </a:rPr>
              <a:t>  规则三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7="http://schemas.openxmlformats.org/wordprocessingml/2006/main" sz="1200" b="0" i="0" ns7:eastAsia="SimSun">
                <a:solidFill>
                  <a:srgbClr val="374151"/>
                </a:solidFill>
                <a:latin typeface="Times New Roman"/>
              </a:rPr>
              <a:t>  α/β/γ 衰变常伴有 γ 射线放射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911535" cy="6400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600" b="1" i="1" ns8:eastAsia="SimSun">
                <a:solidFill>
                  <a:srgbClr val="374151"/>
                </a:solidFill>
                <a:latin typeface="Times New Roman"/>
              </a:rPr>
              <a:t>  例：²³⁸U → ²³⁴Th + ⁴₂He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9="http://schemas.openxmlformats.org/wordprocessingml/2006/main" sz="1200" b="0" i="0" ns9:eastAsia="SimSun">
                <a:solidFill>
                  <a:srgbClr val="374151"/>
                </a:solidFill>
                <a:latin typeface="Times New Roman"/>
              </a:rPr>
              <a:t>  质量数：238 = 234 + 4 ✓    核电荷：92 = 90 + 2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900" b="0" i="0" ns10:eastAsia="SimSun">
                <a:solidFill>
                  <a:srgbClr val="6B7280"/>
                </a:solidFill>
                <a:latin typeface="Times New Roman"/>
              </a:rPr>
              <a:t>39/45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半衰期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放射性元素的原子核有半数发生衰变所需时间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i="0" ns2:eastAsia="SimSun">
                <a:solidFill>
                  <a:srgbClr val="374151"/>
                </a:solidFill>
                <a:latin typeface="Times New Roman"/>
              </a:rPr>
              <a:t>定义：放射性原子核数衰变到原来一半所需的时间（t₁/₂）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400" b="1" i="0" ns3:eastAsia="SimHei">
                <a:solidFill>
                  <a:srgbClr val="1E40AF"/>
                </a:solidFill>
                <a:latin typeface="Times New Roman"/>
              </a:rPr>
              <a:t>📐 衰变规律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4="http://schemas.openxmlformats.org/wordprocessingml/2006/main" sz="400" b="0" i="0" ns4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5="http://schemas.openxmlformats.org/wordprocessingml/2006/main" sz="1800" b="1" i="0" ns5:eastAsia="SimSun">
                <a:solidFill>
                  <a:srgbClr val="374151"/>
                </a:solidFill>
                <a:latin typeface="Times New Roman"/>
              </a:rPr>
              <a:t>    N = N₀ · (1/2)^(t/t₁/₂)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xmlns:ns6="http://schemas.openxmlformats.org/wordprocessingml/2006/main" sz="400" b="0" i="0" ns6:eastAsia="SimSun">
                <a:solidFill>
                  <a:srgbClr val="374151"/>
                </a:solidFill>
                <a:latin typeface="Times New Roman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xmlns:ns7="http://schemas.openxmlformats.org/wordprocessingml/2006/main" sz="1100" b="0" i="0" ns7:eastAsia="SimSun">
                <a:solidFill>
                  <a:srgbClr val="6B7280"/>
                </a:solidFill>
                <a:latin typeface="Times New Roman"/>
              </a:rPr>
              <a:t>    N₀: 初始原子数    N: 衰变后剩余数    t: 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wordprocessingml/2006/main" sz="900" b="0" i="0" ns8:eastAsia="SimSun">
                <a:solidFill>
                  <a:srgbClr val="6B7280"/>
                </a:solidFill>
                <a:latin typeface="Times New Roman"/>
              </a:rPr>
              <a:t>40/45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000" b="0" i="0" ns0:eastAsia="SimHei">
                <a:solidFill>
                  <a:srgbClr val="F59E0B"/>
                </a:solidFill>
                <a:latin typeface="Times New Roman"/>
              </a:rPr>
              <a:t>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3200" b="1" i="0" ns1:eastAsia="SimHei">
                <a:solidFill>
                  <a:srgbClr val="FFFFFF"/>
                </a:solidFill>
                <a:latin typeface="Times New Roman"/>
              </a:rPr>
              <a:t>典型例题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i="0" ns2:eastAsia="SimSun">
                <a:solidFill>
                  <a:srgbClr val="BFDBFE"/>
                </a:solidFill>
                <a:latin typeface="Times New Roman"/>
              </a:rPr>
              <a:t>精选竞赛真题 · 覆盖面：量子数 → 排布 → 核反应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3="http://schemas.openxmlformats.org/wordprocessingml/2006/main" sz="900" b="0" i="0" ns3:eastAsia="SimSun">
                <a:solidFill>
                  <a:srgbClr val="6B7280"/>
                </a:solidFill>
                <a:latin typeface="Times New Roman"/>
              </a:rPr>
              <a:t>41/45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例题·量子数与轨道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2000年美国国家化学竞赛试题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i="0" ns2:eastAsia="SimSun">
                <a:solidFill>
                  <a:srgbClr val="374151"/>
                </a:solidFill>
                <a:latin typeface="Times New Roman"/>
              </a:rPr>
              <a:t>在多电子原子中，下列关于电子依次连续填入轨道顺序描述正确的是：
A. 3s, 3p, 3d    B. 3d, 4s, 4p    C. 3d, 4p, 5s    D. 4p, 4d, 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600" b="1" i="0" ns3:eastAsia="SimHei">
                <a:solidFill>
                  <a:srgbClr val="05922B"/>
                </a:solidFill>
                <a:latin typeface="Times New Roman"/>
              </a:rPr>
              <a:t>  ✅ 正确答案：B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4="http://schemas.openxmlformats.org/wordprocessingml/2006/main" sz="1200" b="0" i="0" ns4:eastAsia="SimSun">
                <a:solidFill>
                  <a:srgbClr val="374151"/>
                </a:solidFill>
                <a:latin typeface="Times New Roman"/>
              </a:rPr>
              <a:t>  🔍 解析：填充顺序按能量从低到高，3d≈4s→4p，B 的 3d→4s→4p 最接近实际顺序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5="http://schemas.openxmlformats.org/wordprocessingml/2006/main" sz="900" b="0" i="0" ns5:eastAsia="SimSun">
                <a:solidFill>
                  <a:srgbClr val="6B7280"/>
                </a:solidFill>
                <a:latin typeface="Times New Roman"/>
              </a:rPr>
              <a:t>42/45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例题·周期结构与排布预测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综合应用量子数+排布规则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i="0" ns2:eastAsia="SimSun">
                <a:solidFill>
                  <a:srgbClr val="374151"/>
                </a:solidFill>
                <a:latin typeface="Times New Roman"/>
              </a:rPr>
              <a:t>根据电子填入轨道顺序预测：
(1) 第 8 周期共有多少种元素？
(2) 原子核外出现第一个 6f 电子的元素原子序数是？
(3) 第 114 号元素属于第几周期、哪一族？外围电子构型？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0911535" cy="13716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400" b="1" i="0" ns3:eastAsia="SimHei">
                <a:solidFill>
                  <a:srgbClr val="05922B"/>
                </a:solidFill>
                <a:latin typeface="Times New Roman"/>
              </a:rPr>
              <a:t>  ✅ 解答要点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4="http://schemas.openxmlformats.org/wordprocessingml/2006/main" sz="1100" b="0" i="0" ns4:eastAsia="SimSun">
                <a:solidFill>
                  <a:srgbClr val="374151"/>
                </a:solidFill>
                <a:latin typeface="Times New Roman"/>
              </a:rPr>
              <a:t>  (1) 第8周期 → 8s5g6f7d8p → 共 50 种元素（s²+g¹⁸+f¹⁴+d¹⁰+p⁶）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5="http://schemas.openxmlformats.org/wordprocessingml/2006/main" sz="1100" b="0" i="0" ns5:eastAsia="SimSun">
                <a:solidFill>
                  <a:srgbClr val="374151"/>
                </a:solidFill>
                <a:latin typeface="Times New Roman"/>
              </a:rPr>
              <a:t>  (2) 6f 第一个电子：Z = 86(Rn) + [5g¹⁸=18] + [6f¹=1] = 105？→需按实际能级顺序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xmlns:ns6="http://schemas.openxmlformats.org/wordprocessingml/2006/main" sz="1100" b="1" i="0" ns6:eastAsia="SimSun">
                <a:solidFill>
                  <a:srgbClr val="1E40AF"/>
                </a:solidFill>
                <a:latin typeface="Times New Roman"/>
              </a:rPr>
              <a:t>  (3) 114 号：第7周期、ⅣA族、[Rn]5f¹⁴6d¹⁰7s²7p²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7="http://schemas.openxmlformats.org/wordprocessingml/2006/main" sz="900" b="0" i="0" ns7:eastAsia="SimSun">
                <a:solidFill>
                  <a:srgbClr val="6B7280"/>
                </a:solidFill>
                <a:latin typeface="Times New Roman"/>
              </a:rPr>
              <a:t>43/45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200" b="1" i="0" ns0:eastAsia="SimHei">
                <a:solidFill>
                  <a:srgbClr val="FFFFFF"/>
                </a:solidFill>
                <a:latin typeface="Times New Roman"/>
              </a:rPr>
              <a:t>例题·核反应方程式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100" b="0" i="0" ns1:eastAsia="SimSun">
                <a:solidFill>
                  <a:srgbClr val="BFDBFE"/>
                </a:solidFill>
                <a:latin typeface="Times New Roman"/>
              </a:rPr>
              <a:t>2010年全国初赛试题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300" b="0" i="0" ns2:eastAsia="SimSun">
                <a:solidFill>
                  <a:srgbClr val="374151"/>
                </a:solidFill>
                <a:latin typeface="Times New Roman"/>
              </a:rPr>
              <a:t>2009年合成了第117号元素Uus。用²⁴⁹Bk轰击⁴⁸Ca靶合成，得到6个Uus原子。
其中1个经p次α衰变得²⁷⁰Db后裂变；5个经q次α衰变得²⁸¹Rg后裂变。
写出得到117号元素Uus的核反应方程式。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911535" cy="13716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400" b="1" i="0" ns3:eastAsia="SimHei">
                <a:solidFill>
                  <a:srgbClr val="05922B"/>
                </a:solidFill>
                <a:latin typeface="Times New Roman"/>
              </a:rPr>
              <a:t>  ✅ 解答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xmlns:ns4="http://schemas.openxmlformats.org/wordprocessingml/2006/main" sz="1300" b="1" i="0" ns4:eastAsia="SimSun">
                <a:solidFill>
                  <a:srgbClr val="1E40AF"/>
                </a:solidFill>
                <a:latin typeface="Times New Roman"/>
              </a:rPr>
              <a:t>  ²⁴⁹Bk + ⁴⁸Ca → ²⁹⁷Uus* → ²⁹⁴Uus + 3n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xmlns:ns5="http://schemas.openxmlformats.org/wordprocessingml/2006/main" sz="1100" b="0" i="0" ns5:eastAsia="SimSun">
                <a:solidFill>
                  <a:srgbClr val="6B7280"/>
                </a:solidFill>
                <a:latin typeface="Times New Roman"/>
              </a:rPr>
              <a:t>  （²⁴⁹Bk 97号 + ⁴⁸Ca 20号 → ²⁹⁷Uus* → ²⁹⁴Uus + 3n 质量数守恒）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6="http://schemas.openxmlformats.org/wordprocessingml/2006/main" sz="900" b="0" i="0" ns6:eastAsia="SimSun">
                <a:solidFill>
                  <a:srgbClr val="6B7280"/>
                </a:solidFill>
                <a:latin typeface="Times New Roman"/>
              </a:rPr>
              <a:t>44/45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0="http://schemas.openxmlformats.org/wordprocessingml/2006/main" sz="3000" b="1" i="0" ns0:eastAsia="SimHei">
                <a:solidFill>
                  <a:srgbClr val="FFFFFF"/>
                </a:solidFill>
                <a:latin typeface="Times New Roman"/>
              </a:rPr>
              <a:t>📋 本节核心速查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="http://schemas.openxmlformats.org/wordprocessingml/2006/main" sz="1500" b="1" i="0" ns1:eastAsia="SimHei">
                <a:solidFill>
                  <a:srgbClr val="1E40AF"/>
                </a:solidFill>
                <a:latin typeface="Times New Roman"/>
              </a:rPr>
              <a:t>  四量子数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2="http://schemas.openxmlformats.org/wordprocessingml/2006/main" sz="1200" b="0" i="0" ns2:eastAsia="SimSun">
                <a:solidFill>
                  <a:srgbClr val="374151"/>
                </a:solidFill>
                <a:latin typeface="Times New Roman"/>
              </a:rPr>
              <a:t>  n:层 l:形 m:向 ms:自旋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500" b="1" i="0" ns3:eastAsia="SimHei">
                <a:solidFill>
                  <a:srgbClr val="1E40AF"/>
                </a:solidFill>
                <a:latin typeface="Times New Roman"/>
              </a:rPr>
              <a:t>  排布三原则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4="http://schemas.openxmlformats.org/wordprocessingml/2006/main" sz="1200" b="0" i="0" ns4:eastAsia="SimSun">
                <a:solidFill>
                  <a:srgbClr val="374151"/>
                </a:solidFill>
                <a:latin typeface="Times New Roman"/>
              </a:rPr>
              <a:t>  能量最低·Pauli·Hund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20116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500" b="1" i="0" ns5:eastAsia="SimHei">
                <a:solidFill>
                  <a:srgbClr val="1E40AF"/>
                </a:solidFill>
                <a:latin typeface="Times New Roman"/>
              </a:rPr>
              <a:t>  充填≠失电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6="http://schemas.openxmlformats.org/wordprocessingml/2006/main" sz="1200" b="0" i="0" ns6:eastAsia="SimSun">
                <a:solidFill>
                  <a:srgbClr val="374151"/>
                </a:solidFill>
                <a:latin typeface="Times New Roman"/>
              </a:rPr>
              <a:t>  填:4s先于3d, 失:4s先于3d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500" b="1" i="0" ns7:eastAsia="SimHei">
                <a:solidFill>
                  <a:srgbClr val="1E40AF"/>
                </a:solidFill>
                <a:latin typeface="Times New Roman"/>
              </a:rPr>
              <a:t>  两反常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8="http://schemas.openxmlformats.org/wordprocessingml/2006/main" sz="1200" b="0" i="0" ns8:eastAsia="SimSun">
                <a:solidFill>
                  <a:srgbClr val="374151"/>
                </a:solidFill>
                <a:latin typeface="Times New Roman"/>
              </a:rPr>
              <a:t>  Cr/Cu半满全满·电离能ⅡA&gt;ⅢA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500" b="1" i="0" ns9:eastAsia="SimHei">
                <a:solidFill>
                  <a:srgbClr val="1E40AF"/>
                </a:solidFill>
                <a:latin typeface="Times New Roman"/>
              </a:rPr>
              <a:t>  两守恒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10="http://schemas.openxmlformats.org/wordprocessingml/2006/main" sz="1200" b="0" i="0" ns10:eastAsia="SimSun">
                <a:solidFill>
                  <a:srgbClr val="374151"/>
                </a:solidFill>
                <a:latin typeface="Times New Roman"/>
              </a:rPr>
              <a:t>  核反应:质量数+电荷数守恒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38404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1="http://schemas.openxmlformats.org/wordprocessingml/2006/main" sz="1500" b="1" i="0" ns11:eastAsia="SimHei">
                <a:solidFill>
                  <a:srgbClr val="1E40AF"/>
                </a:solidFill>
                <a:latin typeface="Times New Roman"/>
              </a:rPr>
              <a:t>  一核心思维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xmlns:ns12="http://schemas.openxmlformats.org/wordprocessingml/2006/main" sz="1200" b="0" i="0" ns12:eastAsia="SimSun">
                <a:solidFill>
                  <a:srgbClr val="374151"/>
                </a:solidFill>
                <a:latin typeface="Times New Roman"/>
              </a:rPr>
              <a:t>  放弃轨道→接受概率云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900" b="0" i="0" ns13:eastAsia="SimSun">
                <a:solidFill>
                  <a:srgbClr val="6B7280"/>
                </a:solidFill>
                <a:latin typeface="Times New Roman"/>
              </a:rPr>
              <a:t>📖 第八讲原子结构（三）  |  📄 原子结构-超级充实版（自学完整）  |  🧠 教学洞察-原子结构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4="http://schemas.openxmlformats.org/wordprocessingml/2006/main" sz="900" b="0" i="0" ns14:eastAsia="SimSun">
                <a:solidFill>
                  <a:srgbClr val="6B7280"/>
                </a:solidFill>
                <a:latin typeface="Times New Roman"/>
              </a:rPr>
              <a:t>45/45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