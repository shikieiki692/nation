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5d50b7ce6248d8" /><Relationship Type="http://schemas.openxmlformats.org/officeDocument/2006/relationships/extended-properties" Target="/docProps/app.xml" Id="R715b71ae74ec420f" /><Relationship Type="http://schemas.openxmlformats.org/officeDocument/2006/relationships/officeDocument" Target="/ppt/presentation.xml" Id="R0d6306e54ccf40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a9d9a3b544fc4"/>
  </p:sldMasterIdLst>
  <p:notesMasterIdLst>
    <p:notesMasterId xmlns:r="http://schemas.openxmlformats.org/officeDocument/2006/relationships" r:id="R36be48aeb1b54112"/>
  </p:notesMasterIdLst>
  <p:sldIdLst>
    <p:sldId xmlns:r="http://schemas.openxmlformats.org/officeDocument/2006/relationships" id="256" r:id="Radffbfa8b303441c"/>
    <p:sldId xmlns:r="http://schemas.openxmlformats.org/officeDocument/2006/relationships" id="257" r:id="R7d08d4a638c242af"/>
    <p:sldId xmlns:r="http://schemas.openxmlformats.org/officeDocument/2006/relationships" id="258" r:id="R04fbb89a549b4e6a"/>
    <p:sldId xmlns:r="http://schemas.openxmlformats.org/officeDocument/2006/relationships" id="259" r:id="R5fd54b8a44cb4f43"/>
    <p:sldId xmlns:r="http://schemas.openxmlformats.org/officeDocument/2006/relationships" id="260" r:id="R0f711661487646a3"/>
    <p:sldId xmlns:r="http://schemas.openxmlformats.org/officeDocument/2006/relationships" id="261" r:id="R2946caea81b0466e"/>
    <p:sldId xmlns:r="http://schemas.openxmlformats.org/officeDocument/2006/relationships" id="262" r:id="R10ddebd972634eb0"/>
    <p:sldId xmlns:r="http://schemas.openxmlformats.org/officeDocument/2006/relationships" id="263" r:id="R66e73ddc6fa34c62"/>
    <p:sldId xmlns:r="http://schemas.openxmlformats.org/officeDocument/2006/relationships" id="264" r:id="R414db67091124fe0"/>
    <p:sldId xmlns:r="http://schemas.openxmlformats.org/officeDocument/2006/relationships" id="265" r:id="Re141276d2961463e"/>
    <p:sldId xmlns:r="http://schemas.openxmlformats.org/officeDocument/2006/relationships" id="266" r:id="R64d711916e634c21"/>
    <p:sldId xmlns:r="http://schemas.openxmlformats.org/officeDocument/2006/relationships" id="267" r:id="R9b8eb10033dd4b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0f186ed90490c" /><Relationship Type="http://schemas.openxmlformats.org/officeDocument/2006/relationships/slideMaster" Target="/ppt/slideMasters/slideMaster1.xml" Id="Rd1fa9d9a3b544fc4" /><Relationship Type="http://schemas.openxmlformats.org/officeDocument/2006/relationships/notesMaster" Target="/ppt/notesMasters/notesMaster1.xml" Id="R36be48aeb1b54112" /><Relationship Type="http://schemas.openxmlformats.org/officeDocument/2006/relationships/presProps" Target="/ppt/presProps.xml" Id="Rd4dc6c7f5b99488b" /><Relationship Type="http://schemas.openxmlformats.org/officeDocument/2006/relationships/tableStyles" Target="/ppt/tableStyles.xml" Id="R920f8c4761f64261" /><Relationship Type="http://schemas.openxmlformats.org/officeDocument/2006/relationships/slide" Target="/ppt/slides/slide1.xml" Id="Radffbfa8b303441c" /><Relationship Type="http://schemas.openxmlformats.org/officeDocument/2006/relationships/slide" Target="/ppt/slides/slide2.xml" Id="R7d08d4a638c242af" /><Relationship Type="http://schemas.openxmlformats.org/officeDocument/2006/relationships/slide" Target="/ppt/slides/slide3.xml" Id="R04fbb89a549b4e6a" /><Relationship Type="http://schemas.openxmlformats.org/officeDocument/2006/relationships/slide" Target="/ppt/slides/slide4.xml" Id="R5fd54b8a44cb4f43" /><Relationship Type="http://schemas.openxmlformats.org/officeDocument/2006/relationships/slide" Target="/ppt/slides/slide5.xml" Id="R0f711661487646a3" /><Relationship Type="http://schemas.openxmlformats.org/officeDocument/2006/relationships/slide" Target="/ppt/slides/slide6.xml" Id="R2946caea81b0466e" /><Relationship Type="http://schemas.openxmlformats.org/officeDocument/2006/relationships/slide" Target="/ppt/slides/slide7.xml" Id="R10ddebd972634eb0" /><Relationship Type="http://schemas.openxmlformats.org/officeDocument/2006/relationships/slide" Target="/ppt/slides/slide8.xml" Id="R66e73ddc6fa34c62" /><Relationship Type="http://schemas.openxmlformats.org/officeDocument/2006/relationships/slide" Target="/ppt/slides/slide9.xml" Id="R414db67091124fe0" /><Relationship Type="http://schemas.openxmlformats.org/officeDocument/2006/relationships/slide" Target="/ppt/slides/slide10.xml" Id="Re141276d2961463e" /><Relationship Type="http://schemas.openxmlformats.org/officeDocument/2006/relationships/slide" Target="/ppt/slides/slide11.xml" Id="R64d711916e634c21" /><Relationship Type="http://schemas.openxmlformats.org/officeDocument/2006/relationships/slide" Target="/ppt/slides/slide12.xml" Id="R9b8eb10033dd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5ec074500441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3778a3dfca4c3c" /><Relationship Type="http://schemas.openxmlformats.org/officeDocument/2006/relationships/notesMaster" Target="/ppt/notesMasters/notesMaster1.xml" Id="Rb1df9f0858d6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ee4de98d44109" /><Relationship Type="http://schemas.openxmlformats.org/officeDocument/2006/relationships/notesMaster" Target="/ppt/notesMasters/notesMaster1.xml" Id="R2b460c1233e743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eb66d66b4540e5" /><Relationship Type="http://schemas.openxmlformats.org/officeDocument/2006/relationships/notesMaster" Target="/ppt/notesMasters/notesMaster1.xml" Id="Ra4aa647dd1dd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a1f247e9aa432c" /><Relationship Type="http://schemas.openxmlformats.org/officeDocument/2006/relationships/notesMaster" Target="/ppt/notesMasters/notesMaster1.xml" Id="R97efb921ecc541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a274c7cf144561" /><Relationship Type="http://schemas.openxmlformats.org/officeDocument/2006/relationships/notesMaster" Target="/ppt/notesMasters/notesMaster1.xml" Id="R575dbd32bf2044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0b8f5cffda463d" /><Relationship Type="http://schemas.openxmlformats.org/officeDocument/2006/relationships/notesMaster" Target="/ppt/notesMasters/notesMaster1.xml" Id="Re3122206ff624c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c7a880d4614099" /><Relationship Type="http://schemas.openxmlformats.org/officeDocument/2006/relationships/notesMaster" Target="/ppt/notesMasters/notesMaster1.xml" Id="R965389cb6e7c40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e1fd2aadb34983" /><Relationship Type="http://schemas.openxmlformats.org/officeDocument/2006/relationships/notesMaster" Target="/ppt/notesMasters/notesMaster1.xml" Id="R51dfd6870ff249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d45c3864ad4d67" /><Relationship Type="http://schemas.openxmlformats.org/officeDocument/2006/relationships/notesMaster" Target="/ppt/notesMasters/notesMaster1.xml" Id="Ree8528e9976144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490184a02a4b4b" /><Relationship Type="http://schemas.openxmlformats.org/officeDocument/2006/relationships/notesMaster" Target="/ppt/notesMasters/notesMaster1.xml" Id="Rda65cad2cfcb44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1a14865b114ad2" /><Relationship Type="http://schemas.openxmlformats.org/officeDocument/2006/relationships/notesMaster" Target="/ppt/notesMasters/notesMaster1.xml" Id="R682d21ca620546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71319b805940fc" /><Relationship Type="http://schemas.openxmlformats.org/officeDocument/2006/relationships/notesMaster" Target="/ppt/notesMasters/notesMaster1.xml" Id="Rdb3c43af4b3540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93ee5af8746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2ba5fd29a406f" /><Relationship Type="http://schemas.openxmlformats.org/officeDocument/2006/relationships/slideLayout" Target="/ppt/slideLayouts/slideLayout1.xml" Id="R7d38984a728e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8984a728e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4f5d698d14a66" /><Relationship Type="http://schemas.openxmlformats.org/officeDocument/2006/relationships/notesSlide" Target="/ppt/notesSlides/notesSlide1.xml" Id="R308485d4513f4a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98a0d7e114ea3" /><Relationship Type="http://schemas.openxmlformats.org/officeDocument/2006/relationships/notesSlide" Target="/ppt/notesSlides/notesSlide2.xml" Id="Rdc1fb273c3c341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c4c4dfef3429b" /><Relationship Type="http://schemas.openxmlformats.org/officeDocument/2006/relationships/notesSlide" Target="/ppt/notesSlides/notesSlide3.xml" Id="R8422fb6ab8b443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98a07d77e4ef4" /><Relationship Type="http://schemas.openxmlformats.org/officeDocument/2006/relationships/notesSlide" Target="/ppt/notesSlides/notesSlide4.xml" Id="Rf22642a8cecc42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3cee48546425b" /><Relationship Type="http://schemas.openxmlformats.org/officeDocument/2006/relationships/notesSlide" Target="/ppt/notesSlides/notesSlide5.xml" Id="R8cc56fe8c18844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902c08f454941" /><Relationship Type="http://schemas.openxmlformats.org/officeDocument/2006/relationships/notesSlide" Target="/ppt/notesSlides/notesSlide6.xml" Id="Re5f8c23288e141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52e5281304c97" /><Relationship Type="http://schemas.openxmlformats.org/officeDocument/2006/relationships/notesSlide" Target="/ppt/notesSlides/notesSlide7.xml" Id="R1aa87108ed6e40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466d69bf3470f" /><Relationship Type="http://schemas.openxmlformats.org/officeDocument/2006/relationships/notesSlide" Target="/ppt/notesSlides/notesSlide8.xml" Id="R1553291c697c49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07d3339554602" /><Relationship Type="http://schemas.openxmlformats.org/officeDocument/2006/relationships/notesSlide" Target="/ppt/notesSlides/notesSlide9.xml" Id="Rfffb5af7291846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88b4a01a84a61" /><Relationship Type="http://schemas.openxmlformats.org/officeDocument/2006/relationships/notesSlide" Target="/ppt/notesSlides/notesSlide10.xml" Id="R9d644451aada46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6b6d147844ca0" /><Relationship Type="http://schemas.openxmlformats.org/officeDocument/2006/relationships/notesSlide" Target="/ppt/notesSlides/notesSlide11.xml" Id="R4a6d7dbba11c42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d30d96b0b4ed8" /><Relationship Type="http://schemas.openxmlformats.org/officeDocument/2006/relationships/notesSlide" Target="/ppt/notesSlides/notesSlide12.xml" Id="R04065e8a9f2d4e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C4508-579D-479B-B476-571206E2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703A8-3472-462E-9622-C779E79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67642-D3CA-47E2-B2B7-AAE28591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键的极性与分子极性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6399-E1B4-4B42-BBAA-F9BD2F9E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4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第一轮基础班桥梁增强课 | 从电负性差出发，建立“先看键，再看形，最后看矢量和”的极性判断链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316C2-9263-41A6-9DC0-8682278E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2D921-99A4-46B7-83B4-6364DFE1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CO₂ vs H₂O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0F7D6-197F-4250-BD20-88B58209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00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81EE2-AC7B-4B11-AC93-83FA3BD2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862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BF₃ vs NH₃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82E7E-8CB8-4F29-B1B0-71B864A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10050"/>
            <a:ext cx="1466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D951C-B4B0-4F67-A7F8-F9D54AD8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862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CCl₄ vs CH₂Cl₂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CB316-74C2-498A-BB9C-B875D7F2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8956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C26D2-1898-40FE-B866-CB30A6F7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A5A12"/>
                </a:solidFill>
                <a:latin typeface="SimHei"/>
                <a:ea typeface="SimHei"/>
                <a:cs typeface="SimHei"/>
              </a:defRPr>
            </a:pPr>
            <a:r>
              <a:rPr sz="1125" b="1">
                <a:solidFill>
                  <a:srgbClr val="8A5A12"/>
                </a:solidFill>
                <a:latin typeface="SimHei"/>
                <a:ea typeface="SimHei"/>
                <a:cs typeface="SimHei"/>
              </a:rPr>
              <a:t>投影定位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C445B-EF74-4541-84AA-6571E6C1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552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这是课堂投影稿，不是全文讲义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重点：判断流程、分子对照、易错点收束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2086B-0EEE-4C05-AEE7-927C2C0B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1</a:t>
            </a:r>
          </a:p>
        </p:txBody>
      </p:sp>
    </p:spTree>
    <p:extLst>
      <p:ext uri="{BB962C8B-B14F-4D97-AF65-F5344CB8AC3E}">
        <p14:creationId xmlns:p14="http://schemas.microsoft.com/office/powerpoint/2010/main" val="2035682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39F488-0834-47E1-92F4-3F380050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LESSON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9CA92-E851-4533-B2FC-F1E7D559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本节问题与判断顺序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07394-8867-4C59-8403-9AA7BD78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有极性键的分子，一定有极性吗？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F4867-9804-4954-8DB6-EFB1401D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4BAD5-B3FC-445C-8957-EA423869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8958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36CB1-FE2F-448A-A666-1F711E25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课堂问题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C785F-85D1-4B51-BB99-6C3D8BE4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514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为什么 H₂O 是极性分子，而 CO₂ 不是？</a:t>
            </a:r>
          </a:p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为什么 CCl₄ 每根键都有极性，整体却无极性？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A9B2F-BD14-4A66-8208-7D695EC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85950"/>
            <a:ext cx="48958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56F8E-1712-454D-9C96-F01BBDBA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最短判断顺序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67928-F4C1-403B-8DFC-ADDEE5F8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4514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1. 这根键有没有极性</a:t>
            </a:r>
          </a:p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2. 构型是否对称</a:t>
            </a:r>
          </a:p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3. 各键矩能否抵消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F542B-158E-4C1B-9BD9-FABE807C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35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这节课不是背一串结论，而是训练一个可迁移的判断流程</a:t>
            </a:r>
          </a:p>
          <a:p xmlns:a="http://schemas.openxmlformats.org/drawingml/2006/main">
            <a:pPr>
              <a:defRPr sz="135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35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后续遇到新分子，也要按同一顺序走，而不是只记见过的答案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025C8-92F1-4E39-9F20-E0CF7475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857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131FB-37FE-4DD5-9AB5-E154C75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00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A5A12"/>
                </a:solidFill>
                <a:latin typeface="SimHei"/>
                <a:ea typeface="SimHei"/>
                <a:cs typeface="SimHei"/>
              </a:defRPr>
            </a:pPr>
            <a:r>
              <a:rPr sz="1125" b="1">
                <a:solidFill>
                  <a:srgbClr val="8A5A12"/>
                </a:solidFill>
                <a:latin typeface="SimHei"/>
                <a:ea typeface="SimHei"/>
                <a:cs typeface="SimHei"/>
              </a:rPr>
              <a:t>教师提示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9904B-5967-4BAB-809D-3DF833F5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先问学生：分子极性和键极性是不是一回事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让学生先说流程，再进例子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DBF85-7C9B-4140-AB7E-99EEA581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2</a:t>
            </a:r>
          </a:p>
        </p:txBody>
      </p:sp>
    </p:spTree>
    <p:extLst>
      <p:ext uri="{BB962C8B-B14F-4D97-AF65-F5344CB8AC3E}">
        <p14:creationId xmlns:p14="http://schemas.microsoft.com/office/powerpoint/2010/main" val="88144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D11BC-7ADB-4070-A29B-5E1860DF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THREE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80F6F-5BA3-4FBF-A0C1-1C18A94C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三层概念先分家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A65CC-E3FC-4248-86A9-68F017DE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先分清谁在“拉电子”，谁在“整体偏向”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16910-E343-4B85-A222-5F935A01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CEFD0-7ECC-4F5E-95EC-07A3532D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40B2D-34C6-4364-AA51-E38FB2FD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D7A42-73FA-4158-B0E8-3771521D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859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C5302-38BC-415D-B108-2CE5ADD0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526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研究对象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52176-FAF3-4C5E-995A-AF88C67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859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63795-7D33-49E0-BA5D-4225A339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核心问题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AAB8D-E784-420D-94BE-FC3D8915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85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2D59C-1ADE-4675-9B03-4BAA34B5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526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一句话记忆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85D46-255E-4B1B-BBFD-BF87CD70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DA6F2-40A0-4B6B-987A-67FE2A75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电负性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A827C-CB19-498E-9F81-B4D6463C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983EA-AB12-4490-8350-495BDCC5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431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分子中的原子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224A1-702C-4381-B783-B7A2255B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765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65B56-2328-41C4-9906-F80040ED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43175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谁更会拉电子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9C069-5021-4D51-8887-A7664B18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0CABE-B5A0-4CA0-82DF-58A07CF9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4317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看原子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42AD4-7E6E-451D-B986-55721CDE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AC8BF-7D7E-49C3-8BE5-5B0759E6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键的极性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FAA27-9E5C-4D1A-BC38-A904DCA0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670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507A5-1B66-478F-A5BD-47F4131E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337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某一根键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341D2-BA80-45E8-8338-4FC62997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70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3E69E-E06A-41F1-A0B5-EF8C32E5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33725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电子云偏向哪一端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320EB-4B85-4441-B524-1475AF97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AA635-9055-4555-B3E2-C6A28599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337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看局部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B87DB-3CC4-42F2-A957-DFEA045C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CD3E7-0A3B-47EF-A8C2-E267394A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分子极性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AC81A1-556A-495A-8459-E2A9BFB9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576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D7D320-78AB-4BAF-997B-4EB8FD95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242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整个分子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13BB72-F12C-4530-A5B6-DEB75A18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576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0C99E-31A1-464F-AEDA-BC091785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24275"/>
            <a:ext cx="270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所有偏向加起来还剩不剩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AF3230-F7E4-46CB-AFE8-825F5293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02A779-75CE-41DE-86AE-E422E24B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2427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看整体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84461E-86D8-4844-891F-96441CEB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810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2E1355-2119-4FE1-A046-D906C57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为什么要分三层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1DF348-9EA8-418C-A889-49BABD4B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很多错误都来自把“原子会拉电子”“某根键有偏向”“整个分子有偶极矩”混成一句话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A760D6-A2DF-45A9-961C-3A95BEA1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40195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B3A60D-A698-4478-86E1-AB2C053C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课堂口令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158E02-6343-4AA2-9773-250740A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625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电负性看原子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键极性看局部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分子极性看整体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4F21DB-4A2F-49F1-AC8C-B625BFA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3</a:t>
            </a:r>
          </a:p>
        </p:txBody>
      </p:sp>
    </p:spTree>
    <p:extLst>
      <p:ext uri="{BB962C8B-B14F-4D97-AF65-F5344CB8AC3E}">
        <p14:creationId xmlns:p14="http://schemas.microsoft.com/office/powerpoint/2010/main" val="2056788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53FEA-14BA-443F-BDA5-871ACB82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BOND POLARITY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8E1A5-7361-462D-B803-EDFACDDF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键为什么会有极性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0429D-EDD7-459F-BF30-C6DA2C00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先看成键原子的电负性差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946BA-CA0A-4ED2-A6A6-843AFAD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FDCF8-60E8-4712-A288-FBD78849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65F60-DF2D-4BBE-96C6-55B76A27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9906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51D08-9CF6-4D5E-9B30-73B18C3E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43100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5C75D-C424-4CAA-9B8B-0B45429A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09775"/>
            <a:ext cx="9906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电负性差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20591-0FE7-4C24-BA14-4A4693C2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43100"/>
            <a:ext cx="1714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1CA05-420F-4CE8-B208-25E285B3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9775"/>
            <a:ext cx="15621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课堂判断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C9D08-D7E1-4007-A234-6433B74E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2213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0E625-B59A-4A67-9188-410600F8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8888"/>
            <a:ext cx="9906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Cl-Cl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1DBDC-4B98-4111-B0A4-E21AD099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62213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BFB8F-4DB7-4C3B-B9AB-7C0DBF5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28888"/>
            <a:ext cx="9906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E2811-1AC2-46E1-91D7-0631AD9D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2213"/>
            <a:ext cx="1714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0BCA6-E802-4F98-8B79-2489210D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8888"/>
            <a:ext cx="15621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非极性键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EBFF4-ACF6-476D-B1DA-81A38810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54CBA-2AC5-4021-A0A3-40ACCA90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9906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H-Cl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2F4F3-69C0-40CC-9866-C40C9835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81325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00733-EA9C-48C3-B28F-3C9EA20D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48000"/>
            <a:ext cx="9906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中等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1DD4F-64DA-497B-A466-7058286F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81325"/>
            <a:ext cx="1714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987039-8FCD-491E-9820-AEBA5E6B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15621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极性键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C46B6-11B2-4F23-A3B7-B042FCAA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438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C8772-EC69-4BFC-B6A7-95D44953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7113"/>
            <a:ext cx="9906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Na-Cl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6C543-73CA-4DBF-AB0F-36BDDA2E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00438"/>
            <a:ext cx="11430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84ABF-BAC8-4236-A4AB-91FBC093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67113"/>
            <a:ext cx="9906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很大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6B4D8-0C88-4E53-A563-F7242F4F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00438"/>
            <a:ext cx="171450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695CBA-E45F-4386-BAE1-3C3985B8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7113"/>
            <a:ext cx="15621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离子性很强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E161F5-5B65-4DBA-9000-4A7CCD1A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43100"/>
            <a:ext cx="58102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CF903-89BB-444A-97E2-755CCCED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145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这里要立刻纠偏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558F6-0735-49C9-8E88-AA1DFE75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极性键不等于离子键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极性键只是电子偏了，离子键接近电子转过去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B6FC5C-DF24-409B-ADE7-E6BF4A73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19500"/>
            <a:ext cx="58102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762C8D-CED0-45A3-AF8D-2C7D90DF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909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给分子极性做准备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8A3AEB-7E4D-40E6-BEC6-809BB572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5290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可以把一根极性键看成一个有方向的键矩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后面问分子极性，本质是在问这些键矩加起来还剩不剩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2139B1-71F3-40B6-90E7-365F363F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CF5D48-A3D1-420F-80F4-8DE81EE3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A5A12"/>
                </a:solidFill>
                <a:latin typeface="SimHei"/>
                <a:ea typeface="SimHei"/>
                <a:cs typeface="SimHei"/>
              </a:defRPr>
            </a:pPr>
            <a:r>
              <a:rPr sz="1125" b="1">
                <a:solidFill>
                  <a:srgbClr val="8A5A12"/>
                </a:solidFill>
                <a:latin typeface="SimHei"/>
                <a:ea typeface="SimHei"/>
                <a:cs typeface="SimHei"/>
              </a:rPr>
              <a:t>课堂动作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11B2F2-BFC9-4FFE-88B8-A8BF620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365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这页不要停太久，目标只是建立“键矩”语言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真正拉开差异的在后面 CO₂ / H₂O 对照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D17472-42E3-45F4-B99D-6DB8ABD2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4</a:t>
            </a:r>
          </a:p>
        </p:txBody>
      </p:sp>
    </p:spTree>
    <p:extLst>
      <p:ext uri="{BB962C8B-B14F-4D97-AF65-F5344CB8AC3E}">
        <p14:creationId xmlns:p14="http://schemas.microsoft.com/office/powerpoint/2010/main" val="1775877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29420-2941-49CE-B2B7-F778FD21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COMPARE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84B4A-694C-4EEC-BF9C-72D4666C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CO₂ vs H₂O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A0D19-24F5-4987-BFFB-6074D2DC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同样都有极性键，整体结论却完全相反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DB94E-1DDF-4A28-B8C0-A432B734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A2E1E-DFFC-42DD-9793-3E7EF1BF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1FBF7-F674-4163-95F6-3C68AA40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CO₂：直线形，键矩完全抵消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2FED1-7433-48FA-91FD-03310A7C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05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19050">
            <a:solidFill>
              <a:srgbClr val="2F7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58C00-7BAD-4E02-BC7C-20A503E8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67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CE8"/>
          </a:solidFill>
          <a:ln xmlns:a="http://schemas.openxmlformats.org/drawingml/2006/main" w="19050">
            <a:solidFill>
              <a:srgbClr val="D88A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9FC1B-DD99-4154-B97B-6C77F4C8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05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19050">
            <a:solidFill>
              <a:srgbClr val="2F7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2111C-08D9-4515-BE52-A9DC0DD0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00350"/>
            <a:ext cx="7620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E79"/>
          </a:solidFill>
          <a:ln xmlns:a="http://schemas.openxmlformats.org/drawingml/2006/main" w="9525">
            <a:solidFill>
              <a:srgbClr val="2F7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F82BC-2E6C-4D39-9EFF-BEEB5461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7620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E79"/>
          </a:solidFill>
          <a:ln xmlns:a="http://schemas.openxmlformats.org/drawingml/2006/main" w="9525">
            <a:solidFill>
              <a:srgbClr val="2F7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1D443-B503-4543-B373-AF117842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85950"/>
            <a:ext cx="4762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09603-153E-45EF-A7B5-25150EF4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38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H₂O：V 形，键矩不能完全抵消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1D5FC-1855-431F-B72B-D10B9A4E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CE8"/>
          </a:solidFill>
          <a:ln xmlns:a="http://schemas.openxmlformats.org/drawingml/2006/main" w="19050">
            <a:solidFill>
              <a:srgbClr val="D88A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79341-A5D5-439D-AF37-ECB0C0B2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19050">
            <a:solidFill>
              <a:srgbClr val="2F7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A03F4-DBCE-47B9-91D2-1B551A8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43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19050">
            <a:solidFill>
              <a:srgbClr val="2F7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99851-158D-4F8D-8E35-F17793BA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838200" cy="285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7E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590D2-3A35-456B-811A-E3CA78AB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838200" cy="-285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7E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707B4-1114-4BBB-9B66-DA8A6AA7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6286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E79"/>
          </a:solidFill>
          <a:ln xmlns:a="http://schemas.openxmlformats.org/drawingml/2006/main" w="9525">
            <a:solidFill>
              <a:srgbClr val="2F7E7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5C9208-838D-4879-8AB2-A9557E61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0"/>
            <a:ext cx="6286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E79"/>
          </a:solidFill>
          <a:ln xmlns:a="http://schemas.openxmlformats.org/drawingml/2006/main" w="9525">
            <a:solidFill>
              <a:srgbClr val="2F7E7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CB882F-705E-4177-BA0F-D7BB011B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1346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C38E0-906D-4418-A052-0FF2B3B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75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这一组一定要讲透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204CA-EFB4-4F08-AFDF-61FC5F12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局部极性不等于整体极性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同样是两根极性键，构型不同，分子极性可能完全相反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54FF5-B28F-4F88-8F70-4697D4F2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5</a:t>
            </a:r>
          </a:p>
        </p:txBody>
      </p:sp>
    </p:spTree>
    <p:extLst>
      <p:ext uri="{BB962C8B-B14F-4D97-AF65-F5344CB8AC3E}">
        <p14:creationId xmlns:p14="http://schemas.microsoft.com/office/powerpoint/2010/main" val="8571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8B9AD-3E09-491A-9F9D-F48FDCA4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SYMMETRY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D7FB9-C675-4417-88AB-219033C3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对称构型常通向非极性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E26B4-C7B5-476A-A966-9E9002A7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第一轮最实用的课堂入口：先看是否高度对称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A2366-3EEA-46F3-8CCE-073FC1F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0EF73-8E64-4060-AD80-B8D1F9E3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C5CD0-A879-495F-91EA-C36B3F04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分子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ED3E3-09BE-402A-89F4-5102928E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66900"/>
            <a:ext cx="19050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C7DF6-E5D5-4A29-8EC7-920A9DC6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33575"/>
            <a:ext cx="17526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构型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A6B12-EEB6-475C-9CDE-291E2F4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3F2E4-24CA-4D2B-BF78-0A16B661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335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键的极性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706AF-3F3E-4604-8DD4-D31BF580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66900"/>
            <a:ext cx="1714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80AAD-5EFF-4E24-B682-FB008667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33575"/>
            <a:ext cx="1562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分子极性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9FA18-6720-4BE0-AFA8-70ED1BA5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68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4A353-681E-42BF-AE85-9E8B207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34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CO₂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0C69A-1CEF-484E-922B-1D82798D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36800"/>
            <a:ext cx="19050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71A30-5657-4CDE-8434-E2146C9C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3475"/>
            <a:ext cx="17526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直线形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ECC56-42BC-4956-99EC-E1067C94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368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5E95E-4B00-477C-87A9-552E3D27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34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25E3D-9798-4C3A-882A-64C36B46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6800"/>
            <a:ext cx="1714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DF467-D561-4F0F-8D7C-17F7A1AC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3475"/>
            <a:ext cx="1562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非极性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28D95-54D7-4CF3-B2D2-D6232E09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67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4A6F7-62FE-4A02-AAB6-97ACD2DD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33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BF₃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42F07-FCB0-4079-AE2A-7108E011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06700"/>
            <a:ext cx="19050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17988-F386-46FA-9AF2-5CE28519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73375"/>
            <a:ext cx="17526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平面三角形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BA7F5-0D5D-4FDC-8117-CCEB5599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067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E6A0A-1F70-4E15-AAE0-00134FF7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33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D3416-FE5D-4320-BEC3-214F37D2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6700"/>
            <a:ext cx="1714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00EF67-B6FB-465E-9DB9-8785665D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73375"/>
            <a:ext cx="1562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非极性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54EBD-5596-4C2D-A435-0C7200BC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FE0448-1E86-4691-849C-665929FC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CCl₄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A71A5-1C88-4F4E-BD02-04ED47F4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76600"/>
            <a:ext cx="19050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41311B-C169-444E-BA3B-CE27FC7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43275"/>
            <a:ext cx="17526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正四面体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7B841A-7DD5-4209-91BF-92732A9C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766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DF9A3C-ECC5-42D9-B5BE-93428B4C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432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89E996-EB07-4F56-935F-D526089B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76600"/>
            <a:ext cx="1714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960C99-14B6-47FC-87D4-CD56F657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43275"/>
            <a:ext cx="1562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非极性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A46202-814B-4816-9612-4BA84139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65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17D973-150C-4C80-8573-6A4ABBFF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31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PF₅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360526-9242-4D15-9E21-BB268652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46500"/>
            <a:ext cx="19050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8850A3-E523-40AB-963B-0DC85ED5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3175"/>
            <a:ext cx="17526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三角双锥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6CD5AD-64BC-4532-B48E-3B138E46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465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EDE129-4C7A-4350-B8B7-47C7EBEB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131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B82C82-C3FD-42FD-92F7-5A015AB0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46500"/>
            <a:ext cx="1714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03E2A3-31B6-43E3-9097-76276B6F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3175"/>
            <a:ext cx="1562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非极性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6CE694-C0C5-4B83-BACE-12A27554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64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239328-D63A-4B64-93B0-6296A485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30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XeF₄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A1B43F-4773-4DB2-9C4A-7D5E66CD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16400"/>
            <a:ext cx="19050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94E6AE-CD97-43ED-8512-FDB31D32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3075"/>
            <a:ext cx="17526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平面正方形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C455DD-7C33-4490-84F0-6DD1E5E6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6400"/>
            <a:ext cx="1333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5B5059-D6BF-4D33-A0A3-DF7CA481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3075"/>
            <a:ext cx="1181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有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3867F1-4ABE-4309-B523-E8DE85F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16400"/>
            <a:ext cx="1714500" cy="46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20F171-03F6-4C3A-9647-CDC498B1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3075"/>
            <a:ext cx="1562100" cy="33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非极性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E8EDFC-2A0F-4BCA-814F-7517A48C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62150"/>
            <a:ext cx="35052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121555-0AAA-4629-BAB3-2EF14458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课堂结论 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A48FF8-3959-43DD-B525-DCCD2038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95550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构型完全对称时，极性键往往彼此抵消，分子可能无极性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9BCAA9-D6EB-4ED6-8B80-574ABB6D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35052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DDFB78-4B80-4732-9791-26D4846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课堂结论 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366896-67F7-4644-A5D5-AA10612A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6715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这不是死背清单，而是用构型去判断矢量和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83549F-BDD6-426C-AB7C-CB86CA60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95800"/>
            <a:ext cx="35052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670BF5-33F4-4BF1-A6C8-AF838A58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101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A5A12"/>
                </a:solidFill>
                <a:latin typeface="SimHei"/>
                <a:ea typeface="SimHei"/>
                <a:cs typeface="SimHei"/>
              </a:defRPr>
            </a:pPr>
            <a:r>
              <a:rPr sz="1125" b="1">
                <a:solidFill>
                  <a:srgbClr val="8A5A12"/>
                </a:solidFill>
                <a:latin typeface="SimHei"/>
                <a:ea typeface="SimHei"/>
                <a:cs typeface="SimHei"/>
              </a:rPr>
              <a:t>板书建议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F2F66E-0D51-4318-B627-4CB7B186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至少把 CO₂、BF₃、CCl₄ 画出来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不要只投表格结论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D8FB34-8E28-400B-9555-42464406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6</a:t>
            </a:r>
          </a:p>
        </p:txBody>
      </p:sp>
    </p:spTree>
    <p:extLst>
      <p:ext uri="{BB962C8B-B14F-4D97-AF65-F5344CB8AC3E}">
        <p14:creationId xmlns:p14="http://schemas.microsoft.com/office/powerpoint/2010/main" val="716444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5429A-FA01-44DB-B2DF-65B9421E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ASYMMETRY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B16C8-B416-49C3-BEBB-42D7CFD9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不对称构型常通向极性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7C994-A9AB-4251-9B6E-AB371CCA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极性分子往往不是“有极性键”，而是“有剩下的键矩”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32660-7688-439F-BBE7-C4F9A63E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52E8E-8231-42C4-BBD9-C6DAD04A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468A3-9AD8-49D4-A0F0-7F783661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分子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FB715-7259-4C68-8F1A-AF213726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669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B4060-703F-47F5-984A-7240EE6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335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构型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EF924-B62E-41B9-9E37-FD66B58E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669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4DD9E-60AC-475A-85E2-0E42DF5F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335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课堂判断理由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3768A-903D-4CF0-8203-B046E9EC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7119D-3608-40C6-9F14-76E37A93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35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分子极性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54471-FA88-4543-98EF-33744CA8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44739-5B48-4809-8FFE-E7181190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H₂O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78540-39C9-4DB5-8802-23EE98D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81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AB86A-7670-44BA-92E4-34DA04B9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479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V 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8BE74-91A6-4614-AC2C-54DDCBD0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812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72B51-2411-46AE-B11B-8A903AC4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479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两键矩夹角存在，不能完全抵消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DCD82-CA2A-41C0-9766-A719593A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3C723-34CF-4A7E-AFA6-0D9C5FC8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极性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5D523-AE82-4E37-B219-F114EC1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221B6-FBD0-488B-858B-A3FA3730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NH₃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F4410-B625-43D1-A831-5493CCC5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95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CD2DB-D8BD-4BE8-AB5E-DAB11FC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622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三角锥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90518-434D-441B-8B7B-9114AAB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08914-62B4-4D5C-965B-80B32873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622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空间不对称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80CA7-2CB0-426D-A440-A1669178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A31B-8F7D-46E0-8081-EC27640E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622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极性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60B1DF-2068-4DAB-825A-441B37C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756D2-AA21-4148-91D6-3C66558B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CH₃Cl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BDE1A-D586-4221-AD4F-760A7AA1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099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CC33E9-271F-48DA-8A57-1EC2C49F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66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四面体但取代不对称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319652-A1CC-466A-A671-2FFD8B92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0995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774B20-CD60-43F5-8CC5-48212316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66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C-Cl 键矩不能被其余键完全抵消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25EBC7-08E0-470E-9FB2-6BA5BE26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233A27-BB06-453F-801D-8A67B730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极性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DE83EF-296C-42EA-8563-A1E21B19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81274A-6A02-4499-8190-A8135DC2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SO₂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561890-CA1C-483E-910B-D0D54FE1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243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E4F655-254F-47A8-BB8A-DC388E35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909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V 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9B5869-EC9C-40AA-8645-79E1F44B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243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9309C0-C092-4DA4-8FF8-025CC7FE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909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与 CO₂ 对照可看出构型差异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972B71-6763-4ED1-ACBF-08F88A8D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71055D-0A6F-4083-B8DA-C6034AC0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90975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极性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283E02-C12F-4EEE-80F4-8B486AFB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2590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A4606E-3590-4E21-B7CE-3969A0F0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课堂追问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AB3D67-A2AD-41F6-A706-3099B2EF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如果骨架一样，但取代基不完全相同，还能不能简单说“对称”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6E1165-BA0F-479D-B330-4A67314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2590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E4B66F-C096-4FDA-8C5E-834A280C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052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这就引到下一页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57F159-5997-4F53-BD6E-4B52FEDF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CCl₄ 与 CH₂Cl₂ 都是四面体骨架，但极性结论不同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7DFB48-AFDB-4DE4-A306-0A2DC527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7</a:t>
            </a:r>
          </a:p>
        </p:txBody>
      </p:sp>
    </p:spTree>
    <p:extLst>
      <p:ext uri="{BB962C8B-B14F-4D97-AF65-F5344CB8AC3E}">
        <p14:creationId xmlns:p14="http://schemas.microsoft.com/office/powerpoint/2010/main" val="913683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4015A-F204-4F8C-80EC-08C9BC91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COMPARE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08698-A9D3-4CA6-9404-627030E4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CCl₄ vs CH₂Cl₂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6EC29-80DA-4464-942C-BF641557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构型相同，不代表分子极性相同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681BE-C325-40FB-A520-8E224EB1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D735F-2FB3-4B20-B20A-9114830A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5148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B307B-B129-4B38-9A9D-D2E07FC5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13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CCl₄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CFC30-E025-4E49-B134-0C0C7EBB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133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正四面体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四个取代基完全相同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四个 C-Cl 键矩彼此抵消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非极性分子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11F05-E2AA-416D-85A3-1E4A22D3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52006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3575D-4678-4F93-87B2-0558FFA3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CH₂Cl₂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8D5A6-8FAA-4B83-A0D3-DB12DD62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4819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四面体骨架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2 个 H + 2 个 Cl，取代不完全对称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各键矩不能完全抵消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极性分子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8CF16-83EA-4BD6-AC78-3068DB5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35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这一页专门处理一个高频误区：'四面体分子一定非极性' 是错的</a:t>
            </a:r>
          </a:p>
          <a:p xmlns:a="http://schemas.openxmlformats.org/drawingml/2006/main">
            <a:pPr>
              <a:defRPr sz="135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35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真正该问的是：是否高度对称，取代是否相同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1427C-9EB2-4843-9A86-4A9F51C1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8</a:t>
            </a:r>
          </a:p>
        </p:txBody>
      </p:sp>
    </p:spTree>
    <p:extLst>
      <p:ext uri="{BB962C8B-B14F-4D97-AF65-F5344CB8AC3E}">
        <p14:creationId xmlns:p14="http://schemas.microsoft.com/office/powerpoint/2010/main" val="1349297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2EC1D-D97A-4292-B931-37A1AC5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204E5-15E1-4465-84EE-59466E98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第一轮判断流程卡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7BEFF-4A8C-466B-A38E-ED964D46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碰到常见主族分子，优先按这四步走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B6B84-27B7-4018-9AD9-3166AC16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4920F-E712-4020-A580-BC1BDBC0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86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5634E-A603-44B6-882A-794CA5D7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Step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277F2-F53E-4ADC-A994-26D45935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先写 Lewis 结构，确认中心原子周围电子对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52FBC-CF33-40DC-A6BF-81C8A3A5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38350"/>
            <a:ext cx="2286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6452F-427B-4A0D-B606-56E67DF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Step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6BF7F-A7A4-44DA-9A5A-8AA97E90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用 VSEPR 判断空间构型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839CA-7837-4723-B5F2-6AFD6869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286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58B7D-A8EA-4E1B-A217-9B406FF2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Step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59D99-EB72-4ADD-AAEC-C1544C70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判断每根键是否有极性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C097D-D7F4-476C-9CCC-82944A15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6479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E55AF-62DB-41D4-93FB-29056DC7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Step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D3E9F-E185-40B1-8415-C6CEB01D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检查键矩能否因对称性而抵消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688CE-A8C4-4F75-AB5F-76827BF1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BE824-9186-4B5B-84A5-6A003A3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228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适合立刻练的分子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9234C-8668-45E3-A024-0757304F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48100"/>
            <a:ext cx="4095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B9B8B-0691-4034-983C-D9F1ECB2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14775"/>
            <a:ext cx="394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这一步主要练什么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53D54-B304-468B-B4D5-6CDE4DC7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2570B-50AF-41E6-91AE-00F686B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228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CO₂ / H₂O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EF433-C8E7-4D35-9351-6D28C9DD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95775"/>
            <a:ext cx="4095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C1256-11B9-47EB-80AD-33C42CC7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394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同样有极性键，构型不同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43DAF-7589-492F-B464-A32B6310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AD6959-D7E3-4B76-9BFF-84FE1067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228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BF₃ / NH₃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56B14A-E358-4F8A-A569-F6824A61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43450"/>
            <a:ext cx="4095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43EDA-A1D5-4461-8D97-952C563E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394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平面三角 vs 三角锥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B2C958-4D9B-45FF-A043-A51E18D8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6A6018-FD35-4B54-9E15-217B3B5B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228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CCl₄ / CH₂Cl₂ / CH₃Cl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C40AB-A1E1-480F-B035-B1063F5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91125"/>
            <a:ext cx="4095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1906D2-DD00-47B7-A7DF-7A5DF532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394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同骨架下的取代对称性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E5F3A2-B852-430A-98E1-1E93DF9D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32956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2466B2-1506-4A47-8544-75862F5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814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A5A12"/>
                </a:solidFill>
                <a:latin typeface="SimHei"/>
                <a:ea typeface="SimHei"/>
                <a:cs typeface="SimHei"/>
              </a:defRPr>
            </a:pPr>
            <a:r>
              <a:rPr sz="1125" b="1">
                <a:solidFill>
                  <a:srgbClr val="8A5A12"/>
                </a:solidFill>
                <a:latin typeface="SimHei"/>
                <a:ea typeface="SimHei"/>
                <a:cs typeface="SimHei"/>
              </a:rPr>
              <a:t>课堂用法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7E546B-BBF7-4B81-8063-327B25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2952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做题前先停在这一页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让学生先口头报流程，不要直接报极性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042FEA-D6B1-4CB8-8648-68D42DCC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9</a:t>
            </a:r>
          </a:p>
        </p:txBody>
      </p:sp>
    </p:spTree>
    <p:extLst>
      <p:ext uri="{BB962C8B-B14F-4D97-AF65-F5344CB8AC3E}">
        <p14:creationId xmlns:p14="http://schemas.microsoft.com/office/powerpoint/2010/main" val="12212913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A3B81A-7969-41B5-8362-777DDD7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D21F1-291E-45F4-84DF-84B68AB0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例题承接页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F7545-0A66-4534-967C-CA193B2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先讲最小对照，再进综合判断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FD366-C02A-4900-B2CD-1F408C0A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B5A3E-DD74-429D-AE4C-DCCC0245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623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1CA89-48D9-4134-ACD4-07AAB0B5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例题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71D6B-87A6-43BB-B374-6949DEB3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35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比较 HCl、HBr、HI 三种键的极性大小规律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B5FAB-485D-47A0-85EF-A364545C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66900"/>
            <a:ext cx="31623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D8CAF-0921-4C64-8ECC-260FE1A5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例题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2C55C-DEE0-4654-8D7F-955A801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35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判断 CO₂ 和 H₂O 的分子极性，并解释原因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2A909-58ED-468D-9E16-655A6514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66900"/>
            <a:ext cx="34290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63BCC-E870-4CC8-B814-BD6551A6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38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例题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EDD8F-8B14-43B6-B37F-7D5C888B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35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判断 BF₃、NH₃、CCl₄、CH₃Cl 的分子极性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386BB-C1D5-4B34-9721-F6E70FFB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1346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D1114-8576-4FEA-B0A4-0FCB40B8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975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例题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8522B-5C3E-478C-A393-44E04B9C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975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35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判断 CO₂、SO₂、CH₂Cl₂、XeF₄ 的分子极性，并说明依据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648A0-A1DE-4FB9-8CCB-E882B9AD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134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78E2B-0E46-4335-9AF9-9C802997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979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A5A12"/>
                </a:solidFill>
                <a:latin typeface="SimHei"/>
                <a:ea typeface="SimHei"/>
                <a:cs typeface="SimHei"/>
              </a:defRPr>
            </a:pPr>
            <a:r>
              <a:rPr sz="1125" b="1">
                <a:solidFill>
                  <a:srgbClr val="8A5A12"/>
                </a:solidFill>
                <a:latin typeface="SimHei"/>
                <a:ea typeface="SimHei"/>
                <a:cs typeface="SimHei"/>
              </a:rPr>
              <a:t>页序建议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3E7B7-A269-44FC-9445-D0FD1943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979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先 1 再 2，打透“局部 vs 整体”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再 3、4，把构型和取代对称性都扫一遍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40314-88BD-4993-9BD0-8DA69F73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10</a:t>
            </a:r>
          </a:p>
        </p:txBody>
      </p:sp>
    </p:spTree>
    <p:extLst>
      <p:ext uri="{BB962C8B-B14F-4D97-AF65-F5344CB8AC3E}">
        <p14:creationId xmlns:p14="http://schemas.microsoft.com/office/powerpoint/2010/main" val="21069613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538187-2747-4827-BEF8-2FEE8D32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97043-01F4-41C0-A3F9-87A818D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易错点总表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D4F62-F49B-467A-9545-1E93697A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最后一轮快扫，最适合课堂收口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DBD86-F23B-4705-B1C0-C5F49D34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69B4A-5FC8-4DEC-BF14-C2C6501B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812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C6549-56CB-413E-9D12-701E1712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2288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错误想法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F18FB-0795-4E33-8311-B9ABBD6A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85950"/>
            <a:ext cx="3429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B242A-32A1-49E1-92F7-82B3FA07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32766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为什么错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9DA1A-0C65-4E25-9BF7-D230008B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43243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143F3-0014-4EA8-AD0F-68F4ABBF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1719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17324D"/>
                </a:solidFill>
                <a:latin typeface="SimSun"/>
                <a:ea typeface="SimSun"/>
                <a:cs typeface="SimSun"/>
              </a:rPr>
              <a:t>正确理解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065FF-F88D-4E01-9FD9-38880748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2210"/>
            <a:ext cx="23812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F95DD-AE82-4B56-B1FF-5E15026D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8885"/>
            <a:ext cx="22288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有极性键就一定是极性分子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898FD-EAF1-401E-8E63-CA3234A6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2210"/>
            <a:ext cx="3429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E70EA-3F77-44AC-AD49-1362552B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8885"/>
            <a:ext cx="32766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忽略构型与矢量抵消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DB522-7446-4862-9D6F-809D5475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42210"/>
            <a:ext cx="43243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EF6DA-0A5E-42CF-B045-6C424631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8885"/>
            <a:ext cx="41719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先看键，再看形，再看和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D5319-AC6A-4F6A-8019-DB675E2B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8470"/>
            <a:ext cx="23812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F4EF4-5E4D-4E06-82FD-37B9DCC8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5145"/>
            <a:ext cx="22288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极性键就是离子键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E284A-D7DE-4A70-8490-55ED926C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8470"/>
            <a:ext cx="3429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B37A6-35F8-4C2E-8687-F4885A49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5145"/>
            <a:ext cx="32766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把“偏”误解成“转移”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5D17F-A300-4D66-A5BA-6B2D994F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8470"/>
            <a:ext cx="43243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E2108-9FB2-472C-9F74-3CCE32F5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5145"/>
            <a:ext cx="41719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极性共价键仍然是共用电子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10DBD-FED9-49E0-B80E-C82B53EB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4730"/>
            <a:ext cx="23812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3A965-764B-415D-BF07-E4D0B35D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1405"/>
            <a:ext cx="22288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对称就是看上去差不多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A8A1D-4FAE-427E-BBF5-221E2B61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4730"/>
            <a:ext cx="3429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94C2A-B8D1-45A8-B458-29918849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21405"/>
            <a:ext cx="32766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没有先确定空间构型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A57D8B-90E3-440F-A4F7-11F55104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54730"/>
            <a:ext cx="43243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C1F02-7117-44CA-81D8-426076C4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1405"/>
            <a:ext cx="41719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必须先确定 VSEPR 构型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D7F6AA-E245-4E31-BF77-9F910DB9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0990"/>
            <a:ext cx="23812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A9FD3-D747-4B66-920F-3B11B2AA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7665"/>
            <a:ext cx="22288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四面体分子一定非极性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B93D09-9C59-42F0-8D83-5BC2BF5C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10990"/>
            <a:ext cx="34290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1431C3-279E-4981-8AC2-843C4884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77665"/>
            <a:ext cx="32766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忽略取代是否相同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EC1AFE-1791-4418-81A4-E8B00766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0990"/>
            <a:ext cx="432435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BB259A-65C8-4D3A-801D-E8B25F29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7665"/>
            <a:ext cx="41719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只有高度对称且取代相同才易完全抵消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6BA37E-FCB6-4F2E-B6A4-85778170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1346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86F91C-1300-40A1-911C-94AD7D45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975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推荐课堂动作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42CF9B-5B38-43BF-B6C3-6617F2F9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97536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讲完这一页后，可以让学生回头给前面的例题逐一对照自己属于哪类错误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3C79C7-986E-43D9-A01A-1055C55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11</a:t>
            </a:r>
          </a:p>
        </p:txBody>
      </p:sp>
    </p:spTree>
    <p:extLst>
      <p:ext uri="{BB962C8B-B14F-4D97-AF65-F5344CB8AC3E}">
        <p14:creationId xmlns:p14="http://schemas.microsoft.com/office/powerpoint/2010/main" val="14558350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52D434-CAB5-4BC9-B334-1ED33097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F7E79"/>
                </a:solidFill>
                <a:latin typeface="Times New Roman"/>
                <a:ea typeface="Times New Roman"/>
                <a:cs typeface="Times New Roman"/>
              </a:rPr>
              <a:t>WRAP-UP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C7E03-7F9F-46C0-A7E5-85A14B97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本节收束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CACFA-363F-4A23-BAE7-A25CF231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5B6975"/>
                </a:solidFill>
                <a:latin typeface="SimSun"/>
                <a:ea typeface="SimSun"/>
                <a:cs typeface="SimSun"/>
              </a:rPr>
              <a:t>先把判断顺序说顺，再追求做题速度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173FF-099E-4604-9833-B45693B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132F4-033C-40DA-8D3D-6BFB275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83549-C110-409A-8C94-6550920C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下课前至少带走三句话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76415-BA8C-4B48-BCA7-57746F8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572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键的极性看电负性差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分子极性看键矩矢量和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构型对称性与取代对称性同样重要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D7912-E340-411C-B1C6-1D837A3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48768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BE69E-C7F1-4EFA-9928-BAB3BB37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24D"/>
                </a:solidFill>
                <a:latin typeface="SimHei"/>
                <a:ea typeface="SimHei"/>
                <a:cs typeface="SimHei"/>
              </a:rPr>
              <a:t>课后立刻自测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181C7-D22F-48B7-B71E-066B0314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4495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1. CO₂ / H₂O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2. BF₃ / NH₃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1F2933"/>
                </a:solidFill>
                <a:latin typeface="SimSun"/>
                <a:ea typeface="SimSun"/>
                <a:cs typeface="SimSun"/>
              </a:rPr>
              <a:t>• 3. CCl₄ / CH₂Cl₂ / CH₃Cl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C2B93-06F2-4913-903C-178F4BED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1346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658C4-3F61-4589-A945-49FDEF20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979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A5A12"/>
                </a:solidFill>
                <a:latin typeface="SimHei"/>
                <a:ea typeface="SimHei"/>
                <a:cs typeface="SimHei"/>
              </a:defRPr>
            </a:pPr>
            <a:r>
              <a:rPr sz="1125" b="1">
                <a:solidFill>
                  <a:srgbClr val="8A5A12"/>
                </a:solidFill>
                <a:latin typeface="SimHei"/>
                <a:ea typeface="SimHei"/>
                <a:cs typeface="SimHei"/>
              </a:rPr>
              <a:t>最后一句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49096-0CB9-4CB2-9302-008A3C3F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一乱就回到流程卡：先键、再形、后矢量和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  <a:latin typeface="SimHei"/>
                <a:ea typeface="SimHei"/>
                <a:cs typeface="SimHei"/>
              </a:defRPr>
            </a:pPr>
            <a:r>
              <a:rPr sz="1125">
                <a:solidFill>
                  <a:srgbClr val="1F2933"/>
                </a:solidFill>
                <a:latin typeface="SimHei"/>
                <a:ea typeface="SimHei"/>
                <a:cs typeface="SimHei"/>
              </a:rPr>
              <a:t>• 这节桥梁课的目标不是多，而是把判断顺序固定住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8025B-B716-4665-8C43-2BDD5D7E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SimSun"/>
                <a:ea typeface="SimSun"/>
                <a:cs typeface="SimSun"/>
              </a:defRPr>
            </a:pPr>
            <a:r>
              <a:rPr sz="750">
                <a:solidFill>
                  <a:srgbClr val="5B6975"/>
                </a:solidFill>
                <a:latin typeface="SimSun"/>
                <a:ea typeface="SimSun"/>
                <a:cs typeface="SimSun"/>
              </a:rPr>
              <a:t>键的极性与分子极性 | 第一轮基础班桥梁增强课 | 12</a:t>
            </a:r>
          </a:p>
        </p:txBody>
      </p:sp>
    </p:spTree>
    <p:extLst>
      <p:ext uri="{BB962C8B-B14F-4D97-AF65-F5344CB8AC3E}">
        <p14:creationId xmlns:p14="http://schemas.microsoft.com/office/powerpoint/2010/main" val="2063649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2026-06-17T04:06:41.3950000Z</dcterms:created>
  <dcterms:modified xsi:type="dcterms:W3CDTF">2026-06-17T04:06:41.3950000Z</dcterms:modified>
</coreProperties>
</file>