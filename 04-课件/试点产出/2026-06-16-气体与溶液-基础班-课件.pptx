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f01841f03b4266" /><Relationship Type="http://schemas.openxmlformats.org/officeDocument/2006/relationships/extended-properties" Target="/docProps/app.xml" Id="R8e079e8f1bf24752" /><Relationship Type="http://schemas.openxmlformats.org/officeDocument/2006/relationships/officeDocument" Target="/ppt/presentation.xml" Id="R950439653d35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e7ffc113949c7"/>
  </p:sldMasterIdLst>
  <p:notesMasterIdLst>
    <p:notesMasterId xmlns:r="http://schemas.openxmlformats.org/officeDocument/2006/relationships" r:id="R610dd78d73634947"/>
  </p:notesMasterIdLst>
  <p:sldIdLst>
    <p:sldId xmlns:r="http://schemas.openxmlformats.org/officeDocument/2006/relationships" id="256" r:id="Rf983c91326bf437c"/>
    <p:sldId xmlns:r="http://schemas.openxmlformats.org/officeDocument/2006/relationships" id="257" r:id="R45cc90b970c544d1"/>
    <p:sldId xmlns:r="http://schemas.openxmlformats.org/officeDocument/2006/relationships" id="258" r:id="Rbfe7d8e5332c4a79"/>
    <p:sldId xmlns:r="http://schemas.openxmlformats.org/officeDocument/2006/relationships" id="259" r:id="R2218a996ec5e463c"/>
    <p:sldId xmlns:r="http://schemas.openxmlformats.org/officeDocument/2006/relationships" id="260" r:id="R4bdddfce07ce435a"/>
    <p:sldId xmlns:r="http://schemas.openxmlformats.org/officeDocument/2006/relationships" id="261" r:id="R86dddb0f30db426d"/>
    <p:sldId xmlns:r="http://schemas.openxmlformats.org/officeDocument/2006/relationships" id="262" r:id="R3826ec4692df4ac9"/>
    <p:sldId xmlns:r="http://schemas.openxmlformats.org/officeDocument/2006/relationships" id="263" r:id="R51360bf97b484ff5"/>
    <p:sldId xmlns:r="http://schemas.openxmlformats.org/officeDocument/2006/relationships" id="264" r:id="Rbbe4c1cb46af4275"/>
    <p:sldId xmlns:r="http://schemas.openxmlformats.org/officeDocument/2006/relationships" id="265" r:id="R9c7bfc4491b541e2"/>
    <p:sldId xmlns:r="http://schemas.openxmlformats.org/officeDocument/2006/relationships" id="266" r:id="R19be77be8344475d"/>
    <p:sldId xmlns:r="http://schemas.openxmlformats.org/officeDocument/2006/relationships" id="267" r:id="R6289564c88134d89"/>
    <p:sldId xmlns:r="http://schemas.openxmlformats.org/officeDocument/2006/relationships" id="268" r:id="R06354394d8504e98"/>
    <p:sldId xmlns:r="http://schemas.openxmlformats.org/officeDocument/2006/relationships" id="269" r:id="Rb569c89409cc48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e3041e2ba24bb2" /><Relationship Type="http://schemas.openxmlformats.org/officeDocument/2006/relationships/slideMaster" Target="/ppt/slideMasters/slideMaster1.xml" Id="Re04e7ffc113949c7" /><Relationship Type="http://schemas.openxmlformats.org/officeDocument/2006/relationships/notesMaster" Target="/ppt/notesMasters/notesMaster1.xml" Id="R610dd78d73634947" /><Relationship Type="http://schemas.openxmlformats.org/officeDocument/2006/relationships/presProps" Target="/ppt/presProps.xml" Id="Re2ce6dd9bb8141f2" /><Relationship Type="http://schemas.openxmlformats.org/officeDocument/2006/relationships/tableStyles" Target="/ppt/tableStyles.xml" Id="Rb51a32427cde48e2" /><Relationship Type="http://schemas.openxmlformats.org/officeDocument/2006/relationships/slide" Target="/ppt/slides/slide1.xml" Id="Rf983c91326bf437c" /><Relationship Type="http://schemas.openxmlformats.org/officeDocument/2006/relationships/slide" Target="/ppt/slides/slide2.xml" Id="R45cc90b970c544d1" /><Relationship Type="http://schemas.openxmlformats.org/officeDocument/2006/relationships/slide" Target="/ppt/slides/slide3.xml" Id="Rbfe7d8e5332c4a79" /><Relationship Type="http://schemas.openxmlformats.org/officeDocument/2006/relationships/slide" Target="/ppt/slides/slide4.xml" Id="R2218a996ec5e463c" /><Relationship Type="http://schemas.openxmlformats.org/officeDocument/2006/relationships/slide" Target="/ppt/slides/slide5.xml" Id="R4bdddfce07ce435a" /><Relationship Type="http://schemas.openxmlformats.org/officeDocument/2006/relationships/slide" Target="/ppt/slides/slide6.xml" Id="R86dddb0f30db426d" /><Relationship Type="http://schemas.openxmlformats.org/officeDocument/2006/relationships/slide" Target="/ppt/slides/slide7.xml" Id="R3826ec4692df4ac9" /><Relationship Type="http://schemas.openxmlformats.org/officeDocument/2006/relationships/slide" Target="/ppt/slides/slide8.xml" Id="R51360bf97b484ff5" /><Relationship Type="http://schemas.openxmlformats.org/officeDocument/2006/relationships/slide" Target="/ppt/slides/slide9.xml" Id="Rbbe4c1cb46af4275" /><Relationship Type="http://schemas.openxmlformats.org/officeDocument/2006/relationships/slide" Target="/ppt/slides/slide10.xml" Id="R9c7bfc4491b541e2" /><Relationship Type="http://schemas.openxmlformats.org/officeDocument/2006/relationships/slide" Target="/ppt/slides/slide11.xml" Id="R19be77be8344475d" /><Relationship Type="http://schemas.openxmlformats.org/officeDocument/2006/relationships/slide" Target="/ppt/slides/slide12.xml" Id="R6289564c88134d89" /><Relationship Type="http://schemas.openxmlformats.org/officeDocument/2006/relationships/slide" Target="/ppt/slides/slide13.xml" Id="R06354394d8504e98" /><Relationship Type="http://schemas.openxmlformats.org/officeDocument/2006/relationships/slide" Target="/ppt/slides/slide14.xml" Id="Rb569c89409cc48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6a70f8b7748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4f0a223e7e48a5" /><Relationship Type="http://schemas.openxmlformats.org/officeDocument/2006/relationships/notesMaster" Target="/ppt/notesMasters/notesMaster1.xml" Id="R32233a818c10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7351dd83f4cec" /><Relationship Type="http://schemas.openxmlformats.org/officeDocument/2006/relationships/notesMaster" Target="/ppt/notesMasters/notesMaster1.xml" Id="R64b8e0e2abe5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1abd153f7d4d42" /><Relationship Type="http://schemas.openxmlformats.org/officeDocument/2006/relationships/notesMaster" Target="/ppt/notesMasters/notesMaster1.xml" Id="Rc04041f4cadf4b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07edab8fe74580" /><Relationship Type="http://schemas.openxmlformats.org/officeDocument/2006/relationships/notesMaster" Target="/ppt/notesMasters/notesMaster1.xml" Id="Rcc8cebb4473b4e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27fee0302847c1" /><Relationship Type="http://schemas.openxmlformats.org/officeDocument/2006/relationships/notesMaster" Target="/ppt/notesMasters/notesMaster1.xml" Id="R1537bdd29c38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ee7774dcf4945" /><Relationship Type="http://schemas.openxmlformats.org/officeDocument/2006/relationships/notesMaster" Target="/ppt/notesMasters/notesMaster1.xml" Id="Rc029f3e0f5cc4a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6307b9f0b2459f" /><Relationship Type="http://schemas.openxmlformats.org/officeDocument/2006/relationships/notesMaster" Target="/ppt/notesMasters/notesMaster1.xml" Id="Rc4912df8f70848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bdddab8b4142fc" /><Relationship Type="http://schemas.openxmlformats.org/officeDocument/2006/relationships/notesMaster" Target="/ppt/notesMasters/notesMaster1.xml" Id="Rf165268accc040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b9a16ebc4d40d0" /><Relationship Type="http://schemas.openxmlformats.org/officeDocument/2006/relationships/notesMaster" Target="/ppt/notesMasters/notesMaster1.xml" Id="Rf308af3dbf8d45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481f0f93344ffa" /><Relationship Type="http://schemas.openxmlformats.org/officeDocument/2006/relationships/notesMaster" Target="/ppt/notesMasters/notesMaster1.xml" Id="R52fbe2bfd0b341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0b91b99414fa0" /><Relationship Type="http://schemas.openxmlformats.org/officeDocument/2006/relationships/notesMaster" Target="/ppt/notesMasters/notesMaster1.xml" Id="R69a1b2c85e6241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918c39f157454e" /><Relationship Type="http://schemas.openxmlformats.org/officeDocument/2006/relationships/notesMaster" Target="/ppt/notesMasters/notesMaster1.xml" Id="R685751cb02414a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92ab3977674d29" /><Relationship Type="http://schemas.openxmlformats.org/officeDocument/2006/relationships/notesMaster" Target="/ppt/notesMasters/notesMaster1.xml" Id="Red523f19ee164a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e1585a690f45a4" /><Relationship Type="http://schemas.openxmlformats.org/officeDocument/2006/relationships/notesMaster" Target="/ppt/notesMasters/notesMaster1.xml" Id="R02190ce4a66a41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c27094dc741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4f05120b640cb" /><Relationship Type="http://schemas.openxmlformats.org/officeDocument/2006/relationships/slideLayout" Target="/ppt/slideLayouts/slideLayout1.xml" Id="Rc65705f3ca52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705f3ca52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606bf5b0e4fa7" /><Relationship Type="http://schemas.openxmlformats.org/officeDocument/2006/relationships/notesSlide" Target="/ppt/notesSlides/notesSlide1.xml" Id="Rb5392a6a3a5d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559f9c8df4ae9" /><Relationship Type="http://schemas.openxmlformats.org/officeDocument/2006/relationships/notesSlide" Target="/ppt/notesSlides/notesSlide2.xml" Id="R4778ab707e5448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ec48fcdfb49e3" /><Relationship Type="http://schemas.openxmlformats.org/officeDocument/2006/relationships/notesSlide" Target="/ppt/notesSlides/notesSlide3.xml" Id="R768eb9628f45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05ff329ea45b3" /><Relationship Type="http://schemas.openxmlformats.org/officeDocument/2006/relationships/image" Target="/ppt/media/image.jpeg" Id="R6ab89aa2d58648a0" /><Relationship Type="http://schemas.openxmlformats.org/officeDocument/2006/relationships/notesSlide" Target="/ppt/notesSlides/notesSlide4.xml" Id="R57c4c4fedb834e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322d87b3e4950" /><Relationship Type="http://schemas.openxmlformats.org/officeDocument/2006/relationships/notesSlide" Target="/ppt/notesSlides/notesSlide5.xml" Id="R7721a522558d41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e9977ae2c4127" /><Relationship Type="http://schemas.openxmlformats.org/officeDocument/2006/relationships/notesSlide" Target="/ppt/notesSlides/notesSlide6.xml" Id="Rea026744c5ac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dfe46071d40b2" /><Relationship Type="http://schemas.openxmlformats.org/officeDocument/2006/relationships/image" Target="/ppt/media/image2.jpeg" Id="Ra4c39b2b65574c7f" /><Relationship Type="http://schemas.openxmlformats.org/officeDocument/2006/relationships/notesSlide" Target="/ppt/notesSlides/notesSlide7.xml" Id="R3284f9e781cb4d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df35caa0c47d7" /><Relationship Type="http://schemas.openxmlformats.org/officeDocument/2006/relationships/notesSlide" Target="/ppt/notesSlides/notesSlide8.xml" Id="R398e11f3853644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3a2657ed49df" /><Relationship Type="http://schemas.openxmlformats.org/officeDocument/2006/relationships/notesSlide" Target="/ppt/notesSlides/notesSlide9.xml" Id="R480418dc82d443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ee8bf11754c06" /><Relationship Type="http://schemas.openxmlformats.org/officeDocument/2006/relationships/notesSlide" Target="/ppt/notesSlides/notesSlide10.xml" Id="Raedce52b12d44c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12eb9b6fe4da2" /><Relationship Type="http://schemas.openxmlformats.org/officeDocument/2006/relationships/notesSlide" Target="/ppt/notesSlides/notesSlide11.xml" Id="R806817a13db843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d4315bb574e25" /><Relationship Type="http://schemas.openxmlformats.org/officeDocument/2006/relationships/notesSlide" Target="/ppt/notesSlides/notesSlide12.xml" Id="Rcc004ea736f54c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56a4c2ed24569" /><Relationship Type="http://schemas.openxmlformats.org/officeDocument/2006/relationships/notesSlide" Target="/ppt/notesSlides/notesSlide13.xml" Id="R8be664bd970247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6c7dc18524f81" /><Relationship Type="http://schemas.openxmlformats.org/officeDocument/2006/relationships/notesSlide" Target="/ppt/notesSlides/notesSlide14.xml" Id="R8bef0bdd1a9e45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3F6AF-C2E9-46E2-B16D-0C3317F2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5331C-348F-4995-B3C6-D28EBFC1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5709E-CBE9-40E2-BF18-F822015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气体与溶液（基础班）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049F7-398E-4476-91CD-4446DFF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第一轮课堂投影首版 | 计算规范、理想气体、Dalton 分压、浓度换算、依数性主线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0ED76-33F5-4835-BE1D-45E5119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2876550" cy="22669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89551-ABCD-4961-8140-00A51F1A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4003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投影定位</a:t>
            </a:r>
          </a:p>
          <a:p xmlns:a="http://schemas.openxmlformats.org/drawingml/2006/main">
            <a:pPr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讲工具链，不搬整篇讲义</a:t>
            </a:r>
          </a:p>
          <a:p xmlns:a="http://schemas.openxmlformats.org/drawingml/2006/main">
            <a:pPr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公式与表格强调快速扫读</a:t>
            </a:r>
          </a:p>
          <a:p xmlns:a="http://schemas.openxmlformats.org/drawingml/2006/main">
            <a:pPr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推导和细算保留板书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F924D-2F2C-443B-8759-6C8E84BD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85C6F-2AEE-4B6B-88E6-B429F062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理想气体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70259-BDCB-4F45-B4AF-DEBFCF9B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19100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8E098-35D8-4EE2-99AB-8F2C73C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672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Dalton 分压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2E410-0970-4DF3-B0D9-151C2DB5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91000"/>
            <a:ext cx="1143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3BFED-A359-48B4-AAA4-03EAFD43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672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浓度换算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ADE15-8F11-482E-AE05-BB2401FB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12192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CCB9A-8295-4505-9A9A-2178039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依数性主线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E4E71-99B9-4D48-8E70-9448BE4F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9911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ACBD8-59CA-41BB-8279-691D5390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339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教师使用提醒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608C1-681C-4E50-9F8A-73B85E5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这版用于投影，不替代教师稿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若学生跟不上，优先回到工具链总览页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69307-ED9C-44C6-B8CA-48D9CDAC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1</a:t>
            </a:r>
          </a:p>
        </p:txBody>
      </p:sp>
    </p:spTree>
    <p:extLst>
      <p:ext uri="{BB962C8B-B14F-4D97-AF65-F5344CB8AC3E}">
        <p14:creationId xmlns:p14="http://schemas.microsoft.com/office/powerpoint/2010/main" val="160627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91874-D8B3-403A-96FF-F330A7F1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LESSON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2D0BA-14B0-4C32-A67A-84EC5CB8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本节工具链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4B506-F546-4E6B-B081-8EB68DF9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先分类，再选公式，再核单位，再回看结果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77C74-35EE-43C1-9CA3-831CBD8F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C8706-226F-4B29-85D0-3B4D1EE6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81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8B9C3-19A4-491D-AA10-ADAE420D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1. 理想气体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8E11D-988A-4C1A-8B25-619E8A1E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pV = nRT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R 值必须和 p、V 单位匹配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温度必须用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1636F-B220-4178-889E-8AFA8ED6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2381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C2E56-B966-42C9-AA20-D1650A99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57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2. Dalton 分压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94CBB-AC5A-4F84-9328-C8868E8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1935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混合气体先判恒容/恒压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排水集气一定扣水蒸气压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69423-9D22-4BEA-8833-BC965016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2381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35F6C-32F4-4199-AFED-21C8F888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3. 浓度换算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384ED-936D-4983-8389-D723A7D6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分清 w / c / b / x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先选基准，再写定义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3860C-3426-4F11-B43C-B111B342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381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5930F-C33D-483C-ABF1-6276B62A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4. 依数性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1F68-62DF-4EF6-9D80-DE117140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先抓根源：蒸气压是否下降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第一轮以定性判断为主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25097-E06C-4A1E-B094-65EC25B3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课堂节奏：工具链主线 + 代表例题 + 易错点收束</a:t>
            </a:r>
          </a:p>
          <a:p xmlns:a="http://schemas.openxmlformats.org/drawingml/2006/main">
            <a:pPr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PPT 负责条件表、总框架、题干提示；详细运算过程留板书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D707E-FAD1-49B4-A31C-936C6A7F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876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96AAD-0DAC-4BBD-B9AC-A9C03C08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板书口令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FA766-39BE-4D89-A4A7-2CBA4BEC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先分类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再统一单位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再列方程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最后回看结果是否合理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D5630-E153-48BD-8DCC-8B06D66C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2</a:t>
            </a:r>
          </a:p>
        </p:txBody>
      </p:sp>
    </p:spTree>
    <p:extLst>
      <p:ext uri="{BB962C8B-B14F-4D97-AF65-F5344CB8AC3E}">
        <p14:creationId xmlns:p14="http://schemas.microsoft.com/office/powerpoint/2010/main" val="830752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28EA6-4A64-4D16-BE76-75F92818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IDEAL 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B3189-BF18-4194-BD4E-D1F04D2F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理想气体状态方程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42C33-F2B9-488F-86F6-A1189E5A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第一眼先看 T、p、V、R 是否在同一单位体系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8E0E-A80A-41AD-881D-2B7DA798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02609-A016-459D-B654-94624CC2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429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37DFD-38E8-445A-853C-60405FF4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pV = nRT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54C28-0275-4F49-82F3-D022B24C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42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常用变形式见本页与板书</a:t>
            </a:r>
          </a:p>
          <a:p xmlns:a="http://schemas.openxmlformats.org/drawingml/2006/main">
            <a:pPr>
              <a:defRPr sz="1275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密度法常回到 M = ρRT / p</a:t>
            </a:r>
          </a:p>
          <a:p xmlns:a="http://schemas.openxmlformats.org/drawingml/2006/main">
            <a:pPr>
              <a:defRPr sz="1275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温度永远换成热力学温度 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A1A01-2E26-4339-959B-43960F3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906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792C9-E283-4450-A35E-A97C86C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常用变形式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377A5-A88E-46A2-82BF-4588D4A5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n = pV / 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A0D34-095B-463B-A1B9-6E86FD80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38500"/>
            <a:ext cx="1962150" cy="1695450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0C196-6D74-414E-9D60-94BB7246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43300"/>
            <a:ext cx="1581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9050">
            <a:solidFill>
              <a:srgbClr val="2F7E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114D1-A777-45BD-A794-02047A27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578" y="378866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0AF5E-F950-44FC-BA7E-8453A8DB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708" y="385419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A11F56-05B1-4ECF-9746-0FFD9AB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968" y="382143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ACCBD-E911-491E-A9DC-E3EAD958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7" y="411632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E046B-E7E9-4EA4-A730-6A8F10FA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02621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30CAB-0AAD-4F4D-A46D-E0B088D5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033" y="398526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4776D-D746-4B04-8EFA-6B59CB14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521" y="429653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D319A-65B3-4F18-8152-B41A52A5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342" y="423100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8A2D"/>
          </a:solidFill>
          <a:ln xmlns:a="http://schemas.openxmlformats.org/drawingml/2006/main" w="9525">
            <a:solidFill>
              <a:srgbClr val="D88A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99544-361E-454A-A1C8-C0FFD73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621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41F221-7DF3-4F8F-B981-8DA430CD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288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 的数值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BF97E3-6B84-4639-8095-B5F2E48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621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06B05-593F-4C49-BB69-A7657744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288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 单位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FB71D-3737-43EE-BD01-B982F35C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621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8455F-EFBD-4124-A2DC-F2FD74D6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288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V 单位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65A13-AD2E-4530-AB0C-57CB7242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81A7D-DB69-479C-9220-93BB7B16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288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课堂提醒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4A9C3-D1B0-468E-8F65-B97D4EC0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384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B05CF9-1D86-4ED5-9237-642E68E9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8.31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8A46F9-42B3-4BC7-8093-0FD7A90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384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C9471D-7CDC-479A-8CF9-42C3B60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0507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kPa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F45DA0-09A2-4E59-93FE-6186F072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C8229B-EDED-43BA-B85D-0A39F73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dm³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7C0E64-D34B-47A2-AAD0-6B9D245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49E9E-64D9-4A59-A88C-D43EF28E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050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竞赛与普化计算最常用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FF8093-6684-4CAF-9A02-7D37C7D8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DDACC8-8976-426B-A8A9-CC5BC31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813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0.0821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AB5452-0F46-4482-AB1A-5F5F7A1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146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F3BF43-68E2-4450-888A-9B7465C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813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atm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AB3618-2A99-45E8-A6E4-32EDFC6E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5BACF1-6CE2-4231-857B-36586C79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813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dm³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A60E0A-B341-45C9-A234-D0522A75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483A81-DD07-41E8-B05C-F8F29903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813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英文资料常见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6F6C3D-01A2-4B7B-877A-A866AA67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950D17-197E-41A8-939A-E298C9D3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5757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8.314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AB1A9F-1B4F-40D5-82C3-64D4B437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909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ABC3EB-4BA9-4511-B537-4C47BEE5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5757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Pa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7FE9E5-E891-4ED1-842B-421EB888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CE1054-EB1A-4D7E-8284-263DC7C9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5757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m³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5AE707-A354-4409-9A28-583E73E9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1A3BA9-11E9-4988-8F92-6BB5CB6C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575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SI 推导常用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E2D732-AC27-4A09-970B-C4801EDC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69D7F6-3468-4644-93F8-2420D70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33825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62.4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F9E00A-C1C4-4EA2-AB54-976E922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671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000650-33FC-44BC-A23E-A37D8B9B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338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mmHg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252508-3B17-4DBE-BBBE-32E05BF0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671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3163C2-692C-4215-BAD1-21621452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33825"/>
            <a:ext cx="89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dm³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D09DBF-C12E-441F-B1D9-4E048FC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5703DD-3AE8-42D1-A1F2-BE26E49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338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旧题偶见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89574C-D56D-4A45-838A-ED4093AB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10100"/>
            <a:ext cx="61150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D2024E-1981-4D6E-AEDA-C41B9981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573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三句硬提醒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FEFA9B-31E7-4F12-A4C3-B8371917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T 不能直接用 °C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不要把 22.4 当成所有题的固定体积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最后再统一检查有效数字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02132D-D341-44BB-9A6C-9AA8EBC8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524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3034E3-741C-4627-8A36-CDDF1DB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318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板书顺序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A9FD3F-0D23-4B3B-B4C8-E92A4562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先写 T = t + 273.15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再写 p、V 单位并决定 R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最后再写变形式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C5ED9D-C6EA-4A5C-B337-3E92A55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3</a:t>
            </a:r>
          </a:p>
        </p:txBody>
      </p:sp>
    </p:spTree>
    <p:extLst>
      <p:ext uri="{BB962C8B-B14F-4D97-AF65-F5344CB8AC3E}">
        <p14:creationId xmlns:p14="http://schemas.microsoft.com/office/powerpoint/2010/main" val="1004841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74DEB9-1C53-48D9-B97A-DE8D027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DALTON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B3E4D-9FC3-4C2A-8C53-DCD69E9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Dalton 分压与排水集气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98A5A-927C-4600-B7FA-523A3B68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先分清总压、分压、干气压，再决定怎么代入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4D152-37FF-429C-8BD3-6D441F16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BCF06-16AF-4FCD-B46C-D7A2B4F8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0861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87E2F-46AB-496C-AD9F-A583132B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核心关系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9EE04-5DC9-416F-942D-D32387C9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理想气体中：pᵢ = xᵢ · p总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同温同压下：体积分数 = 摩尔分数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CDD1E-712D-4CAF-8679-6E545644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14478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10472-F08F-4979-850E-D6743A5F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总压关系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8BC73-2EB4-4EA5-9918-7FA89E5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p总 = Σpᵢ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36BCF-31C7-45CA-AA11-544AB6C3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30861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5EC059-7415-4CC5-AE14-AAD5BC1D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排水集气校正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8644F-3E43-4ADE-999C-C8397C05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求物质的量时必须用干气压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25 °C 常见 p(H₂O) = 3.17 kPa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5E4C1-A1A8-4127-BE9E-7E91F7DF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24193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F1042-8779-43B0-A0BF-9163667A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003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干气压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4ED21-0F0C-4BC1-98C9-338D063E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215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p干气 = p总 − p(H₂O)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61DB5-D4A7-4F38-B3DF-A1CF1EB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35052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39F1A-9C26-4926-A487-C4E3A79C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条件判断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6E9A4-70C2-446B-91C0-FFF6918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恒容：先想分压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恒压：先想分体积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不同初压混合不能想当然直接相加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CADBE-6670-4C51-B799-21B9B995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2057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FEEE0-62F6-4992-B74F-17D667E1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教材图：NH₃ / HCl 扩散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89aa2d58648a0"/>
          <a:stretch xmlns:a="http://schemas.openxmlformats.org/drawingml/2006/main"/>
        </p:blipFill>
        <p:spPr>
          <a:xfrm xmlns:a="http://schemas.openxmlformats.org/drawingml/2006/main">
            <a:off x="8477250" y="2842171"/>
            <a:ext cx="1828800" cy="221157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B7C4D-CC91-4E0C-9BF9-05986F3C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1790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图2.4  雾环偏向 HCl 一侧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5745B-F274-4000-9B90-4D4E3FF9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1907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55EED-95BC-4B41-97C5-407D45E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38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A5458F-B23F-4282-9F19-2100C5E7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81450"/>
            <a:ext cx="3143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CC521-04B3-4B99-AB49-C923F603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29908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第一反应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A1785-D30F-4116-AAF4-6636CE4A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81450"/>
            <a:ext cx="4381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6F7F2F-97C1-4E80-A957-E93F1E09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4229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常见错法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95E47-2762-401A-99CA-975232E6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3888"/>
            <a:ext cx="21907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42B7FE-5A79-4804-823A-E267E83E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0563"/>
            <a:ext cx="2038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混合后求各组分贡献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B4D23C-72EC-4C1F-85C8-9004C81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33888"/>
            <a:ext cx="3143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55348-D65B-4D78-B791-40CA6FEC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00563"/>
            <a:ext cx="29908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先判恒容还是恒压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377563-DDE7-4165-83B2-8FF26C88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33888"/>
            <a:ext cx="4381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E198FF-4793-4C0C-A993-54EF77EC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00563"/>
            <a:ext cx="4229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只看见 xi 就盲套公式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3F5533-0333-4CF9-9B46-FB44B072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21907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E17D43-D10E-414C-910D-4E7ADC69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038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排水法收集气体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271A44-DF7A-4D9E-8360-BE05D62D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86325"/>
            <a:ext cx="3143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E1ECB-5E14-4656-B2AE-356DEF3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29908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先扣水蒸气压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9BD4A-CF52-4ED3-BD24-429F921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86325"/>
            <a:ext cx="4381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9FCD8A-FEC6-417C-97EA-311027F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4229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直接把总压代入 pV=nRT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11FA69-D295-4EEE-83A5-8A105F72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8763"/>
            <a:ext cx="21907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CDB15C-1C67-4EC4-B984-4D97501A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5438"/>
            <a:ext cx="20383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不同初压气体连通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A13532-1B3D-4CA7-AB72-53B755E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38763"/>
            <a:ext cx="314325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64512-8797-402A-87F2-18C1757D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05438"/>
            <a:ext cx="299085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回到状态方程重新算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56B0B6-504B-4ABC-86C4-4FF91924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38763"/>
            <a:ext cx="4381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889616-3D90-4F29-B7EA-E7F4E35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05438"/>
            <a:ext cx="4229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把原压强简单相加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E0022-BDDD-42C3-B829-A312ED0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4</a:t>
            </a:r>
          </a:p>
        </p:txBody>
      </p:sp>
    </p:spTree>
    <p:extLst>
      <p:ext uri="{BB962C8B-B14F-4D97-AF65-F5344CB8AC3E}">
        <p14:creationId xmlns:p14="http://schemas.microsoft.com/office/powerpoint/2010/main" val="1437895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E1C8C6-F1F5-4435-963C-E8295AFE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CONCENTRATION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91404-9B54-4D70-83BF-094BED9C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四种浓度语言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265DC-9CA0-4328-B962-B19DC75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先分清分母是谁：溶液、溶剂、体积，还是总物质的量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C45AC-A0BC-4715-862B-B4DE571D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EB997-4BEC-44BF-A856-6A4EABA9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7145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6D6AF-C76C-4381-BE56-E8BCE360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5621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名称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997D0-F462-428B-8C50-7A1DF9D8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85950"/>
            <a:ext cx="10477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4AA95-DAB7-44F5-9835-E674F17D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52625"/>
            <a:ext cx="8953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符号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D6164-57D4-4AAB-9E59-BDA1D851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85950"/>
            <a:ext cx="28956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7D832-2981-46DD-9857-71F4844F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1D5FB-3DB1-4FD9-97B7-4DA49838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31432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2F810-651B-48F5-904B-70075716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29908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最常见场景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228FF-D574-463B-97B9-394FD4F7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5060"/>
            <a:ext cx="17145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0C749-ADA1-4DD0-BAA0-070DAF68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1735"/>
            <a:ext cx="15621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质量分数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820A5-6761-4484-896A-FEAAE66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5060"/>
            <a:ext cx="10477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BA578-0427-4963-BBF0-27E22EEE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51735"/>
            <a:ext cx="8953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CFCBA-D54B-4007-B706-24C2CD49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5060"/>
            <a:ext cx="28956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E7725-2364-4774-83D0-AE7F3A65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1735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m溶质 / m溶液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F8C12-6A57-460F-B246-D07AECED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5060"/>
            <a:ext cx="31432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8A231-0479-4FC4-ABAE-D4795D0A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1735"/>
            <a:ext cx="29908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商品试剂标签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4DEFF-2C7C-4183-BA15-AD8C95FE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4170"/>
            <a:ext cx="17145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CC07B6-73B1-4163-9055-2370C4B2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0845"/>
            <a:ext cx="15621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物质的量浓度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CFF50-5FFB-4227-9536-1066CE8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84170"/>
            <a:ext cx="10477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0E0E8-746C-4310-B846-39E4305D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0845"/>
            <a:ext cx="8953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F8E81-3B31-4748-9F58-5156607B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4170"/>
            <a:ext cx="28956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14D41-8E71-4115-91A2-08F8CE55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0845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n溶质 / V溶液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5C889-E97D-4E72-9779-A6503DB5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84170"/>
            <a:ext cx="31432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A5B25-F8C5-41FC-9A61-52157F96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0845"/>
            <a:ext cx="29908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实验室配液、滴定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7D9DC-70BE-4A84-8882-B7D563F6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3280"/>
            <a:ext cx="17145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3F76DA-4C3A-4809-B656-FC1B861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9955"/>
            <a:ext cx="15621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质量摩尔浓度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612D2-3AA2-42BA-8701-5804DE5C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83280"/>
            <a:ext cx="10477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07E0B6-2143-4A32-8BC8-B2064D5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49955"/>
            <a:ext cx="8953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b 或 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46C54-6F9D-4FAD-89C9-340D6A2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83280"/>
            <a:ext cx="28956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CFA7E-2AB5-4FD1-9719-FA9FE809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9955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n溶质 / m溶剂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1E07FC-37F3-48B3-9870-3C9EFF03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83280"/>
            <a:ext cx="31432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5DC72-9CC2-4386-95FB-0ED5083E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9955"/>
            <a:ext cx="29908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依数性语言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958148-7E10-4F97-93BE-B901C4E6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2390"/>
            <a:ext cx="17145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4E39A1-4260-498A-9F4B-A08E7174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9065"/>
            <a:ext cx="15621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摩尔分数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21842C-0F8E-40D4-9FD5-75822B63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82390"/>
            <a:ext cx="10477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7637CD-FDBA-4871-9C1C-A7567DE0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9065"/>
            <a:ext cx="8953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A7B55C-626C-422B-8CB5-4C1C2C43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82390"/>
            <a:ext cx="289560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C5F3C-8A77-441D-99B4-83B91C0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49065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ni / Σn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05562F-8FA1-4F63-91E2-57DA97D3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2390"/>
            <a:ext cx="3143250" cy="4991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C9F34F-B7B8-4E75-8D1A-2F8C3AB9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9065"/>
            <a:ext cx="29908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理论推导、Raoult 定律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323A5-05ED-40F6-8373-E072321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724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03C8D0-E620-499E-B463-5282172F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先抓分母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2B64D3-5F87-4518-9479-5E31F76F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434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w 的分母是溶液质量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b 的分母是溶剂质量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c 的分母是溶液体积，不是加水体积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7336DE-2C97-4587-A322-6D0BABAE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5105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ADC4C1-13EC-4D51-9A94-4A17B53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课堂口径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4E4D7A-C7DE-46BB-997F-6C3E573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38750"/>
            <a:ext cx="472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换算题别跳步：先选基准，再写定义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看到“定容”就提醒自己：不是“加固定体积的水”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先看符号，再决定从质量还是体积入手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F8E9E8-BE28-484B-A772-D52BDA04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5</a:t>
            </a:r>
          </a:p>
        </p:txBody>
      </p:sp>
    </p:spTree>
    <p:extLst>
      <p:ext uri="{BB962C8B-B14F-4D97-AF65-F5344CB8AC3E}">
        <p14:creationId xmlns:p14="http://schemas.microsoft.com/office/powerpoint/2010/main" val="2094385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8EE88F-F8EF-4A3D-8205-2909C585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39736-74BE-4501-9305-387E848A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浓度换算主链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F25B0-2415-4ECE-B474-9986B58E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把一题拆成可追踪的四步，而不是脑内跳跃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B2CA5-A216-46C3-AAF9-17E2957B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2B564-B794-4449-9910-8BE1087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68639-AAE3-4C40-8D32-B0EB14B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1 选基准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04668-2180-477A-A427-29C47C4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常选 100 g 溶液、1 kg 溶液或 1 dm³ 溶液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保证质量、体积、物质的量能互相转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21AB4-FDFB-4A5A-BCAB-2A74998B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4310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462B0-60C2-466A-BA1C-758FB2A9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2 写定义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0F918-AB29-42EB-93DA-81DA31F8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w = m质 / m液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c = n质 / V液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b = n质 / m剂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x = ni / Σn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59CDC-83F1-4614-B4AD-7A21478B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43100"/>
            <a:ext cx="2286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E4CDB-9289-4AD7-8C32-3A595727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145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 补辅助量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0F16F-AE7A-469C-BDCE-E32F4092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常补：密度、摩尔质量、溶剂质量、体积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必要时先从质量走到物质的量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EAE58-3360-41F7-9BEB-30C2A670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6479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07717-9B55-4A5B-B954-C81CFD67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4 再做换算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951FC-3635-4E1A-ACE2-2B975DA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266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最后检查单位和数量级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锚点公式放到下表统一看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57F42-3382-45A9-9C11-6803F43D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476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04416-AC39-4C61-A474-FDC04FCC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2324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课堂锚点公式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61B8F-77FD-4228-ADD5-3B18C23E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3238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3ADC0-5701-4831-AF0E-F6BC6969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76675"/>
            <a:ext cx="3086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A3D80-0B23-431B-A354-D317A308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2438"/>
            <a:ext cx="2476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2E453-D0EF-4F1E-9205-49964788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9113"/>
            <a:ext cx="2324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c = 1000ρw / 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6C620-97F6-470B-9107-98CE7DD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62438"/>
            <a:ext cx="3238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6BF06-639C-45B1-AFE4-E77BC807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9113"/>
            <a:ext cx="3086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1000 来自 cm³ -&gt; dm³；w 用小数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FCE10-5E65-46A4-AE60-10310BA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476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727BC-829D-4C70-8B8B-685949D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2324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b = w / [M(1−w)]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6FA04-F01F-4E99-A4AB-3B51CA3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14875"/>
            <a:ext cx="3238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4BAEE-0313-4642-B096-6689E7F9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3086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分母是溶剂质量，不是溶液质量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87077-624C-4F24-B868-CA643696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7313"/>
            <a:ext cx="2476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1C2121-B446-4123-A978-44AFC630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3988"/>
            <a:ext cx="2324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Π = cRT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FB984-8D42-42BC-9894-09A97875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67313"/>
            <a:ext cx="3238500" cy="452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79564C-2FF4-4B5B-82BA-EBF0332D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33988"/>
            <a:ext cx="3086100" cy="319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第一轮只要求理解“像气体方程”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06F9D9-3233-4A4E-9BDB-9FDB5B57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29050"/>
            <a:ext cx="38481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3FB92-97AC-487A-B6BE-A702373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教师提示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0A888-C42C-4D50-97BA-59020FBB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3467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这一页适合投影讲“总路线”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细算过程请现场板书，不要把每一步都压进同一页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F6D07E-944A-4EC3-8D6F-42C15959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6</a:t>
            </a:r>
          </a:p>
        </p:txBody>
      </p:sp>
    </p:spTree>
    <p:extLst>
      <p:ext uri="{BB962C8B-B14F-4D97-AF65-F5344CB8AC3E}">
        <p14:creationId xmlns:p14="http://schemas.microsoft.com/office/powerpoint/2010/main" val="1406663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83B8E-9DDC-44A3-B560-001CE3CA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COLLIGATIVE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67300-CF74-4BF1-B8A2-34E7120D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依数性：先抓根源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5574A-5617-4280-A0E4-D60712A7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第一轮只要建立主线：溶质粒子数改变了溶剂蒸气压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FB055-6D86-49DD-936E-FEC0F501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31706-9EF3-40DE-AF18-FDC050D0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432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68647-CDFC-4631-9A57-7B06E70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主逻辑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1252A-337A-4F3F-8B65-97BBD29B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溶质加入 -&gt; 溶剂蒸气压下降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后面三项都可以回到这条主线理解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F0FA2-462D-4139-B569-004A25F0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2476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44D5F-20F0-4BD8-9B73-6E85F98F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四个结果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DF79E-661B-40CC-BA28-CD1D30D6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沸点升高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凝固点降低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渗透压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蒸气压下降本身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35C57-F73B-43D2-94EC-A393C62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39814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3DBB3-36D1-41D9-9EB1-93CBCAC3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3600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本轮边界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4B731-9F51-4BFC-9B26-8BDB1DE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会定性解释，不做复杂物化级推导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电解质精确粒子数修正放到后续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D74CE-E679-4EED-8CA6-23F0570A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19300"/>
            <a:ext cx="16954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ED230-672F-4143-88A7-2BF168B2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145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教材图：液面分子受力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39b2b65574c7f"/>
          <a:stretch xmlns:a="http://schemas.openxmlformats.org/drawingml/2006/main"/>
        </p:blipFill>
        <p:spPr>
          <a:xfrm xmlns:a="http://schemas.openxmlformats.org/drawingml/2006/main">
            <a:off x="9306791" y="2343150"/>
            <a:ext cx="760268" cy="4191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5941F-7627-4A14-947B-FA20813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图3.1  表面分子更易逸出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FFBF5-D25B-4C30-9F23-BF822227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D72AA8-A9C0-4974-AC64-75D36FC6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D792D-731C-4EAD-9E42-9CD02FD2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480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CE250-CF0D-409A-933B-0902081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147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课堂公式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DF6F3-E7C1-4CAB-AEFE-35B8ED75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48050"/>
            <a:ext cx="661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167DA-1A89-4065-999D-E5F95656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14725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一句话解释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5A1F5-8BB1-4433-B03E-2A728964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CD87C-6A2C-4F8C-8D96-15BC90C2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蒸气压下降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C6D2D-705A-4B9B-9253-DA21E16A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DD8E3-879D-4F0E-A585-FE556926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Δp = p* · x溶质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22D5F-71EA-4F1E-9DD5-C57A962C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05250"/>
            <a:ext cx="661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319C1D-9688-448F-88BD-70D026E2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表面可蒸发的溶剂比例下降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29A3A-7E89-40C4-82B1-AC2693F1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93891D-8623-41BA-8FE0-4A390660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沸点升高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B0789-88CD-437B-B2F6-B9A7249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4C5A1-4574-475D-B78F-120D5EEB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ΔT₍b₎ = K₍b₎ · 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BB291-DCB3-4D66-9A7A-43072A08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62450"/>
            <a:ext cx="661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C2A265-97A4-4829-9296-49F6DA2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29125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必须升到更高温度才能与外压相等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F8D994-CBC7-48FF-A1F4-8C4097D7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EE8D9-6DF0-4F1F-829A-D50114BB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凝固点降低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96B5A-7DD3-43C5-B858-BE23AA7B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196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9027AC-D999-46CD-834C-7FFDB2C2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ΔT₍f₎ = K₍f₎ · 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D108E3-35A5-41FB-AF1E-2E28310D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9650"/>
            <a:ext cx="661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592C72-D524-4F93-BAB6-46629272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86325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液相更稳定，固液平衡温度下移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20CEA-1012-4F41-9D3C-E631B734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6E973C-F5ED-4F16-B33A-A662635E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渗透压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F14629-DA97-4A08-B4D8-396AC505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768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56D3B8-87B4-4054-AF25-7B097D87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435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Π = cRT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C70BD9-3B89-4685-9AB6-7926682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76850"/>
            <a:ext cx="6610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B4B0BA-503B-4F27-A053-D72B3A62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43525"/>
            <a:ext cx="645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半透膜两侧溶剂化学势差驱动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AA2109-9A10-4D42-8E97-CAF2E99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7</a:t>
            </a:r>
          </a:p>
        </p:txBody>
      </p:sp>
    </p:spTree>
    <p:extLst>
      <p:ext uri="{BB962C8B-B14F-4D97-AF65-F5344CB8AC3E}">
        <p14:creationId xmlns:p14="http://schemas.microsoft.com/office/powerpoint/2010/main" val="1123793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369A3-6281-4240-A6CF-479B9ABE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BOARD TEMPLATE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82C16-2670-484F-92AD-9D9815AE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板书模板：气体题四步法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CC0EE-C4B2-4674-B490-19559B91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这一页专门服务课堂带做，不承担知识扩展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40784-0EA7-4892-BAB7-4CDF4C1F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C9845-DEF1-416D-9B15-E6E9154F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812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581D2-C08C-44C9-AF62-D221FDDD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1 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C5391-2182-4EC5-8B54-3005BA83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纯气体 / 混合气体 / 排水集气 / 密度法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先判条件，再决定入口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8AD62-B787-4041-8C87-2F49665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23812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9CEFE-C41D-4B17-9297-464FFE0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2 统一单位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DD823-7C07-4304-97C6-CEE204A2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T → K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p、V 与 R 匹配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必要时把 mL → dm³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F6EAA-E7DC-4900-A872-6730B7A9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24050"/>
            <a:ext cx="23812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0BD82-74FF-4D1D-841E-64A8096A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3 列方程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1F1A8-BB74-44B7-BDE6-1EE902E5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优先 pV = nRT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混合气体补 Dalton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排水法先扣 p(H₂O)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CD2E0-D2F9-49A2-ADF2-B357949F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23622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DB331-7CDA-4DAC-82A3-C9E0F837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Step 4 回看结果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C9655-CBC8-4AB4-BE68-DF5039A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198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数量级是否合理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单位是否写对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有效数字是否匹配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84C2B-6E63-46D3-9A85-C5039E59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905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5DA85-D604-42B8-BC46-51BA9D92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题型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D4978-FB9D-4D5D-A28F-EF5F05DE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1450"/>
            <a:ext cx="4286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E8A4B-0228-4341-BA4F-8FAF8637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48125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先写哪一句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E0C30-77D8-452E-BAC3-2F0AFB0B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905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CE648-14FF-4B1C-8FA7-F6BA6FF0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钢瓶气体题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01358-A0CB-4424-BED8-4ED3227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29125"/>
            <a:ext cx="4286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19AED-22FC-4DA2-924A-46622BEA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先把 MPa / °C / L 统一到 kPa / K / dm³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BD2B3-5BF8-443A-B96F-A1F0AA18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905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6D43B-D621-4B77-A2A3-7FB4F903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排水集气题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3961B-7884-4974-8FFD-62F2AD1F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76800"/>
            <a:ext cx="4286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98B98-71C7-4030-8BDF-A3471AF9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43475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先写 p干气 = p总 − p(H₂O)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BCECC-B6DD-4E50-9EDD-99779EE2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905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3B03F-752E-4376-A4FD-772B687D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密度法分子式题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89D344-3A24-4DE2-BB95-E5E5A3D9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24475"/>
            <a:ext cx="4286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480678-F2E4-438E-A64E-D0C5CD92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91150"/>
            <a:ext cx="413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先写 M = ρRT / 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64CF1-630F-44DD-B407-724875D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58140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09E0B-2D1A-429E-8C81-0601A528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投影用法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88ECA0-0027-4CEC-97D4-658373E9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238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做例题前先停在这一页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让学生先口头说出四步，再动笔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DAA27B-349F-4D71-93A9-16283F2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8</a:t>
            </a:r>
          </a:p>
        </p:txBody>
      </p:sp>
    </p:spTree>
    <p:extLst>
      <p:ext uri="{BB962C8B-B14F-4D97-AF65-F5344CB8AC3E}">
        <p14:creationId xmlns:p14="http://schemas.microsoft.com/office/powerpoint/2010/main" val="2001461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DC814-7091-47DB-A6E4-FD6E8908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EXAMPLE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F7A4B-1BAF-41AB-A8BD-FF2B465B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例 1：钢瓶氧气题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1C8BA-0D2A-47C8-930D-DF97B2B1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目标不是背答案，而是形成“先统一单位”的习惯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DB21F-7FD4-49B7-85CF-9259B6E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CF2B7-8A66-4675-8AE5-CA89E486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134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2C1C0-2D69-424D-ABFE-E1C33A8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题干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2C52F-5492-4F0C-912A-BF4A58B6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75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50 L 氧气钢瓶在 20 °C、1.5 MPa 时，估算钢瓶中剩余 O₂ 的质量。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1C05B-26D2-486C-8363-F99BC70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05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71CA3-0EE7-4B3E-ACA2-B870A9F0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解题流程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BB121-5809-4FF1-A6D2-357795FB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3243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1. 先把 1.5 MPa 换成 1500 kPa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2. 50 L 直接视为 50 dm³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3. T = 293 K，选 R = 8.31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4. 先求 n，再乘 M(O₂)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F312E-444A-492A-B90D-9E7B244D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86100"/>
            <a:ext cx="5143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ADBE6-21CE-4368-A8DB-1C6F65A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板书时强调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14DC8-17D4-4BBF-877A-51655A8C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如果 p 用 MPa 却直接配 8.31，结果会错 1000 倍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最后别忘有效数字和单位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4EAFA-F91E-43E9-B256-01D74574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1346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0AAD2-5905-4462-9B62-FE4DA1A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BAF08-26A3-4966-8B20-F322C881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979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先让学生判断该选哪个 R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不要一开始就给完整算式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AD998-E55D-44BE-AD4B-3738F5B1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9</a:t>
            </a:r>
          </a:p>
        </p:txBody>
      </p:sp>
    </p:spTree>
    <p:extLst>
      <p:ext uri="{BB962C8B-B14F-4D97-AF65-F5344CB8AC3E}">
        <p14:creationId xmlns:p14="http://schemas.microsoft.com/office/powerpoint/2010/main" val="16898203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AC883-2BD4-40C7-A644-EE7D9E3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EXAMPLE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C77C3-7728-4EB7-BEA7-AA03D657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例 2：排水集气求干燥 H₂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F067E-58BA-4369-8F27-8CE6A9C1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看到“排水法”就自动触发：总压里混了水蒸气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865DB-B438-41B3-9F97-A582F273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8C305-1823-4B48-9E7E-05501E59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134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53BA5-001E-4087-9F36-4200B98E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题干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24FF2-5EFA-4DA7-A4F7-F6F4F28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75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25 °C、100.5 kPa 下，用排水法收集 H₂ 250 mL，已知 p(H₂O) = 3.17 kPa，求干燥 H₂ 的物质的量。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1785F-E9DE-4ADA-AA3C-CF7A5DF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4958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C827D-8F11-46C6-921D-0D81E44B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11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关键一步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EC6A9-B718-4CD6-BA7C-9AD2504E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4114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p干气 = 100.5 - 3.17 = 97.33 kPa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只有扣完水蒸气压，才允许代入气体方程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CB5A4-28A7-425B-AB19-B4E6747A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23812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B3B15-BF13-4328-8E58-F4C7E85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95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后续代入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9CF9A-0CA1-4FB7-8ED0-5B4B2F3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57600"/>
            <a:ext cx="200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V = 0.250 dm³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T = 298 K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n = pV / 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2D816-2466-48CA-B23E-0F5FAA70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27241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85CBE-00A2-4655-A3E1-04A039E3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最容易错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F3B21-0C97-47F3-9ABB-E95B49D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57600"/>
            <a:ext cx="2343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直接把 100.5 kPa 代入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体积没换成 dm³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最后写成“湿气体的物质的量”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1AD0F-606C-4CDB-B6AA-B75E94B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1346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5FD1A-00CA-42A3-AD01-9B6A8643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课堂口令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6F14E-87FC-421D-91AC-964156A0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79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看到排水法，先别算，先扣水蒸气压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这一题比的是流程稳定，不是心算速度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C7C54-E797-4584-A0F4-B127F455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10</a:t>
            </a:r>
          </a:p>
        </p:txBody>
      </p:sp>
    </p:spTree>
    <p:extLst>
      <p:ext uri="{BB962C8B-B14F-4D97-AF65-F5344CB8AC3E}">
        <p14:creationId xmlns:p14="http://schemas.microsoft.com/office/powerpoint/2010/main" val="1571559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81C0E-85C4-4378-B91F-2F5AB42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EXAMPLE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140BD-E796-4976-BE4B-64489D52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例 3：标签浓度到物质的量浓度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8E95D-59D6-491E-8130-0E4F01B4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这类题本质上是“质量分数 + 密度 + 摩尔质量”三件套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5A828-54D4-4FB3-96C8-2C4FE322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01C75-1D32-45AD-9C0F-63676E0C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134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150B6-7F2F-40AE-A44D-99AC373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题干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7CDB2-32F7-48BA-9186-7F5FAD41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975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市售浓硫酸密度 1.84 g·cm⁻³，质量分数 98%，求其物质的量浓度。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C46E3-289E-44FC-AD7F-85F8436E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8100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7D283-CEA2-4FA1-AD6D-09C3820E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模板公式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3A55C-430C-4154-8BFC-5FB3409B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ρ 用 g·cm⁻³，w 用小数，M 用 g·mol⁻¹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3872-34EF-4AB1-B1C3-FF68748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i="1">
                <a:solidFill>
                  <a:srgbClr val="17324D"/>
                </a:solidFill>
                <a:latin typeface="Times New Roman"/>
                <a:ea typeface="Times New Roman"/>
                <a:cs typeface="Times New Roman"/>
              </a:rPr>
              <a:t>c = 1000ρw / 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47A71-6F2E-4684-9BE9-E36C32C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33337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C20A1-2F87-43E8-81C0-1F301B5F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操作顺序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AADF8-3630-47D8-8676-0A9215F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1. 先确认所求是 c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2. 再确认已知量正好是 ρ、w、M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3. 最后代入并判断数量级是否合理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E183C-0A81-4310-A94E-42EC3B3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4574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4BB23-4B5D-47F9-A5FF-03F21D4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课堂提醒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B4BCF-2E5A-4DFA-835D-7C71CD6F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076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“定容到 1 dm³”不等于“往 1 dm³ 水里加酸”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如果题目继续要求 b 或 x，最好先选 100 g 溶液为基准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B3F9D-3D05-45E8-AB77-F867DEE2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1346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B65D7-F98F-40FD-A82E-1CBD47A4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板书动作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AE039-DB84-4DFE-B795-3D306154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979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先问：这道题用不用选基准？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再问：定义里分母到底是谁？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02D2F-3C49-4A9C-AAF8-04AB49B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11</a:t>
            </a:r>
          </a:p>
        </p:txBody>
      </p:sp>
    </p:spTree>
    <p:extLst>
      <p:ext uri="{BB962C8B-B14F-4D97-AF65-F5344CB8AC3E}">
        <p14:creationId xmlns:p14="http://schemas.microsoft.com/office/powerpoint/2010/main" val="11057482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038A4-F487-4B09-B75F-1C44349A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90B49-A814-4237-A2CF-574BC18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课堂练习承接页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402EA-B7E7-4396-BDDC-F6BA6A0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让学生先说方法，再独立落笔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A1AB8-093B-4E08-B014-2512152A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9E239-10B5-4D68-B301-02C661E1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1623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EBF12-7F1A-4F8F-BA7F-D60CB183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 组：直接计算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70900-D916-4CE1-8833-955529AF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1. 钢瓶氧气剩余质量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2. 排水法 H₂ 的干气物质的量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ACD70-EF6E-4176-A514-E7908D1A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24050"/>
            <a:ext cx="31623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14943-1EE2-48DD-9EE4-0AD079B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B 组：浓度换算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86E68-9F95-4E74-9459-730E385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57450"/>
            <a:ext cx="2781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3. 37% 盐酸换算成 c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4. 已知 w 和 ρ 继续求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BAC38-915A-48D4-B215-FE759776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3429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F3433-AE89-4A54-8DFF-4BF68CEB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95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 组：判断题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BD6DB-E147-47C9-93EA-3DEAD7D3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5. 海水为什么更难结冰？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6. 为什么排水法要扣 p(H₂O)？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B3DD7-97FC-41A0-B2C1-E89824F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1346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050BE-4501-4B0D-B0EF-7A50058C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课堂安排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46AAF-5EE0-478D-909A-C7FDC8E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791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先做 A 组再转 B 组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C 组适合当口头追问收尾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若时间紧，至少保留 A1 + 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DD09A-823D-47C2-8C02-2D176882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12</a:t>
            </a:r>
          </a:p>
        </p:txBody>
      </p:sp>
    </p:spTree>
    <p:extLst>
      <p:ext uri="{BB962C8B-B14F-4D97-AF65-F5344CB8AC3E}">
        <p14:creationId xmlns:p14="http://schemas.microsoft.com/office/powerpoint/2010/main" val="2092554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E30176-E398-4BF6-B32F-5410F943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FAF15-A5EE-49F1-B66C-65CE2895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易错点总表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F5728-7A2E-4170-9E36-674565A4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这一页建议上课末尾快扫一遍，再让学生自己补充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8C575-4B58-465A-830B-4740A87C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EB7E7-C820-4831-9317-B9C7C2D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812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FDDB4-0F2D-4660-A138-7AEFAF93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1C69D-4645-4767-9A75-DE609C3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47850"/>
            <a:ext cx="342900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1D487-B8A1-433A-B816-4A1C636C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14525"/>
            <a:ext cx="32766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为什么错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86734-FE01-459A-B026-A96A4655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3243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8551E-E73A-47E4-BA6E-0506E50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14525"/>
            <a:ext cx="41719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正确做法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D257B-9B98-4184-BCC1-F2457120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3950"/>
            <a:ext cx="23812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91E34-0345-492F-9673-CF83B8B7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06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°C 直接代入气体方程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E483E-71B9-4BC5-8B8E-334CB4B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93950"/>
            <a:ext cx="342900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F4D7E-E539-4BA4-8763-4DEEF008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60625"/>
            <a:ext cx="32766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T 必须是热力学温度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98C3F-DC49-49FE-8C60-FD2A84D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93950"/>
            <a:ext cx="43243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1B3AC-F41A-4093-A7A1-356D8AC7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0625"/>
            <a:ext cx="41719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先写 T = t + 273.15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882E5-5D63-4518-9E7F-19CACBF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0050"/>
            <a:ext cx="23812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4587C-8178-434B-A6B9-4CD4E19E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67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R 随手乱选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C2C83-2236-4765-A8AA-19988786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40050"/>
            <a:ext cx="342900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732A3-6887-411F-A4C3-F523842B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6725"/>
            <a:ext cx="32766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R 依赖 p、V 单位体系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23D0B-46B6-497E-8240-6807242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0050"/>
            <a:ext cx="43243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33B8C-8BAE-4572-8E17-E177D0E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6725"/>
            <a:ext cx="41719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先看 p、V 单位，再决定 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C89B1-B7DC-419A-A6EB-76DB6E15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3812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81F9B-8F7F-465F-854D-CCF0BEC2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排水集气直接用总压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CE639-137F-4721-ADC8-F39971B6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86150"/>
            <a:ext cx="342900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E5AEE-BCE2-4D66-B83E-A6A8333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52825"/>
            <a:ext cx="32766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收集的是湿气，混有水蒸气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CBD98-1226-452A-ADEF-158F6E9E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43243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2DFFFD-A41F-4F9F-813C-B2B8B25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52825"/>
            <a:ext cx="41719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先算 p干气 = p总 - p(H₂O)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AFDF9-A0AE-40D1-80BD-EAD7DA27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2250"/>
            <a:ext cx="23812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6CF84-CC55-41B2-B1CF-2722C74E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89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把 b 的分母写成溶液质量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6704F-2D05-458C-8F65-130A116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32250"/>
            <a:ext cx="342900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5F112-229C-4B5F-A7F8-34266AE0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8925"/>
            <a:ext cx="32766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质量摩尔浓度定义记错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8E4E05-74C8-4D66-933C-CA0065C0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2250"/>
            <a:ext cx="43243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45DB47-AFCB-4B28-BB45-AD0549C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8925"/>
            <a:ext cx="41719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b 的分母只能是溶剂质量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6D8EC5-D5AA-49F1-8DD6-1B3EA3BD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8350"/>
            <a:ext cx="23812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9D6097-BC54-4745-A421-CBE4602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5025"/>
            <a:ext cx="22288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认为依数性看溶质种类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277152-20BA-4C9B-94D2-52352FA3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78350"/>
            <a:ext cx="342900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01DD4F-278D-48BC-9D1F-8AC103E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5025"/>
            <a:ext cx="327660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第一轮没抓住“看粒子数”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C73401-E383-41F4-8EED-4E9CC01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78350"/>
            <a:ext cx="4324350" cy="54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E1DA61-44FF-4D98-8CE7-C040645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5025"/>
            <a:ext cx="4171950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先问蒸气压是否下降，再判表现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CB1709-7A05-40EF-8F38-F9152607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1346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E07F76-923B-4876-A34E-EDBB37AC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75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投影用法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DA0888-9BD2-4FE6-A9B3-F7E2B84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97536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讲评错题时，可让学生对照这一页给自己的错误分类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讲义中的“易错点总表”可作为课后追踪区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42DD61-D999-4459-9469-2D0058CF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13</a:t>
            </a:r>
          </a:p>
        </p:txBody>
      </p:sp>
    </p:spTree>
    <p:extLst>
      <p:ext uri="{BB962C8B-B14F-4D97-AF65-F5344CB8AC3E}">
        <p14:creationId xmlns:p14="http://schemas.microsoft.com/office/powerpoint/2010/main" val="469035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5CD15-3862-44AD-91B7-473BDCDC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E79"/>
                </a:solidFill>
                <a:latin typeface="Microsoft YaHei"/>
                <a:ea typeface="Microsoft YaHei"/>
                <a:cs typeface="Microsoft YaHei"/>
              </a:rPr>
              <a:t>WRAP-UP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65DA6-F444-4B5C-8C9B-130A8E08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本节收束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F5CFE-1FAE-4F0E-B92A-0D70BA3B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投影负责收口，练熟仍要靠讲义和板书反复走流程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AABF5-2769-4F79-BC7A-9D4100A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333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88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EE35D-4C36-4A59-A834-18B7F93B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A3CF5-036D-4BDC-836C-D7A2CDDC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下课前要能说出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44307-266B-403A-8508-10BF844F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572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气体题四步：分类 → 统一单位 → 列方程 → 回看结果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浓度换算四步：选基准 → 写定义 → 补辅助量 → 再换算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依数性判断法：先看是否是稀溶液，再抓蒸气压主线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1BFB8-94A4-4FF1-A06F-34A450C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48768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3EB2A-2C18-4F57-B517-61FD475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课后立刻自测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D2607-E084-4A37-A6D1-0F093506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4495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1. 钢瓶氧气题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2. 排水集气题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3. 质量分数 → c → b 的换算题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4B0F4-4A6D-42EB-8819-FC501B8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E7C2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2B940-0CAC-4837-A6AF-50DCA11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461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A5A12"/>
                </a:solidFill>
                <a:latin typeface="Microsoft YaHei"/>
                <a:ea typeface="Microsoft YaHei"/>
                <a:cs typeface="Microsoft YaHei"/>
              </a:rPr>
              <a:t>最后一句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28BD8-3755-4FF7-9ADE-3F14310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先把流程说顺，再追求速度</a:t>
            </a:r>
          </a:p>
          <a:p xmlns:a="http://schemas.openxmlformats.org/drawingml/2006/main">
            <a:pPr>
              <a:def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做题时一乱，就回到工具链总页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E109D-0527-4F8B-A379-CBEAAF01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14850"/>
            <a:ext cx="48768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3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4CC34-09FC-4F5A-B5F0-3C080CD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当前版本定位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FDD8A-29F3-4686-B2A9-1020BEC3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48250"/>
            <a:ext cx="449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这版已经加入板书模板、练习承接和教师口令提示</a:t>
            </a:r>
          </a:p>
          <a:p xmlns:a="http://schemas.openxmlformats.org/drawingml/2006/main">
            <a:pPr>
              <a:def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• 继续深化时，可再拆成三讲完整投影版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54771-797E-488F-B857-3542EFD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B6975"/>
                </a:solidFill>
                <a:latin typeface="Microsoft YaHei"/>
                <a:ea typeface="Microsoft YaHei"/>
                <a:cs typeface="Microsoft YaHei"/>
              </a:rPr>
              <a:t>气体与溶液 基础班 | 第一轮工具链 | 14</a:t>
            </a:r>
          </a:p>
        </p:txBody>
      </p:sp>
    </p:spTree>
    <p:extLst>
      <p:ext uri="{BB962C8B-B14F-4D97-AF65-F5344CB8AC3E}">
        <p14:creationId xmlns:p14="http://schemas.microsoft.com/office/powerpoint/2010/main" val="1991685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2026-06-16T13:32:40.6290000Z</dcterms:created>
  <dcterms:modified xsi:type="dcterms:W3CDTF">2026-06-16T13:32:40.6290000Z</dcterms:modified>
</coreProperties>
</file>